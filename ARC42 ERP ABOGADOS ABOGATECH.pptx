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slide+xml" PartName="/ppt/slides/slide15.xml"/>
  <Override ContentType="application/vnd.openxmlformats-officedocument.presentationml.slide+xml" PartName="/ppt/slides/slide16.xml"/>
  <Override ContentType="application/vnd.openxmlformats-officedocument.presentationml.slide+xml" PartName="/ppt/slides/slide17.xml"/>
  <Override ContentType="application/vnd.openxmlformats-officedocument.presentationml.slide+xml" PartName="/ppt/slides/slide18.xml"/>
  <Override ContentType="application/vnd.openxmlformats-officedocument.presentationml.slide+xml" PartName="/ppt/slides/slide19.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22.xml"/>
  <Override ContentType="application/vnd.openxmlformats-officedocument.presentationml.slide+xml" PartName="/ppt/slides/slide23.xml"/>
  <Override ContentType="application/vnd.openxmlformats-officedocument.presentationml.slide+xml" PartName="/ppt/slides/slide24.xml"/>
  <Override ContentType="application/vnd.openxmlformats-officedocument.presentationml.slide+xml" PartName="/ppt/slides/slide25.xml"/>
  <Override ContentType="application/vnd.openxmlformats-officedocument.presentationml.slide+xml" PartName="/ppt/slides/slide26.xml"/>
  <Override ContentType="application/vnd.openxmlformats-officedocument.presentationml.slide+xml" PartName="/ppt/slides/slide27.xml"/>
  <Override ContentType="application/vnd.openxmlformats-officedocument.presentationml.slide+xml" PartName="/ppt/slides/slide28.xml"/>
  <Override ContentType="application/vnd.openxmlformats-officedocument.presentationml.slide+xml" PartName="/ppt/slides/slide29.xml"/>
  <Override ContentType="application/vnd.openxmlformats-officedocument.presentationml.slide+xml" PartName="/ppt/slides/slide30.xml"/>
  <Override ContentType="application/vnd.openxmlformats-officedocument.presentationml.slide+xml" PartName="/ppt/slides/slide31.xml"/>
  <Override ContentType="application/vnd.openxmlformats-officedocument.presentationml.slide+xml" PartName="/ppt/slides/slide32.xml"/>
  <Override ContentType="application/vnd.openxmlformats-officedocument.presentationml.slide+xml" PartName="/ppt/slides/slide33.xml"/>
  <Override ContentType="application/vnd.openxmlformats-officedocument.presentationml.slide+xml" PartName="/ppt/slides/slide34.xml"/>
  <Override ContentType="application/vnd.openxmlformats-officedocument.presentationml.slide+xml" PartName="/ppt/slides/slide35.xml"/>
  <Override ContentType="application/vnd.openxmlformats-officedocument.presentationml.slide+xml" PartName="/ppt/slides/slide36.xml"/>
  <Override ContentType="application/vnd.openxmlformats-officedocument.presentationml.slide+xml" PartName="/ppt/slides/slide37.xml"/>
  <Override ContentType="application/vnd.openxmlformats-officedocument.presentationml.slide+xml" PartName="/ppt/slides/slide38.xml"/>
  <Override ContentType="application/vnd.openxmlformats-officedocument.presentationml.slide+xml" PartName="/ppt/slides/slide39.xml"/>
  <Override ContentType="application/vnd.openxmlformats-officedocument.presentationml.slide+xml" PartName="/ppt/slides/slide40.xml"/>
  <Override ContentType="application/vnd.openxmlformats-officedocument.presentationml.slide+xml" PartName="/ppt/slides/slide41.xml"/>
  <Override ContentType="application/vnd.openxmlformats-officedocument.presentationml.slide+xml" PartName="/ppt/slides/slide42.xml"/>
  <Override ContentType="application/vnd.openxmlformats-officedocument.presentationml.slide+xml" PartName="/ppt/slides/slide43.xml"/>
  <Override ContentType="application/vnd.openxmlformats-officedocument.presentationml.slide+xml" PartName="/ppt/slides/slide44.xml"/>
  <Override ContentType="application/vnd.openxmlformats-officedocument.presentationml.slide+xml" PartName="/ppt/slides/slide45.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Lst>
  <p:sldSz cx="18288000" cy="10287000"/>
  <p:notesSz cx="6858000" cy="9144000"/>
  <p:embeddedFontLst>
    <p:embeddedFont>
      <p:font typeface="Montserrat Bold" charset="1" panose="00000800000000000000"/>
      <p:regular r:id="rId51"/>
    </p:embeddedFont>
    <p:embeddedFont>
      <p:font typeface="Montserrat" charset="1" panose="00000500000000000000"/>
      <p:regular r:id="rId52"/>
    </p:embeddedFont>
    <p:embeddedFont>
      <p:font typeface="Prata" charset="1" panose="00000500000000000000"/>
      <p:regular r:id="rId5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slides/slide15.xml" Type="http://schemas.openxmlformats.org/officeDocument/2006/relationships/slide"/><Relationship Id="rId21" Target="slides/slide16.xml" Type="http://schemas.openxmlformats.org/officeDocument/2006/relationships/slide"/><Relationship Id="rId22" Target="slides/slide17.xml" Type="http://schemas.openxmlformats.org/officeDocument/2006/relationships/slide"/><Relationship Id="rId23" Target="slides/slide18.xml" Type="http://schemas.openxmlformats.org/officeDocument/2006/relationships/slide"/><Relationship Id="rId24" Target="slides/slide19.xml" Type="http://schemas.openxmlformats.org/officeDocument/2006/relationships/slide"/><Relationship Id="rId25" Target="slides/slide20.xml" Type="http://schemas.openxmlformats.org/officeDocument/2006/relationships/slide"/><Relationship Id="rId26" Target="slides/slide21.xml" Type="http://schemas.openxmlformats.org/officeDocument/2006/relationships/slide"/><Relationship Id="rId27" Target="slides/slide22.xml" Type="http://schemas.openxmlformats.org/officeDocument/2006/relationships/slide"/><Relationship Id="rId28" Target="slides/slide23.xml" Type="http://schemas.openxmlformats.org/officeDocument/2006/relationships/slide"/><Relationship Id="rId29" Target="slides/slide24.xml" Type="http://schemas.openxmlformats.org/officeDocument/2006/relationships/slide"/><Relationship Id="rId3" Target="viewProps.xml" Type="http://schemas.openxmlformats.org/officeDocument/2006/relationships/viewProps"/><Relationship Id="rId30" Target="slides/slide25.xml" Type="http://schemas.openxmlformats.org/officeDocument/2006/relationships/slide"/><Relationship Id="rId31" Target="slides/slide26.xml" Type="http://schemas.openxmlformats.org/officeDocument/2006/relationships/slide"/><Relationship Id="rId32" Target="slides/slide27.xml" Type="http://schemas.openxmlformats.org/officeDocument/2006/relationships/slide"/><Relationship Id="rId33" Target="slides/slide28.xml" Type="http://schemas.openxmlformats.org/officeDocument/2006/relationships/slide"/><Relationship Id="rId34" Target="slides/slide29.xml" Type="http://schemas.openxmlformats.org/officeDocument/2006/relationships/slide"/><Relationship Id="rId35" Target="slides/slide30.xml" Type="http://schemas.openxmlformats.org/officeDocument/2006/relationships/slide"/><Relationship Id="rId36" Target="slides/slide31.xml" Type="http://schemas.openxmlformats.org/officeDocument/2006/relationships/slide"/><Relationship Id="rId37" Target="slides/slide32.xml" Type="http://schemas.openxmlformats.org/officeDocument/2006/relationships/slide"/><Relationship Id="rId38" Target="slides/slide33.xml" Type="http://schemas.openxmlformats.org/officeDocument/2006/relationships/slide"/><Relationship Id="rId39" Target="slides/slide34.xml" Type="http://schemas.openxmlformats.org/officeDocument/2006/relationships/slide"/><Relationship Id="rId4" Target="theme/theme1.xml" Type="http://schemas.openxmlformats.org/officeDocument/2006/relationships/theme"/><Relationship Id="rId40" Target="slides/slide35.xml" Type="http://schemas.openxmlformats.org/officeDocument/2006/relationships/slide"/><Relationship Id="rId41" Target="slides/slide36.xml" Type="http://schemas.openxmlformats.org/officeDocument/2006/relationships/slide"/><Relationship Id="rId42" Target="slides/slide37.xml" Type="http://schemas.openxmlformats.org/officeDocument/2006/relationships/slide"/><Relationship Id="rId43" Target="slides/slide38.xml" Type="http://schemas.openxmlformats.org/officeDocument/2006/relationships/slide"/><Relationship Id="rId44" Target="slides/slide39.xml" Type="http://schemas.openxmlformats.org/officeDocument/2006/relationships/slide"/><Relationship Id="rId45" Target="slides/slide40.xml" Type="http://schemas.openxmlformats.org/officeDocument/2006/relationships/slide"/><Relationship Id="rId46" Target="slides/slide41.xml" Type="http://schemas.openxmlformats.org/officeDocument/2006/relationships/slide"/><Relationship Id="rId47" Target="slides/slide42.xml" Type="http://schemas.openxmlformats.org/officeDocument/2006/relationships/slide"/><Relationship Id="rId48" Target="slides/slide43.xml" Type="http://schemas.openxmlformats.org/officeDocument/2006/relationships/slide"/><Relationship Id="rId49" Target="slides/slide44.xml" Type="http://schemas.openxmlformats.org/officeDocument/2006/relationships/slide"/><Relationship Id="rId5" Target="tableStyles.xml" Type="http://schemas.openxmlformats.org/officeDocument/2006/relationships/tableStyles"/><Relationship Id="rId50" Target="slides/slide45.xml" Type="http://schemas.openxmlformats.org/officeDocument/2006/relationships/slide"/><Relationship Id="rId51" Target="fonts/font51.fntdata" Type="http://schemas.openxmlformats.org/officeDocument/2006/relationships/font"/><Relationship Id="rId52" Target="fonts/font52.fntdata" Type="http://schemas.openxmlformats.org/officeDocument/2006/relationships/font"/><Relationship Id="rId53" Target="fonts/font53.fntdata" Type="http://schemas.openxmlformats.org/officeDocument/2006/relationships/font"/><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5.png" Type="http://schemas.openxmlformats.org/officeDocument/2006/relationships/image"/><Relationship Id="rId6" Target="../media/image6.pn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 Id="rId3" Target="../media/image8.pn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9.pn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10.png" Type="http://schemas.openxmlformats.org/officeDocument/2006/relationships/image"/><Relationship Id="rId6" Target="../media/image11.pn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12.pn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13.pn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14.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15.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16.pn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12.pn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17.png" Type="http://schemas.openxmlformats.org/officeDocument/2006/relationships/image"/></Relationships>
</file>

<file path=ppt/slides/_rels/slide1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1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1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1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1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2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18.png" Type="http://schemas.openxmlformats.org/officeDocument/2006/relationships/image"/></Relationships>
</file>

<file path=ppt/slides/_rels/slide2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19.png" Type="http://schemas.openxmlformats.org/officeDocument/2006/relationships/image"/></Relationships>
</file>

<file path=ppt/slides/_rels/slide2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20.png" Type="http://schemas.openxmlformats.org/officeDocument/2006/relationships/image"/></Relationships>
</file>

<file path=ppt/slides/_rels/slide2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2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2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21.png" Type="http://schemas.openxmlformats.org/officeDocument/2006/relationships/image"/></Relationships>
</file>

<file path=ppt/slides/_rels/slide2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2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22.png" Type="http://schemas.openxmlformats.org/officeDocument/2006/relationships/image"/></Relationships>
</file>

<file path=ppt/slides/_rels/slide2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23.png" Type="http://schemas.openxmlformats.org/officeDocument/2006/relationships/image"/></Relationships>
</file>

<file path=ppt/slides/_rels/slide2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3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24.png" Type="http://schemas.openxmlformats.org/officeDocument/2006/relationships/image"/></Relationships>
</file>

<file path=ppt/slides/_rels/slide3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25.png" Type="http://schemas.openxmlformats.org/officeDocument/2006/relationships/image"/></Relationships>
</file>

<file path=ppt/slides/_rels/slide3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3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26.png" Type="http://schemas.openxmlformats.org/officeDocument/2006/relationships/image"/></Relationships>
</file>

<file path=ppt/slides/_rels/slide3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7.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27.png" Type="http://schemas.openxmlformats.org/officeDocument/2006/relationships/image"/></Relationships>
</file>

<file path=ppt/slides/_rels/slide3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28.png" Type="http://schemas.openxmlformats.org/officeDocument/2006/relationships/image"/></Relationships>
</file>

<file path=ppt/slides/_rels/slide3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s>
</file>

<file path=ppt/slides/_rels/slide3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29.png" Type="http://schemas.openxmlformats.org/officeDocument/2006/relationships/image"/><Relationship Id="rId6" Target="../media/image30.png" Type="http://schemas.openxmlformats.org/officeDocument/2006/relationships/image"/><Relationship Id="rId7" Target="../media/image31.png" Type="http://schemas.openxmlformats.org/officeDocument/2006/relationships/image"/></Relationships>
</file>

<file path=ppt/slides/_rels/slide3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32.png" Type="http://schemas.openxmlformats.org/officeDocument/2006/relationships/image"/></Relationships>
</file>

<file path=ppt/slides/_rels/slide3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33.png" Type="http://schemas.openxmlformats.org/officeDocument/2006/relationships/image"/></Relationships>
</file>

<file path=ppt/slides/_rels/slide4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34.png" Type="http://schemas.openxmlformats.org/officeDocument/2006/relationships/image"/></Relationships>
</file>

<file path=ppt/slides/_rels/slide4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35.png" Type="http://schemas.openxmlformats.org/officeDocument/2006/relationships/image"/></Relationships>
</file>

<file path=ppt/slides/_rels/slide4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36.png" Type="http://schemas.openxmlformats.org/officeDocument/2006/relationships/image"/></Relationships>
</file>

<file path=ppt/slides/_rels/slide4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37.png" Type="http://schemas.openxmlformats.org/officeDocument/2006/relationships/image"/><Relationship Id="rId6" Target="../media/image38.png" Type="http://schemas.openxmlformats.org/officeDocument/2006/relationships/image"/></Relationships>
</file>

<file path=ppt/slides/_rels/slide4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39.png" Type="http://schemas.openxmlformats.org/officeDocument/2006/relationships/image"/></Relationships>
</file>

<file path=ppt/slides/_rels/slide4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4.jpeg" Type="http://schemas.openxmlformats.org/officeDocument/2006/relationships/image"/><Relationship Id="rId3" Target="../media/image2.png" Type="http://schemas.openxmlformats.org/officeDocument/2006/relationships/image"/><Relationship Id="rId4" Target="../media/image3.svg" Type="http://schemas.openxmlformats.org/officeDocument/2006/relationships/image"/><Relationship Id="rId5" Target="../media/image40.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0" r="0" b="0"/>
            </a:stretch>
          </a:blipFill>
        </p:spPr>
      </p:sp>
      <p:sp>
        <p:nvSpPr>
          <p:cNvPr name="Freeform 3" id="3"/>
          <p:cNvSpPr/>
          <p:nvPr/>
        </p:nvSpPr>
        <p:spPr>
          <a:xfrm flipH="false" flipV="false" rot="0">
            <a:off x="13727632" y="5538868"/>
            <a:ext cx="4697437" cy="4913254"/>
          </a:xfrm>
          <a:custGeom>
            <a:avLst/>
            <a:gdLst/>
            <a:ahLst/>
            <a:cxnLst/>
            <a:rect r="r" b="b" t="t" l="l"/>
            <a:pathLst>
              <a:path h="4913254" w="4697437">
                <a:moveTo>
                  <a:pt x="0" y="0"/>
                </a:moveTo>
                <a:lnTo>
                  <a:pt x="4697437" y="0"/>
                </a:lnTo>
                <a:lnTo>
                  <a:pt x="4697437" y="4913253"/>
                </a:lnTo>
                <a:lnTo>
                  <a:pt x="0" y="4913253"/>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10800000">
            <a:off x="-116335" y="-82396"/>
            <a:ext cx="4697437" cy="4913254"/>
          </a:xfrm>
          <a:custGeom>
            <a:avLst/>
            <a:gdLst/>
            <a:ahLst/>
            <a:cxnLst/>
            <a:rect r="r" b="b" t="t" l="l"/>
            <a:pathLst>
              <a:path h="4913254" w="4697437">
                <a:moveTo>
                  <a:pt x="0" y="0"/>
                </a:moveTo>
                <a:lnTo>
                  <a:pt x="4697437" y="0"/>
                </a:lnTo>
                <a:lnTo>
                  <a:pt x="4697437" y="4913254"/>
                </a:lnTo>
                <a:lnTo>
                  <a:pt x="0" y="4913254"/>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TextBox 5" id="5"/>
          <p:cNvSpPr txBox="true"/>
          <p:nvPr/>
        </p:nvSpPr>
        <p:spPr>
          <a:xfrm rot="0">
            <a:off x="1597525" y="1200150"/>
            <a:ext cx="16015861" cy="5541784"/>
          </a:xfrm>
          <a:prstGeom prst="rect">
            <a:avLst/>
          </a:prstGeom>
        </p:spPr>
        <p:txBody>
          <a:bodyPr anchor="t" rtlCol="false" tIns="0" lIns="0" bIns="0" rIns="0">
            <a:spAutoFit/>
          </a:bodyPr>
          <a:lstStyle/>
          <a:p>
            <a:pPr algn="ctr">
              <a:lnSpc>
                <a:spcPts val="10821"/>
              </a:lnSpc>
            </a:pPr>
            <a:r>
              <a:rPr lang="en-US" b="true" sz="10506" spc="388">
                <a:solidFill>
                  <a:srgbClr val="FFFFFF"/>
                </a:solidFill>
                <a:latin typeface="Montserrat Bold"/>
                <a:ea typeface="Montserrat Bold"/>
                <a:cs typeface="Montserrat Bold"/>
                <a:sym typeface="Montserrat Bold"/>
              </a:rPr>
              <a:t>ERP ABOGADOS (ABOGATECH)</a:t>
            </a:r>
          </a:p>
          <a:p>
            <a:pPr algn="ctr">
              <a:lnSpc>
                <a:spcPts val="10821"/>
              </a:lnSpc>
            </a:pPr>
            <a:r>
              <a:rPr lang="en-US" b="true" sz="10506" spc="388">
                <a:solidFill>
                  <a:srgbClr val="FFFFFF"/>
                </a:solidFill>
                <a:latin typeface="Montserrat Bold"/>
                <a:ea typeface="Montserrat Bold"/>
                <a:cs typeface="Montserrat Bold"/>
                <a:sym typeface="Montserrat Bold"/>
              </a:rPr>
              <a:t> METODOLOGÍA ARC42</a:t>
            </a:r>
          </a:p>
        </p:txBody>
      </p:sp>
      <p:sp>
        <p:nvSpPr>
          <p:cNvPr name="TextBox 6" id="6"/>
          <p:cNvSpPr txBox="true"/>
          <p:nvPr/>
        </p:nvSpPr>
        <p:spPr>
          <a:xfrm rot="0">
            <a:off x="2232384" y="6918576"/>
            <a:ext cx="14732991" cy="2144312"/>
          </a:xfrm>
          <a:prstGeom prst="rect">
            <a:avLst/>
          </a:prstGeom>
        </p:spPr>
        <p:txBody>
          <a:bodyPr anchor="t" rtlCol="false" tIns="0" lIns="0" bIns="0" rIns="0">
            <a:spAutoFit/>
          </a:bodyPr>
          <a:lstStyle/>
          <a:p>
            <a:pPr algn="ctr">
              <a:lnSpc>
                <a:spcPts val="4275"/>
              </a:lnSpc>
            </a:pPr>
            <a:r>
              <a:rPr lang="en-US" sz="3417">
                <a:solidFill>
                  <a:srgbClr val="FFFFFF"/>
                </a:solidFill>
                <a:latin typeface="Montserrat"/>
                <a:ea typeface="Montserrat"/>
                <a:cs typeface="Montserrat"/>
                <a:sym typeface="Montserrat"/>
              </a:rPr>
              <a:t>Juan Estebán Agredo</a:t>
            </a:r>
          </a:p>
          <a:p>
            <a:pPr algn="ctr">
              <a:lnSpc>
                <a:spcPts val="4275"/>
              </a:lnSpc>
            </a:pPr>
            <a:r>
              <a:rPr lang="en-US" sz="3417">
                <a:solidFill>
                  <a:srgbClr val="FFFFFF"/>
                </a:solidFill>
                <a:latin typeface="Montserrat"/>
                <a:ea typeface="Montserrat"/>
                <a:cs typeface="Montserrat"/>
                <a:sym typeface="Montserrat"/>
              </a:rPr>
              <a:t>Carlos Felipe Avilan</a:t>
            </a:r>
          </a:p>
          <a:p>
            <a:pPr algn="ctr">
              <a:lnSpc>
                <a:spcPts val="4275"/>
              </a:lnSpc>
            </a:pPr>
            <a:r>
              <a:rPr lang="en-US" sz="3417">
                <a:solidFill>
                  <a:srgbClr val="FFFFFF"/>
                </a:solidFill>
                <a:latin typeface="Montserrat"/>
                <a:ea typeface="Montserrat"/>
                <a:cs typeface="Montserrat"/>
                <a:sym typeface="Montserrat"/>
              </a:rPr>
              <a:t>Juan Diego Pinzón </a:t>
            </a:r>
          </a:p>
          <a:p>
            <a:pPr algn="ctr">
              <a:lnSpc>
                <a:spcPts val="4275"/>
              </a:lnSpc>
            </a:pP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2500" t="0" r="-12500" b="0"/>
            </a:stretch>
          </a:blipFill>
        </p:spPr>
      </p:sp>
      <p:sp>
        <p:nvSpPr>
          <p:cNvPr name="Freeform 3" id="3"/>
          <p:cNvSpPr/>
          <p:nvPr/>
        </p:nvSpPr>
        <p:spPr>
          <a:xfrm flipH="false" flipV="false" rot="-10800000">
            <a:off x="-116335" y="-82396"/>
            <a:ext cx="4697437" cy="4913254"/>
          </a:xfrm>
          <a:custGeom>
            <a:avLst/>
            <a:gdLst/>
            <a:ahLst/>
            <a:cxnLst/>
            <a:rect r="r" b="b" t="t" l="l"/>
            <a:pathLst>
              <a:path h="4913254" w="4697437">
                <a:moveTo>
                  <a:pt x="0" y="0"/>
                </a:moveTo>
                <a:lnTo>
                  <a:pt x="4697437" y="0"/>
                </a:lnTo>
                <a:lnTo>
                  <a:pt x="4697437" y="4913254"/>
                </a:lnTo>
                <a:lnTo>
                  <a:pt x="0" y="4913254"/>
                </a:lnTo>
                <a:lnTo>
                  <a:pt x="0" y="0"/>
                </a:lnTo>
                <a:close/>
              </a:path>
            </a:pathLst>
          </a:custGeom>
          <a:blipFill>
            <a:blip r:embed="rId3">
              <a:alphaModFix amt="74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3006633" y="6433327"/>
            <a:ext cx="5519636" cy="3673067"/>
          </a:xfrm>
          <a:custGeom>
            <a:avLst/>
            <a:gdLst/>
            <a:ahLst/>
            <a:cxnLst/>
            <a:rect r="r" b="b" t="t" l="l"/>
            <a:pathLst>
              <a:path h="3673067" w="5519636">
                <a:moveTo>
                  <a:pt x="0" y="0"/>
                </a:moveTo>
                <a:lnTo>
                  <a:pt x="5519636" y="0"/>
                </a:lnTo>
                <a:lnTo>
                  <a:pt x="5519636" y="3673066"/>
                </a:lnTo>
                <a:lnTo>
                  <a:pt x="0" y="3673066"/>
                </a:lnTo>
                <a:lnTo>
                  <a:pt x="0" y="0"/>
                </a:lnTo>
                <a:close/>
              </a:path>
            </a:pathLst>
          </a:custGeom>
          <a:blipFill>
            <a:blip r:embed="rId5"/>
            <a:stretch>
              <a:fillRect l="0" t="0" r="0" b="0"/>
            </a:stretch>
          </a:blipFill>
        </p:spPr>
      </p:sp>
      <p:sp>
        <p:nvSpPr>
          <p:cNvPr name="Freeform 5" id="5"/>
          <p:cNvSpPr/>
          <p:nvPr/>
        </p:nvSpPr>
        <p:spPr>
          <a:xfrm flipH="false" flipV="false" rot="0">
            <a:off x="10063869" y="6433327"/>
            <a:ext cx="5519636" cy="3673067"/>
          </a:xfrm>
          <a:custGeom>
            <a:avLst/>
            <a:gdLst/>
            <a:ahLst/>
            <a:cxnLst/>
            <a:rect r="r" b="b" t="t" l="l"/>
            <a:pathLst>
              <a:path h="3673067" w="5519636">
                <a:moveTo>
                  <a:pt x="0" y="0"/>
                </a:moveTo>
                <a:lnTo>
                  <a:pt x="5519636" y="0"/>
                </a:lnTo>
                <a:lnTo>
                  <a:pt x="5519636" y="3673066"/>
                </a:lnTo>
                <a:lnTo>
                  <a:pt x="0" y="3673066"/>
                </a:lnTo>
                <a:lnTo>
                  <a:pt x="0" y="0"/>
                </a:lnTo>
                <a:close/>
              </a:path>
            </a:pathLst>
          </a:custGeom>
          <a:blipFill>
            <a:blip r:embed="rId6"/>
            <a:stretch>
              <a:fillRect l="0" t="0" r="0" b="0"/>
            </a:stretch>
          </a:blipFill>
        </p:spPr>
      </p:sp>
      <p:sp>
        <p:nvSpPr>
          <p:cNvPr name="TextBox 6" id="6"/>
          <p:cNvSpPr txBox="true"/>
          <p:nvPr/>
        </p:nvSpPr>
        <p:spPr>
          <a:xfrm rot="0">
            <a:off x="1343146" y="2671244"/>
            <a:ext cx="16059506" cy="3453193"/>
          </a:xfrm>
          <a:prstGeom prst="rect">
            <a:avLst/>
          </a:prstGeom>
        </p:spPr>
        <p:txBody>
          <a:bodyPr anchor="t" rtlCol="false" tIns="0" lIns="0" bIns="0" rIns="0">
            <a:spAutoFit/>
          </a:bodyPr>
          <a:lstStyle/>
          <a:p>
            <a:pPr algn="ctr">
              <a:lnSpc>
                <a:spcPts val="5491"/>
              </a:lnSpc>
              <a:spcBef>
                <a:spcPct val="0"/>
              </a:spcBef>
            </a:pPr>
            <a:r>
              <a:rPr lang="en-US" sz="3922">
                <a:solidFill>
                  <a:srgbClr val="FFFFFF"/>
                </a:solidFill>
                <a:latin typeface="Prata"/>
                <a:ea typeface="Prata"/>
                <a:cs typeface="Prata"/>
                <a:sym typeface="Prata"/>
              </a:rPr>
              <a:t>¿Qué es AbogaTech?</a:t>
            </a:r>
          </a:p>
          <a:p>
            <a:pPr algn="ctr">
              <a:lnSpc>
                <a:spcPts val="5491"/>
              </a:lnSpc>
              <a:spcBef>
                <a:spcPct val="0"/>
              </a:spcBef>
            </a:pPr>
            <a:r>
              <a:rPr lang="en-US" sz="3922">
                <a:solidFill>
                  <a:srgbClr val="FFFFFF"/>
                </a:solidFill>
                <a:latin typeface="Prata"/>
                <a:ea typeface="Prata"/>
                <a:cs typeface="Prata"/>
                <a:sym typeface="Prata"/>
              </a:rPr>
              <a:t>AbogaTech es un sistema ERP diseñado específicamente para bufetes de abogados. Nació como un ejemplo educativo de arquitectura de software y evolucionó hasta convertirse en una solución de referencia para la gestión legal y administrativa.</a:t>
            </a:r>
          </a:p>
        </p:txBody>
      </p:sp>
      <p:sp>
        <p:nvSpPr>
          <p:cNvPr name="TextBox 7" id="7"/>
          <p:cNvSpPr txBox="true"/>
          <p:nvPr/>
        </p:nvSpPr>
        <p:spPr>
          <a:xfrm rot="0">
            <a:off x="3410580" y="453327"/>
            <a:ext cx="11002403" cy="787464"/>
          </a:xfrm>
          <a:prstGeom prst="rect">
            <a:avLst/>
          </a:prstGeom>
        </p:spPr>
        <p:txBody>
          <a:bodyPr anchor="t" rtlCol="false" tIns="0" lIns="0" bIns="0" rIns="0">
            <a:spAutoFit/>
          </a:bodyPr>
          <a:lstStyle/>
          <a:p>
            <a:pPr algn="ctr">
              <a:lnSpc>
                <a:spcPts val="6471"/>
              </a:lnSpc>
              <a:spcBef>
                <a:spcPct val="0"/>
              </a:spcBef>
            </a:pPr>
            <a:r>
              <a:rPr lang="en-US" b="true" sz="4622">
                <a:solidFill>
                  <a:srgbClr val="FFFFFF"/>
                </a:solidFill>
                <a:latin typeface="Montserrat Bold"/>
                <a:ea typeface="Montserrat Bold"/>
                <a:cs typeface="Montserrat Bold"/>
                <a:sym typeface="Montserrat Bold"/>
              </a:rPr>
              <a:t>V.1 Introducción y requerimientos</a:t>
            </a:r>
          </a:p>
        </p:txBody>
      </p:sp>
      <p:sp>
        <p:nvSpPr>
          <p:cNvPr name="TextBox 8" id="8"/>
          <p:cNvSpPr txBox="true"/>
          <p:nvPr/>
        </p:nvSpPr>
        <p:spPr>
          <a:xfrm rot="0">
            <a:off x="2232384" y="1655631"/>
            <a:ext cx="4891088" cy="513778"/>
          </a:xfrm>
          <a:prstGeom prst="rect">
            <a:avLst/>
          </a:prstGeom>
        </p:spPr>
        <p:txBody>
          <a:bodyPr anchor="t" rtlCol="false" tIns="0" lIns="0" bIns="0" rIns="0">
            <a:spAutoFit/>
          </a:bodyPr>
          <a:lstStyle/>
          <a:p>
            <a:pPr algn="ctr">
              <a:lnSpc>
                <a:spcPts val="4231"/>
              </a:lnSpc>
              <a:spcBef>
                <a:spcPct val="0"/>
              </a:spcBef>
            </a:pPr>
            <a:r>
              <a:rPr lang="en-US" sz="3022">
                <a:solidFill>
                  <a:srgbClr val="FFFFFF"/>
                </a:solidFill>
                <a:latin typeface="Prata"/>
                <a:ea typeface="Prata"/>
                <a:cs typeface="Prata"/>
                <a:sym typeface="Prata"/>
              </a:rPr>
              <a:t>1.1 Requirements Overview</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5555" r="0" b="-5555"/>
            </a:stretch>
          </a:blipFill>
        </p:spPr>
      </p:sp>
      <p:grpSp>
        <p:nvGrpSpPr>
          <p:cNvPr name="Group 3" id="3"/>
          <p:cNvGrpSpPr/>
          <p:nvPr/>
        </p:nvGrpSpPr>
        <p:grpSpPr>
          <a:xfrm rot="0">
            <a:off x="0" y="0"/>
            <a:ext cx="18288000" cy="10287000"/>
            <a:chOff x="0" y="0"/>
            <a:chExt cx="4816593" cy="2709333"/>
          </a:xfrm>
        </p:grpSpPr>
        <p:sp>
          <p:nvSpPr>
            <p:cNvPr name="Freeform 4" id="4"/>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solidFill>
              <a:srgbClr val="000000">
                <a:alpha val="84706"/>
              </a:srgbClr>
            </a:solidFill>
          </p:spPr>
        </p:sp>
        <p:sp>
          <p:nvSpPr>
            <p:cNvPr name="TextBox 5" id="5"/>
            <p:cNvSpPr txBox="true"/>
            <p:nvPr/>
          </p:nvSpPr>
          <p:spPr>
            <a:xfrm>
              <a:off x="0" y="-38100"/>
              <a:ext cx="4816593" cy="2747433"/>
            </a:xfrm>
            <a:prstGeom prst="rect">
              <a:avLst/>
            </a:prstGeom>
          </p:spPr>
          <p:txBody>
            <a:bodyPr anchor="ctr" rtlCol="false" tIns="50800" lIns="50800" bIns="50800" rIns="50800"/>
            <a:lstStyle/>
            <a:p>
              <a:pPr algn="ctr">
                <a:lnSpc>
                  <a:spcPts val="3111"/>
                </a:lnSpc>
              </a:pPr>
            </a:p>
          </p:txBody>
        </p:sp>
      </p:grpSp>
      <p:sp>
        <p:nvSpPr>
          <p:cNvPr name="Freeform 6" id="6"/>
          <p:cNvSpPr/>
          <p:nvPr/>
        </p:nvSpPr>
        <p:spPr>
          <a:xfrm flipH="false" flipV="false" rot="0">
            <a:off x="13727632" y="5538868"/>
            <a:ext cx="4697437" cy="4913254"/>
          </a:xfrm>
          <a:custGeom>
            <a:avLst/>
            <a:gdLst/>
            <a:ahLst/>
            <a:cxnLst/>
            <a:rect r="r" b="b" t="t" l="l"/>
            <a:pathLst>
              <a:path h="4913254" w="4697437">
                <a:moveTo>
                  <a:pt x="0" y="0"/>
                </a:moveTo>
                <a:lnTo>
                  <a:pt x="4697437" y="0"/>
                </a:lnTo>
                <a:lnTo>
                  <a:pt x="4697437" y="4913253"/>
                </a:lnTo>
                <a:lnTo>
                  <a:pt x="0" y="4913253"/>
                </a:lnTo>
                <a:lnTo>
                  <a:pt x="0" y="0"/>
                </a:lnTo>
                <a:close/>
              </a:path>
            </a:pathLst>
          </a:custGeom>
          <a:blipFill>
            <a:blip r:embed="rId3">
              <a:alphaModFix amt="74000"/>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3822879" y="296846"/>
            <a:ext cx="11002403" cy="2228215"/>
          </a:xfrm>
          <a:prstGeom prst="rect">
            <a:avLst/>
          </a:prstGeom>
        </p:spPr>
        <p:txBody>
          <a:bodyPr anchor="t" rtlCol="false" tIns="0" lIns="0" bIns="0" rIns="0">
            <a:spAutoFit/>
          </a:bodyPr>
          <a:lstStyle/>
          <a:p>
            <a:pPr algn="ctr">
              <a:lnSpc>
                <a:spcPts val="8959"/>
              </a:lnSpc>
            </a:pPr>
            <a:r>
              <a:rPr lang="en-US" b="true" sz="6399">
                <a:solidFill>
                  <a:srgbClr val="FFFFFF"/>
                </a:solidFill>
                <a:latin typeface="Montserrat Bold"/>
                <a:ea typeface="Montserrat Bold"/>
                <a:cs typeface="Montserrat Bold"/>
                <a:sym typeface="Montserrat Bold"/>
              </a:rPr>
              <a:t>CARACTERÍSTICAS ESENCIALES </a:t>
            </a:r>
          </a:p>
        </p:txBody>
      </p:sp>
      <p:sp>
        <p:nvSpPr>
          <p:cNvPr name="Freeform 8" id="8"/>
          <p:cNvSpPr/>
          <p:nvPr/>
        </p:nvSpPr>
        <p:spPr>
          <a:xfrm flipH="false" flipV="false" rot="-10800000">
            <a:off x="-116335" y="-82396"/>
            <a:ext cx="4697437" cy="4913254"/>
          </a:xfrm>
          <a:custGeom>
            <a:avLst/>
            <a:gdLst/>
            <a:ahLst/>
            <a:cxnLst/>
            <a:rect r="r" b="b" t="t" l="l"/>
            <a:pathLst>
              <a:path h="4913254" w="4697437">
                <a:moveTo>
                  <a:pt x="0" y="0"/>
                </a:moveTo>
                <a:lnTo>
                  <a:pt x="4697437" y="0"/>
                </a:lnTo>
                <a:lnTo>
                  <a:pt x="4697437" y="4913254"/>
                </a:lnTo>
                <a:lnTo>
                  <a:pt x="0" y="4913254"/>
                </a:lnTo>
                <a:lnTo>
                  <a:pt x="0" y="0"/>
                </a:lnTo>
                <a:close/>
              </a:path>
            </a:pathLst>
          </a:custGeom>
          <a:blipFill>
            <a:blip r:embed="rId3">
              <a:alphaModFix amt="74000"/>
              <a:extLst>
                <a:ext uri="{96DAC541-7B7A-43D3-8B79-37D633B846F1}">
                  <asvg:svgBlip xmlns:asvg="http://schemas.microsoft.com/office/drawing/2016/SVG/main" r:embed="rId4"/>
                </a:ext>
              </a:extLst>
            </a:blip>
            <a:stretch>
              <a:fillRect l="0" t="0" r="0" b="0"/>
            </a:stretch>
          </a:blipFill>
        </p:spPr>
      </p:sp>
      <p:sp>
        <p:nvSpPr>
          <p:cNvPr name="TextBox 9" id="9"/>
          <p:cNvSpPr txBox="true"/>
          <p:nvPr/>
        </p:nvSpPr>
        <p:spPr>
          <a:xfrm rot="0">
            <a:off x="673477" y="2967215"/>
            <a:ext cx="16941046" cy="6669539"/>
          </a:xfrm>
          <a:prstGeom prst="rect">
            <a:avLst/>
          </a:prstGeom>
        </p:spPr>
        <p:txBody>
          <a:bodyPr anchor="t" rtlCol="false" tIns="0" lIns="0" bIns="0" rIns="0">
            <a:spAutoFit/>
          </a:bodyPr>
          <a:lstStyle/>
          <a:p>
            <a:pPr algn="ctr" marL="630368" indent="-315184" lvl="1">
              <a:lnSpc>
                <a:spcPts val="4087"/>
              </a:lnSpc>
              <a:buFont typeface="Arial"/>
              <a:buChar char="•"/>
            </a:pPr>
            <a:r>
              <a:rPr lang="en-US" sz="2919">
                <a:solidFill>
                  <a:srgbClr val="FFFFFF"/>
                </a:solidFill>
                <a:latin typeface="Prata"/>
                <a:ea typeface="Prata"/>
                <a:cs typeface="Prata"/>
                <a:sym typeface="Prata"/>
              </a:rPr>
              <a:t>Gestor de Expedientes: Organización de casos y documentos legales.</a:t>
            </a:r>
          </a:p>
          <a:p>
            <a:pPr algn="ctr">
              <a:lnSpc>
                <a:spcPts val="4087"/>
              </a:lnSpc>
            </a:pPr>
          </a:p>
          <a:p>
            <a:pPr algn="ctr" marL="630368" indent="-315184" lvl="1">
              <a:lnSpc>
                <a:spcPts val="4087"/>
              </a:lnSpc>
              <a:buFont typeface="Arial"/>
              <a:buChar char="•"/>
            </a:pPr>
            <a:r>
              <a:rPr lang="en-US" sz="2919">
                <a:solidFill>
                  <a:srgbClr val="FFFFFF"/>
                </a:solidFill>
                <a:latin typeface="Prata"/>
                <a:ea typeface="Prata"/>
                <a:cs typeface="Prata"/>
                <a:sym typeface="Prata"/>
              </a:rPr>
              <a:t>Facturación y Contabilidad: Control financiero y generación de reportes.</a:t>
            </a:r>
          </a:p>
          <a:p>
            <a:pPr algn="ctr">
              <a:lnSpc>
                <a:spcPts val="4087"/>
              </a:lnSpc>
            </a:pPr>
          </a:p>
          <a:p>
            <a:pPr algn="ctr" marL="630368" indent="-315184" lvl="1">
              <a:lnSpc>
                <a:spcPts val="4087"/>
              </a:lnSpc>
              <a:buFont typeface="Arial"/>
              <a:buChar char="•"/>
            </a:pPr>
            <a:r>
              <a:rPr lang="en-US" sz="2919">
                <a:solidFill>
                  <a:srgbClr val="FFFFFF"/>
                </a:solidFill>
                <a:latin typeface="Prata"/>
                <a:ea typeface="Prata"/>
                <a:cs typeface="Prata"/>
                <a:sym typeface="Prata"/>
              </a:rPr>
              <a:t>Gestión de Clientes y Proveedores: Base de datos con historial completo.</a:t>
            </a:r>
          </a:p>
          <a:p>
            <a:pPr algn="ctr">
              <a:lnSpc>
                <a:spcPts val="4087"/>
              </a:lnSpc>
            </a:pPr>
          </a:p>
          <a:p>
            <a:pPr algn="ctr" marL="630368" indent="-315184" lvl="1">
              <a:lnSpc>
                <a:spcPts val="4087"/>
              </a:lnSpc>
              <a:buFont typeface="Arial"/>
              <a:buChar char="•"/>
            </a:pPr>
            <a:r>
              <a:rPr lang="en-US" sz="2919">
                <a:solidFill>
                  <a:srgbClr val="FFFFFF"/>
                </a:solidFill>
                <a:latin typeface="Prata"/>
                <a:ea typeface="Prata"/>
                <a:cs typeface="Prata"/>
                <a:sym typeface="Prata"/>
              </a:rPr>
              <a:t>Control de Tiempos: Registro detallado de horas trabajadas.</a:t>
            </a:r>
          </a:p>
          <a:p>
            <a:pPr algn="ctr">
              <a:lnSpc>
                <a:spcPts val="4087"/>
              </a:lnSpc>
            </a:pPr>
          </a:p>
          <a:p>
            <a:pPr algn="ctr" marL="630368" indent="-315184" lvl="1">
              <a:lnSpc>
                <a:spcPts val="4087"/>
              </a:lnSpc>
              <a:buFont typeface="Arial"/>
              <a:buChar char="•"/>
            </a:pPr>
            <a:r>
              <a:rPr lang="en-US" sz="2919">
                <a:solidFill>
                  <a:srgbClr val="FFFFFF"/>
                </a:solidFill>
                <a:latin typeface="Prata"/>
                <a:ea typeface="Prata"/>
                <a:cs typeface="Prata"/>
                <a:sym typeface="Prata"/>
              </a:rPr>
              <a:t>Integración con Otros Sistemas: Compatible con software contable, gestión documental, etc.</a:t>
            </a:r>
          </a:p>
          <a:p>
            <a:pPr algn="ctr">
              <a:lnSpc>
                <a:spcPts val="4087"/>
              </a:lnSpc>
            </a:pPr>
          </a:p>
          <a:p>
            <a:pPr algn="ctr" marL="630368" indent="-315184" lvl="1">
              <a:lnSpc>
                <a:spcPts val="4087"/>
              </a:lnSpc>
              <a:buFont typeface="Arial"/>
              <a:buChar char="•"/>
            </a:pPr>
            <a:r>
              <a:rPr lang="en-US" sz="2919">
                <a:solidFill>
                  <a:srgbClr val="FFFFFF"/>
                </a:solidFill>
                <a:latin typeface="Prata"/>
                <a:ea typeface="Prata"/>
                <a:cs typeface="Prata"/>
                <a:sym typeface="Prata"/>
              </a:rPr>
              <a:t>Compras e Inventarios: Control de insumos y adquisiciones.</a:t>
            </a:r>
          </a:p>
          <a:p>
            <a:pPr algn="ctr">
              <a:lnSpc>
                <a:spcPts val="4087"/>
              </a:lnSpc>
            </a:pPr>
          </a:p>
          <a:p>
            <a:pPr algn="ctr" marL="630368" indent="-315184" lvl="1">
              <a:lnSpc>
                <a:spcPts val="4087"/>
              </a:lnSpc>
              <a:buFont typeface="Arial"/>
              <a:buChar char="•"/>
            </a:pPr>
            <a:r>
              <a:rPr lang="en-US" sz="2919">
                <a:solidFill>
                  <a:srgbClr val="FFFFFF"/>
                </a:solidFill>
                <a:latin typeface="Prata"/>
                <a:ea typeface="Prata"/>
                <a:cs typeface="Prata"/>
                <a:sym typeface="Prata"/>
              </a:rPr>
              <a:t>Recursos Humanos y Nómina: Gestión de empleados y cumplimiento laboral.</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2500" t="0" r="-12500" b="0"/>
            </a:stretch>
          </a:blipFill>
        </p:spPr>
      </p:sp>
      <p:sp>
        <p:nvSpPr>
          <p:cNvPr name="Freeform 3" id="3"/>
          <p:cNvSpPr/>
          <p:nvPr/>
        </p:nvSpPr>
        <p:spPr>
          <a:xfrm flipH="false" flipV="false" rot="0">
            <a:off x="4569323" y="1229091"/>
            <a:ext cx="9187434" cy="8689513"/>
          </a:xfrm>
          <a:custGeom>
            <a:avLst/>
            <a:gdLst/>
            <a:ahLst/>
            <a:cxnLst/>
            <a:rect r="r" b="b" t="t" l="l"/>
            <a:pathLst>
              <a:path h="8689513" w="9187434">
                <a:moveTo>
                  <a:pt x="0" y="0"/>
                </a:moveTo>
                <a:lnTo>
                  <a:pt x="9187434" y="0"/>
                </a:lnTo>
                <a:lnTo>
                  <a:pt x="9187434" y="8689513"/>
                </a:lnTo>
                <a:lnTo>
                  <a:pt x="0" y="8689513"/>
                </a:lnTo>
                <a:lnTo>
                  <a:pt x="0" y="0"/>
                </a:lnTo>
                <a:close/>
              </a:path>
            </a:pathLst>
          </a:custGeom>
          <a:blipFill>
            <a:blip r:embed="rId3"/>
            <a:stretch>
              <a:fillRect l="0" t="0" r="0" b="0"/>
            </a:stretch>
          </a:blipFill>
        </p:spPr>
      </p:sp>
      <p:sp>
        <p:nvSpPr>
          <p:cNvPr name="TextBox 4" id="4"/>
          <p:cNvSpPr txBox="true"/>
          <p:nvPr/>
        </p:nvSpPr>
        <p:spPr>
          <a:xfrm rot="0">
            <a:off x="2674749" y="220130"/>
            <a:ext cx="12938502" cy="745489"/>
          </a:xfrm>
          <a:prstGeom prst="rect">
            <a:avLst/>
          </a:prstGeom>
        </p:spPr>
        <p:txBody>
          <a:bodyPr anchor="t" rtlCol="false" tIns="0" lIns="0" bIns="0" rIns="0">
            <a:spAutoFit/>
          </a:bodyPr>
          <a:lstStyle/>
          <a:p>
            <a:pPr algn="ctr">
              <a:lnSpc>
                <a:spcPts val="6160"/>
              </a:lnSpc>
            </a:pPr>
            <a:r>
              <a:rPr lang="en-US" b="true" sz="4400">
                <a:solidFill>
                  <a:srgbClr val="FFFFFF"/>
                </a:solidFill>
                <a:latin typeface="Montserrat Bold"/>
                <a:ea typeface="Montserrat Bold"/>
                <a:cs typeface="Montserrat Bold"/>
                <a:sym typeface="Montserrat Bold"/>
              </a:rPr>
              <a:t>1.2 OBJETIVOS O METAS DE CALIDAD </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2500" t="0" r="-12500" b="0"/>
            </a:stretch>
          </a:blipFill>
        </p:spPr>
      </p:sp>
      <p:sp>
        <p:nvSpPr>
          <p:cNvPr name="TextBox 3" id="3"/>
          <p:cNvSpPr txBox="true"/>
          <p:nvPr/>
        </p:nvSpPr>
        <p:spPr>
          <a:xfrm rot="0">
            <a:off x="3642799" y="261847"/>
            <a:ext cx="11002403" cy="1094740"/>
          </a:xfrm>
          <a:prstGeom prst="rect">
            <a:avLst/>
          </a:prstGeom>
        </p:spPr>
        <p:txBody>
          <a:bodyPr anchor="t" rtlCol="false" tIns="0" lIns="0" bIns="0" rIns="0">
            <a:spAutoFit/>
          </a:bodyPr>
          <a:lstStyle/>
          <a:p>
            <a:pPr algn="ctr">
              <a:lnSpc>
                <a:spcPts val="8959"/>
              </a:lnSpc>
            </a:pPr>
            <a:r>
              <a:rPr lang="en-US" b="true" sz="6399">
                <a:solidFill>
                  <a:srgbClr val="FFFFFF"/>
                </a:solidFill>
                <a:latin typeface="Montserrat Bold"/>
                <a:ea typeface="Montserrat Bold"/>
                <a:cs typeface="Montserrat Bold"/>
                <a:sym typeface="Montserrat Bold"/>
              </a:rPr>
              <a:t>1.3 STAKEHOLDERS</a:t>
            </a:r>
          </a:p>
        </p:txBody>
      </p:sp>
      <p:sp>
        <p:nvSpPr>
          <p:cNvPr name="Freeform 4" id="4"/>
          <p:cNvSpPr/>
          <p:nvPr/>
        </p:nvSpPr>
        <p:spPr>
          <a:xfrm flipH="false" flipV="false" rot="0">
            <a:off x="13727632" y="5538868"/>
            <a:ext cx="4697437" cy="4913254"/>
          </a:xfrm>
          <a:custGeom>
            <a:avLst/>
            <a:gdLst/>
            <a:ahLst/>
            <a:cxnLst/>
            <a:rect r="r" b="b" t="t" l="l"/>
            <a:pathLst>
              <a:path h="4913254" w="4697437">
                <a:moveTo>
                  <a:pt x="0" y="0"/>
                </a:moveTo>
                <a:lnTo>
                  <a:pt x="4697437" y="0"/>
                </a:lnTo>
                <a:lnTo>
                  <a:pt x="4697437" y="4913253"/>
                </a:lnTo>
                <a:lnTo>
                  <a:pt x="0" y="4913253"/>
                </a:lnTo>
                <a:lnTo>
                  <a:pt x="0" y="0"/>
                </a:lnTo>
                <a:close/>
              </a:path>
            </a:pathLst>
          </a:custGeom>
          <a:blipFill>
            <a:blip r:embed="rId3">
              <a:alphaModFix amt="74000"/>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10800000">
            <a:off x="-116335" y="-82396"/>
            <a:ext cx="4697437" cy="4913254"/>
          </a:xfrm>
          <a:custGeom>
            <a:avLst/>
            <a:gdLst/>
            <a:ahLst/>
            <a:cxnLst/>
            <a:rect r="r" b="b" t="t" l="l"/>
            <a:pathLst>
              <a:path h="4913254" w="4697437">
                <a:moveTo>
                  <a:pt x="0" y="0"/>
                </a:moveTo>
                <a:lnTo>
                  <a:pt x="4697437" y="0"/>
                </a:lnTo>
                <a:lnTo>
                  <a:pt x="4697437" y="4913254"/>
                </a:lnTo>
                <a:lnTo>
                  <a:pt x="0" y="4913254"/>
                </a:lnTo>
                <a:lnTo>
                  <a:pt x="0" y="0"/>
                </a:lnTo>
                <a:close/>
              </a:path>
            </a:pathLst>
          </a:custGeom>
          <a:blipFill>
            <a:blip r:embed="rId3">
              <a:alphaModFix amt="74000"/>
              <a:extLst>
                <a:ext uri="{96DAC541-7B7A-43D3-8B79-37D633B846F1}">
                  <asvg:svgBlip xmlns:asvg="http://schemas.microsoft.com/office/drawing/2016/SVG/main" r:embed="rId4"/>
                </a:ext>
              </a:extLst>
            </a:blip>
            <a:stretch>
              <a:fillRect l="0" t="0" r="0" b="0"/>
            </a:stretch>
          </a:blipFill>
        </p:spPr>
      </p:sp>
      <p:sp>
        <p:nvSpPr>
          <p:cNvPr name="Freeform 6" id="6"/>
          <p:cNvSpPr/>
          <p:nvPr/>
        </p:nvSpPr>
        <p:spPr>
          <a:xfrm flipH="false" flipV="false" rot="0">
            <a:off x="4901935" y="1555250"/>
            <a:ext cx="8504864" cy="8416118"/>
          </a:xfrm>
          <a:custGeom>
            <a:avLst/>
            <a:gdLst/>
            <a:ahLst/>
            <a:cxnLst/>
            <a:rect r="r" b="b" t="t" l="l"/>
            <a:pathLst>
              <a:path h="8416118" w="8504864">
                <a:moveTo>
                  <a:pt x="0" y="0"/>
                </a:moveTo>
                <a:lnTo>
                  <a:pt x="8504864" y="0"/>
                </a:lnTo>
                <a:lnTo>
                  <a:pt x="8504864" y="8416117"/>
                </a:lnTo>
                <a:lnTo>
                  <a:pt x="0" y="8416117"/>
                </a:lnTo>
                <a:lnTo>
                  <a:pt x="0" y="0"/>
                </a:lnTo>
                <a:close/>
              </a:path>
            </a:pathLst>
          </a:custGeom>
          <a:blipFill>
            <a:blip r:embed="rId5"/>
            <a:stretch>
              <a:fillRect l="0" t="0" r="0" b="0"/>
            </a:stretch>
          </a:blipFill>
        </p:spPr>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5555" r="0" b="-5555"/>
            </a:stretch>
          </a:blipFill>
        </p:spPr>
      </p:sp>
      <p:grpSp>
        <p:nvGrpSpPr>
          <p:cNvPr name="Group 3" id="3"/>
          <p:cNvGrpSpPr/>
          <p:nvPr/>
        </p:nvGrpSpPr>
        <p:grpSpPr>
          <a:xfrm rot="0">
            <a:off x="0" y="0"/>
            <a:ext cx="18288000" cy="10287000"/>
            <a:chOff x="0" y="0"/>
            <a:chExt cx="4816593" cy="2709333"/>
          </a:xfrm>
        </p:grpSpPr>
        <p:sp>
          <p:nvSpPr>
            <p:cNvPr name="Freeform 4" id="4"/>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solidFill>
              <a:srgbClr val="000000">
                <a:alpha val="84706"/>
              </a:srgbClr>
            </a:solidFill>
          </p:spPr>
        </p:sp>
        <p:sp>
          <p:nvSpPr>
            <p:cNvPr name="TextBox 5" id="5"/>
            <p:cNvSpPr txBox="true"/>
            <p:nvPr/>
          </p:nvSpPr>
          <p:spPr>
            <a:xfrm>
              <a:off x="0" y="-38100"/>
              <a:ext cx="4816593" cy="2747433"/>
            </a:xfrm>
            <a:prstGeom prst="rect">
              <a:avLst/>
            </a:prstGeom>
          </p:spPr>
          <p:txBody>
            <a:bodyPr anchor="ctr" rtlCol="false" tIns="50800" lIns="50800" bIns="50800" rIns="50800"/>
            <a:lstStyle/>
            <a:p>
              <a:pPr algn="ctr">
                <a:lnSpc>
                  <a:spcPts val="3111"/>
                </a:lnSpc>
              </a:pPr>
            </a:p>
          </p:txBody>
        </p:sp>
      </p:grpSp>
      <p:sp>
        <p:nvSpPr>
          <p:cNvPr name="Freeform 6" id="6"/>
          <p:cNvSpPr/>
          <p:nvPr/>
        </p:nvSpPr>
        <p:spPr>
          <a:xfrm flipH="false" flipV="false" rot="0">
            <a:off x="13727632" y="5538868"/>
            <a:ext cx="4697437" cy="4913254"/>
          </a:xfrm>
          <a:custGeom>
            <a:avLst/>
            <a:gdLst/>
            <a:ahLst/>
            <a:cxnLst/>
            <a:rect r="r" b="b" t="t" l="l"/>
            <a:pathLst>
              <a:path h="4913254" w="4697437">
                <a:moveTo>
                  <a:pt x="0" y="0"/>
                </a:moveTo>
                <a:lnTo>
                  <a:pt x="4697437" y="0"/>
                </a:lnTo>
                <a:lnTo>
                  <a:pt x="4697437" y="4913253"/>
                </a:lnTo>
                <a:lnTo>
                  <a:pt x="0" y="4913253"/>
                </a:lnTo>
                <a:lnTo>
                  <a:pt x="0" y="0"/>
                </a:lnTo>
                <a:close/>
              </a:path>
            </a:pathLst>
          </a:custGeom>
          <a:blipFill>
            <a:blip r:embed="rId3">
              <a:alphaModFix amt="74000"/>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3642799" y="4444128"/>
            <a:ext cx="11002403" cy="1094740"/>
          </a:xfrm>
          <a:prstGeom prst="rect">
            <a:avLst/>
          </a:prstGeom>
        </p:spPr>
        <p:txBody>
          <a:bodyPr anchor="t" rtlCol="false" tIns="0" lIns="0" bIns="0" rIns="0">
            <a:spAutoFit/>
          </a:bodyPr>
          <a:lstStyle/>
          <a:p>
            <a:pPr algn="ctr">
              <a:lnSpc>
                <a:spcPts val="8959"/>
              </a:lnSpc>
            </a:pPr>
            <a:r>
              <a:rPr lang="en-US" b="true" sz="6399">
                <a:solidFill>
                  <a:srgbClr val="FFFFFF"/>
                </a:solidFill>
                <a:latin typeface="Montserrat Bold"/>
                <a:ea typeface="Montserrat Bold"/>
                <a:cs typeface="Montserrat Bold"/>
                <a:sym typeface="Montserrat Bold"/>
              </a:rPr>
              <a:t>V.2 RESTRICCIONES </a:t>
            </a:r>
          </a:p>
        </p:txBody>
      </p:sp>
      <p:sp>
        <p:nvSpPr>
          <p:cNvPr name="Freeform 8" id="8"/>
          <p:cNvSpPr/>
          <p:nvPr/>
        </p:nvSpPr>
        <p:spPr>
          <a:xfrm flipH="false" flipV="false" rot="-10800000">
            <a:off x="-116335" y="-82396"/>
            <a:ext cx="4697437" cy="4913254"/>
          </a:xfrm>
          <a:custGeom>
            <a:avLst/>
            <a:gdLst/>
            <a:ahLst/>
            <a:cxnLst/>
            <a:rect r="r" b="b" t="t" l="l"/>
            <a:pathLst>
              <a:path h="4913254" w="4697437">
                <a:moveTo>
                  <a:pt x="0" y="0"/>
                </a:moveTo>
                <a:lnTo>
                  <a:pt x="4697437" y="0"/>
                </a:lnTo>
                <a:lnTo>
                  <a:pt x="4697437" y="4913254"/>
                </a:lnTo>
                <a:lnTo>
                  <a:pt x="0" y="4913254"/>
                </a:lnTo>
                <a:lnTo>
                  <a:pt x="0" y="0"/>
                </a:lnTo>
                <a:close/>
              </a:path>
            </a:pathLst>
          </a:custGeom>
          <a:blipFill>
            <a:blip r:embed="rId3">
              <a:alphaModFix amt="74000"/>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5555" r="0" b="-5555"/>
            </a:stretch>
          </a:blipFill>
        </p:spPr>
      </p:sp>
      <p:grpSp>
        <p:nvGrpSpPr>
          <p:cNvPr name="Group 3" id="3"/>
          <p:cNvGrpSpPr/>
          <p:nvPr/>
        </p:nvGrpSpPr>
        <p:grpSpPr>
          <a:xfrm rot="0">
            <a:off x="0" y="0"/>
            <a:ext cx="18288000" cy="10287000"/>
            <a:chOff x="0" y="0"/>
            <a:chExt cx="4816593" cy="2709333"/>
          </a:xfrm>
        </p:grpSpPr>
        <p:sp>
          <p:nvSpPr>
            <p:cNvPr name="Freeform 4" id="4"/>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solidFill>
              <a:srgbClr val="000000">
                <a:alpha val="84706"/>
              </a:srgbClr>
            </a:solidFill>
          </p:spPr>
        </p:sp>
        <p:sp>
          <p:nvSpPr>
            <p:cNvPr name="TextBox 5" id="5"/>
            <p:cNvSpPr txBox="true"/>
            <p:nvPr/>
          </p:nvSpPr>
          <p:spPr>
            <a:xfrm>
              <a:off x="0" y="-38100"/>
              <a:ext cx="4816593" cy="2747433"/>
            </a:xfrm>
            <a:prstGeom prst="rect">
              <a:avLst/>
            </a:prstGeom>
          </p:spPr>
          <p:txBody>
            <a:bodyPr anchor="ctr" rtlCol="false" tIns="50800" lIns="50800" bIns="50800" rIns="50800"/>
            <a:lstStyle/>
            <a:p>
              <a:pPr algn="ctr">
                <a:lnSpc>
                  <a:spcPts val="3111"/>
                </a:lnSpc>
              </a:pPr>
            </a:p>
          </p:txBody>
        </p:sp>
      </p:grpSp>
      <p:sp>
        <p:nvSpPr>
          <p:cNvPr name="Freeform 6" id="6"/>
          <p:cNvSpPr/>
          <p:nvPr/>
        </p:nvSpPr>
        <p:spPr>
          <a:xfrm flipH="false" flipV="false" rot="0">
            <a:off x="13727632" y="5538868"/>
            <a:ext cx="4697437" cy="4913254"/>
          </a:xfrm>
          <a:custGeom>
            <a:avLst/>
            <a:gdLst/>
            <a:ahLst/>
            <a:cxnLst/>
            <a:rect r="r" b="b" t="t" l="l"/>
            <a:pathLst>
              <a:path h="4913254" w="4697437">
                <a:moveTo>
                  <a:pt x="0" y="0"/>
                </a:moveTo>
                <a:lnTo>
                  <a:pt x="4697437" y="0"/>
                </a:lnTo>
                <a:lnTo>
                  <a:pt x="4697437" y="4913253"/>
                </a:lnTo>
                <a:lnTo>
                  <a:pt x="0" y="4913253"/>
                </a:lnTo>
                <a:lnTo>
                  <a:pt x="0" y="0"/>
                </a:lnTo>
                <a:close/>
              </a:path>
            </a:pathLst>
          </a:custGeom>
          <a:blipFill>
            <a:blip r:embed="rId3">
              <a:alphaModFix amt="74000"/>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3822879" y="296846"/>
            <a:ext cx="11002403" cy="2228215"/>
          </a:xfrm>
          <a:prstGeom prst="rect">
            <a:avLst/>
          </a:prstGeom>
        </p:spPr>
        <p:txBody>
          <a:bodyPr anchor="t" rtlCol="false" tIns="0" lIns="0" bIns="0" rIns="0">
            <a:spAutoFit/>
          </a:bodyPr>
          <a:lstStyle/>
          <a:p>
            <a:pPr algn="ctr">
              <a:lnSpc>
                <a:spcPts val="8959"/>
              </a:lnSpc>
            </a:pPr>
            <a:r>
              <a:rPr lang="en-US" b="true" sz="6399">
                <a:solidFill>
                  <a:srgbClr val="FFFFFF"/>
                </a:solidFill>
                <a:latin typeface="Montserrat Bold"/>
                <a:ea typeface="Montserrat Bold"/>
                <a:cs typeface="Montserrat Bold"/>
                <a:sym typeface="Montserrat Bold"/>
              </a:rPr>
              <a:t>2.1 RESTRICCIONES TÉCNICAS</a:t>
            </a:r>
          </a:p>
        </p:txBody>
      </p:sp>
      <p:sp>
        <p:nvSpPr>
          <p:cNvPr name="Freeform 8" id="8"/>
          <p:cNvSpPr/>
          <p:nvPr/>
        </p:nvSpPr>
        <p:spPr>
          <a:xfrm flipH="false" flipV="false" rot="-10800000">
            <a:off x="-116335" y="-82396"/>
            <a:ext cx="4697437" cy="4913254"/>
          </a:xfrm>
          <a:custGeom>
            <a:avLst/>
            <a:gdLst/>
            <a:ahLst/>
            <a:cxnLst/>
            <a:rect r="r" b="b" t="t" l="l"/>
            <a:pathLst>
              <a:path h="4913254" w="4697437">
                <a:moveTo>
                  <a:pt x="0" y="0"/>
                </a:moveTo>
                <a:lnTo>
                  <a:pt x="4697437" y="0"/>
                </a:lnTo>
                <a:lnTo>
                  <a:pt x="4697437" y="4913254"/>
                </a:lnTo>
                <a:lnTo>
                  <a:pt x="0" y="4913254"/>
                </a:lnTo>
                <a:lnTo>
                  <a:pt x="0" y="0"/>
                </a:lnTo>
                <a:close/>
              </a:path>
            </a:pathLst>
          </a:custGeom>
          <a:blipFill>
            <a:blip r:embed="rId3">
              <a:alphaModFix amt="74000"/>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767449" y="2697417"/>
            <a:ext cx="8790871" cy="6749545"/>
          </a:xfrm>
          <a:custGeom>
            <a:avLst/>
            <a:gdLst/>
            <a:ahLst/>
            <a:cxnLst/>
            <a:rect r="r" b="b" t="t" l="l"/>
            <a:pathLst>
              <a:path h="6749545" w="8790871">
                <a:moveTo>
                  <a:pt x="0" y="0"/>
                </a:moveTo>
                <a:lnTo>
                  <a:pt x="8790871" y="0"/>
                </a:lnTo>
                <a:lnTo>
                  <a:pt x="8790871" y="6749546"/>
                </a:lnTo>
                <a:lnTo>
                  <a:pt x="0" y="6749546"/>
                </a:lnTo>
                <a:lnTo>
                  <a:pt x="0" y="0"/>
                </a:lnTo>
                <a:close/>
              </a:path>
            </a:pathLst>
          </a:custGeom>
          <a:blipFill>
            <a:blip r:embed="rId5"/>
            <a:stretch>
              <a:fillRect l="0" t="0" r="0" b="0"/>
            </a:stretch>
          </a:blipFill>
        </p:spPr>
      </p:sp>
      <p:sp>
        <p:nvSpPr>
          <p:cNvPr name="Freeform 10" id="10"/>
          <p:cNvSpPr/>
          <p:nvPr/>
        </p:nvSpPr>
        <p:spPr>
          <a:xfrm flipH="false" flipV="false" rot="0">
            <a:off x="9976179" y="5143500"/>
            <a:ext cx="7502906" cy="1107898"/>
          </a:xfrm>
          <a:custGeom>
            <a:avLst/>
            <a:gdLst/>
            <a:ahLst/>
            <a:cxnLst/>
            <a:rect r="r" b="b" t="t" l="l"/>
            <a:pathLst>
              <a:path h="1107898" w="7502906">
                <a:moveTo>
                  <a:pt x="0" y="0"/>
                </a:moveTo>
                <a:lnTo>
                  <a:pt x="7502905" y="0"/>
                </a:lnTo>
                <a:lnTo>
                  <a:pt x="7502905" y="1107898"/>
                </a:lnTo>
                <a:lnTo>
                  <a:pt x="0" y="1107898"/>
                </a:lnTo>
                <a:lnTo>
                  <a:pt x="0" y="0"/>
                </a:lnTo>
                <a:close/>
              </a:path>
            </a:pathLst>
          </a:custGeom>
          <a:blipFill>
            <a:blip r:embed="rId6"/>
            <a:stretch>
              <a:fillRect l="0" t="0" r="0" b="-18286"/>
            </a:stretch>
          </a:blipFill>
        </p:spPr>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5555" r="0" b="-5555"/>
            </a:stretch>
          </a:blipFill>
        </p:spPr>
      </p:sp>
      <p:grpSp>
        <p:nvGrpSpPr>
          <p:cNvPr name="Group 3" id="3"/>
          <p:cNvGrpSpPr/>
          <p:nvPr/>
        </p:nvGrpSpPr>
        <p:grpSpPr>
          <a:xfrm rot="0">
            <a:off x="0" y="-253637"/>
            <a:ext cx="18288000" cy="10287000"/>
            <a:chOff x="0" y="0"/>
            <a:chExt cx="4816593" cy="2709333"/>
          </a:xfrm>
        </p:grpSpPr>
        <p:sp>
          <p:nvSpPr>
            <p:cNvPr name="Freeform 4" id="4"/>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solidFill>
              <a:srgbClr val="000000">
                <a:alpha val="84706"/>
              </a:srgbClr>
            </a:solidFill>
          </p:spPr>
        </p:sp>
        <p:sp>
          <p:nvSpPr>
            <p:cNvPr name="TextBox 5" id="5"/>
            <p:cNvSpPr txBox="true"/>
            <p:nvPr/>
          </p:nvSpPr>
          <p:spPr>
            <a:xfrm>
              <a:off x="0" y="-38100"/>
              <a:ext cx="4816593" cy="2747433"/>
            </a:xfrm>
            <a:prstGeom prst="rect">
              <a:avLst/>
            </a:prstGeom>
          </p:spPr>
          <p:txBody>
            <a:bodyPr anchor="ctr" rtlCol="false" tIns="50800" lIns="50800" bIns="50800" rIns="50800"/>
            <a:lstStyle/>
            <a:p>
              <a:pPr algn="ctr">
                <a:lnSpc>
                  <a:spcPts val="3111"/>
                </a:lnSpc>
              </a:pPr>
            </a:p>
          </p:txBody>
        </p:sp>
      </p:grpSp>
      <p:sp>
        <p:nvSpPr>
          <p:cNvPr name="Freeform 6" id="6"/>
          <p:cNvSpPr/>
          <p:nvPr/>
        </p:nvSpPr>
        <p:spPr>
          <a:xfrm flipH="false" flipV="false" rot="0">
            <a:off x="13727632" y="5538868"/>
            <a:ext cx="4697437" cy="4913254"/>
          </a:xfrm>
          <a:custGeom>
            <a:avLst/>
            <a:gdLst/>
            <a:ahLst/>
            <a:cxnLst/>
            <a:rect r="r" b="b" t="t" l="l"/>
            <a:pathLst>
              <a:path h="4913254" w="4697437">
                <a:moveTo>
                  <a:pt x="0" y="0"/>
                </a:moveTo>
                <a:lnTo>
                  <a:pt x="4697437" y="0"/>
                </a:lnTo>
                <a:lnTo>
                  <a:pt x="4697437" y="4913253"/>
                </a:lnTo>
                <a:lnTo>
                  <a:pt x="0" y="4913253"/>
                </a:lnTo>
                <a:lnTo>
                  <a:pt x="0" y="0"/>
                </a:lnTo>
                <a:close/>
              </a:path>
            </a:pathLst>
          </a:custGeom>
          <a:blipFill>
            <a:blip r:embed="rId3">
              <a:alphaModFix amt="74000"/>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1842905" y="200661"/>
            <a:ext cx="14602190" cy="828039"/>
          </a:xfrm>
          <a:prstGeom prst="rect">
            <a:avLst/>
          </a:prstGeom>
        </p:spPr>
        <p:txBody>
          <a:bodyPr anchor="t" rtlCol="false" tIns="0" lIns="0" bIns="0" rIns="0">
            <a:spAutoFit/>
          </a:bodyPr>
          <a:lstStyle/>
          <a:p>
            <a:pPr algn="ctr">
              <a:lnSpc>
                <a:spcPts val="6860"/>
              </a:lnSpc>
            </a:pPr>
            <a:r>
              <a:rPr lang="en-US" b="true" sz="4900">
                <a:solidFill>
                  <a:srgbClr val="FFFFFF"/>
                </a:solidFill>
                <a:latin typeface="Montserrat Bold"/>
                <a:ea typeface="Montserrat Bold"/>
                <a:cs typeface="Montserrat Bold"/>
                <a:sym typeface="Montserrat Bold"/>
              </a:rPr>
              <a:t>2.2 RESTRICCIONES ORGANIZACIONALES</a:t>
            </a:r>
          </a:p>
        </p:txBody>
      </p:sp>
      <p:sp>
        <p:nvSpPr>
          <p:cNvPr name="Freeform 8" id="8"/>
          <p:cNvSpPr/>
          <p:nvPr/>
        </p:nvSpPr>
        <p:spPr>
          <a:xfrm flipH="false" flipV="false" rot="-10800000">
            <a:off x="-116335" y="-82396"/>
            <a:ext cx="4697437" cy="4913254"/>
          </a:xfrm>
          <a:custGeom>
            <a:avLst/>
            <a:gdLst/>
            <a:ahLst/>
            <a:cxnLst/>
            <a:rect r="r" b="b" t="t" l="l"/>
            <a:pathLst>
              <a:path h="4913254" w="4697437">
                <a:moveTo>
                  <a:pt x="0" y="0"/>
                </a:moveTo>
                <a:lnTo>
                  <a:pt x="4697437" y="0"/>
                </a:lnTo>
                <a:lnTo>
                  <a:pt x="4697437" y="4913254"/>
                </a:lnTo>
                <a:lnTo>
                  <a:pt x="0" y="4913254"/>
                </a:lnTo>
                <a:lnTo>
                  <a:pt x="0" y="0"/>
                </a:lnTo>
                <a:close/>
              </a:path>
            </a:pathLst>
          </a:custGeom>
          <a:blipFill>
            <a:blip r:embed="rId3">
              <a:alphaModFix amt="74000"/>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5070352" y="1323660"/>
            <a:ext cx="8147296" cy="8709703"/>
          </a:xfrm>
          <a:custGeom>
            <a:avLst/>
            <a:gdLst/>
            <a:ahLst/>
            <a:cxnLst/>
            <a:rect r="r" b="b" t="t" l="l"/>
            <a:pathLst>
              <a:path h="8709703" w="8147296">
                <a:moveTo>
                  <a:pt x="0" y="0"/>
                </a:moveTo>
                <a:lnTo>
                  <a:pt x="8147296" y="0"/>
                </a:lnTo>
                <a:lnTo>
                  <a:pt x="8147296" y="8709703"/>
                </a:lnTo>
                <a:lnTo>
                  <a:pt x="0" y="8709703"/>
                </a:lnTo>
                <a:lnTo>
                  <a:pt x="0" y="0"/>
                </a:lnTo>
                <a:close/>
              </a:path>
            </a:pathLst>
          </a:custGeom>
          <a:blipFill>
            <a:blip r:embed="rId5"/>
            <a:stretch>
              <a:fillRect l="0" t="0" r="0" b="0"/>
            </a:stretch>
          </a:blipFill>
        </p:spPr>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5555" r="0" b="-5555"/>
            </a:stretch>
          </a:blipFill>
        </p:spPr>
      </p:sp>
      <p:grpSp>
        <p:nvGrpSpPr>
          <p:cNvPr name="Group 3" id="3"/>
          <p:cNvGrpSpPr/>
          <p:nvPr/>
        </p:nvGrpSpPr>
        <p:grpSpPr>
          <a:xfrm rot="0">
            <a:off x="0" y="-253637"/>
            <a:ext cx="18288000" cy="10287000"/>
            <a:chOff x="0" y="0"/>
            <a:chExt cx="4816593" cy="2709333"/>
          </a:xfrm>
        </p:grpSpPr>
        <p:sp>
          <p:nvSpPr>
            <p:cNvPr name="Freeform 4" id="4"/>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solidFill>
              <a:srgbClr val="000000">
                <a:alpha val="84706"/>
              </a:srgbClr>
            </a:solidFill>
          </p:spPr>
        </p:sp>
        <p:sp>
          <p:nvSpPr>
            <p:cNvPr name="TextBox 5" id="5"/>
            <p:cNvSpPr txBox="true"/>
            <p:nvPr/>
          </p:nvSpPr>
          <p:spPr>
            <a:xfrm>
              <a:off x="0" y="-38100"/>
              <a:ext cx="4816593" cy="2747433"/>
            </a:xfrm>
            <a:prstGeom prst="rect">
              <a:avLst/>
            </a:prstGeom>
          </p:spPr>
          <p:txBody>
            <a:bodyPr anchor="ctr" rtlCol="false" tIns="50800" lIns="50800" bIns="50800" rIns="50800"/>
            <a:lstStyle/>
            <a:p>
              <a:pPr algn="ctr">
                <a:lnSpc>
                  <a:spcPts val="3111"/>
                </a:lnSpc>
              </a:pPr>
            </a:p>
          </p:txBody>
        </p:sp>
      </p:grpSp>
      <p:sp>
        <p:nvSpPr>
          <p:cNvPr name="Freeform 6" id="6"/>
          <p:cNvSpPr/>
          <p:nvPr/>
        </p:nvSpPr>
        <p:spPr>
          <a:xfrm flipH="false" flipV="false" rot="0">
            <a:off x="13727632" y="5538868"/>
            <a:ext cx="4697437" cy="4913254"/>
          </a:xfrm>
          <a:custGeom>
            <a:avLst/>
            <a:gdLst/>
            <a:ahLst/>
            <a:cxnLst/>
            <a:rect r="r" b="b" t="t" l="l"/>
            <a:pathLst>
              <a:path h="4913254" w="4697437">
                <a:moveTo>
                  <a:pt x="0" y="0"/>
                </a:moveTo>
                <a:lnTo>
                  <a:pt x="4697437" y="0"/>
                </a:lnTo>
                <a:lnTo>
                  <a:pt x="4697437" y="4913253"/>
                </a:lnTo>
                <a:lnTo>
                  <a:pt x="0" y="4913253"/>
                </a:lnTo>
                <a:lnTo>
                  <a:pt x="0" y="0"/>
                </a:lnTo>
                <a:close/>
              </a:path>
            </a:pathLst>
          </a:custGeom>
          <a:blipFill>
            <a:blip r:embed="rId3">
              <a:alphaModFix amt="74000"/>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1842905" y="200661"/>
            <a:ext cx="14602190" cy="828039"/>
          </a:xfrm>
          <a:prstGeom prst="rect">
            <a:avLst/>
          </a:prstGeom>
        </p:spPr>
        <p:txBody>
          <a:bodyPr anchor="t" rtlCol="false" tIns="0" lIns="0" bIns="0" rIns="0">
            <a:spAutoFit/>
          </a:bodyPr>
          <a:lstStyle/>
          <a:p>
            <a:pPr algn="ctr">
              <a:lnSpc>
                <a:spcPts val="6860"/>
              </a:lnSpc>
            </a:pPr>
            <a:r>
              <a:rPr lang="en-US" b="true" sz="4900">
                <a:solidFill>
                  <a:srgbClr val="FFFFFF"/>
                </a:solidFill>
                <a:latin typeface="Montserrat Bold"/>
                <a:ea typeface="Montserrat Bold"/>
                <a:cs typeface="Montserrat Bold"/>
                <a:sym typeface="Montserrat Bold"/>
              </a:rPr>
              <a:t>3.1 CONTEXTO DE NEGOCIO</a:t>
            </a:r>
          </a:p>
        </p:txBody>
      </p:sp>
      <p:sp>
        <p:nvSpPr>
          <p:cNvPr name="Freeform 8" id="8"/>
          <p:cNvSpPr/>
          <p:nvPr/>
        </p:nvSpPr>
        <p:spPr>
          <a:xfrm flipH="false" flipV="false" rot="-10800000">
            <a:off x="-116335" y="-82396"/>
            <a:ext cx="4697437" cy="4913254"/>
          </a:xfrm>
          <a:custGeom>
            <a:avLst/>
            <a:gdLst/>
            <a:ahLst/>
            <a:cxnLst/>
            <a:rect r="r" b="b" t="t" l="l"/>
            <a:pathLst>
              <a:path h="4913254" w="4697437">
                <a:moveTo>
                  <a:pt x="0" y="0"/>
                </a:moveTo>
                <a:lnTo>
                  <a:pt x="4697437" y="0"/>
                </a:lnTo>
                <a:lnTo>
                  <a:pt x="4697437" y="4913254"/>
                </a:lnTo>
                <a:lnTo>
                  <a:pt x="0" y="4913254"/>
                </a:lnTo>
                <a:lnTo>
                  <a:pt x="0" y="0"/>
                </a:lnTo>
                <a:close/>
              </a:path>
            </a:pathLst>
          </a:custGeom>
          <a:blipFill>
            <a:blip r:embed="rId3">
              <a:alphaModFix amt="74000"/>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4402391" y="2466661"/>
            <a:ext cx="9483218" cy="6144414"/>
          </a:xfrm>
          <a:custGeom>
            <a:avLst/>
            <a:gdLst/>
            <a:ahLst/>
            <a:cxnLst/>
            <a:rect r="r" b="b" t="t" l="l"/>
            <a:pathLst>
              <a:path h="6144414" w="9483218">
                <a:moveTo>
                  <a:pt x="0" y="0"/>
                </a:moveTo>
                <a:lnTo>
                  <a:pt x="9483218" y="0"/>
                </a:lnTo>
                <a:lnTo>
                  <a:pt x="9483218" y="6144414"/>
                </a:lnTo>
                <a:lnTo>
                  <a:pt x="0" y="6144414"/>
                </a:lnTo>
                <a:lnTo>
                  <a:pt x="0" y="0"/>
                </a:lnTo>
                <a:close/>
              </a:path>
            </a:pathLst>
          </a:custGeom>
          <a:blipFill>
            <a:blip r:embed="rId5"/>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5555" r="0" b="-5555"/>
            </a:stretch>
          </a:blipFill>
        </p:spPr>
      </p:sp>
      <p:grpSp>
        <p:nvGrpSpPr>
          <p:cNvPr name="Group 3" id="3"/>
          <p:cNvGrpSpPr/>
          <p:nvPr/>
        </p:nvGrpSpPr>
        <p:grpSpPr>
          <a:xfrm rot="0">
            <a:off x="0" y="-253637"/>
            <a:ext cx="18288000" cy="10287000"/>
            <a:chOff x="0" y="0"/>
            <a:chExt cx="4816593" cy="2709333"/>
          </a:xfrm>
        </p:grpSpPr>
        <p:sp>
          <p:nvSpPr>
            <p:cNvPr name="Freeform 4" id="4"/>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solidFill>
              <a:srgbClr val="000000">
                <a:alpha val="84706"/>
              </a:srgbClr>
            </a:solidFill>
          </p:spPr>
        </p:sp>
        <p:sp>
          <p:nvSpPr>
            <p:cNvPr name="TextBox 5" id="5"/>
            <p:cNvSpPr txBox="true"/>
            <p:nvPr/>
          </p:nvSpPr>
          <p:spPr>
            <a:xfrm>
              <a:off x="0" y="-38100"/>
              <a:ext cx="4816593" cy="2747433"/>
            </a:xfrm>
            <a:prstGeom prst="rect">
              <a:avLst/>
            </a:prstGeom>
          </p:spPr>
          <p:txBody>
            <a:bodyPr anchor="ctr" rtlCol="false" tIns="50800" lIns="50800" bIns="50800" rIns="50800"/>
            <a:lstStyle/>
            <a:p>
              <a:pPr algn="ctr">
                <a:lnSpc>
                  <a:spcPts val="3111"/>
                </a:lnSpc>
              </a:pPr>
            </a:p>
          </p:txBody>
        </p:sp>
      </p:grpSp>
      <p:sp>
        <p:nvSpPr>
          <p:cNvPr name="Freeform 6" id="6"/>
          <p:cNvSpPr/>
          <p:nvPr/>
        </p:nvSpPr>
        <p:spPr>
          <a:xfrm flipH="false" flipV="false" rot="0">
            <a:off x="13727632" y="5538868"/>
            <a:ext cx="4697437" cy="4913254"/>
          </a:xfrm>
          <a:custGeom>
            <a:avLst/>
            <a:gdLst/>
            <a:ahLst/>
            <a:cxnLst/>
            <a:rect r="r" b="b" t="t" l="l"/>
            <a:pathLst>
              <a:path h="4913254" w="4697437">
                <a:moveTo>
                  <a:pt x="0" y="0"/>
                </a:moveTo>
                <a:lnTo>
                  <a:pt x="4697437" y="0"/>
                </a:lnTo>
                <a:lnTo>
                  <a:pt x="4697437" y="4913253"/>
                </a:lnTo>
                <a:lnTo>
                  <a:pt x="0" y="4913253"/>
                </a:lnTo>
                <a:lnTo>
                  <a:pt x="0" y="0"/>
                </a:lnTo>
                <a:close/>
              </a:path>
            </a:pathLst>
          </a:custGeom>
          <a:blipFill>
            <a:blip r:embed="rId3">
              <a:alphaModFix amt="74000"/>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1842905" y="200661"/>
            <a:ext cx="14602190" cy="1694814"/>
          </a:xfrm>
          <a:prstGeom prst="rect">
            <a:avLst/>
          </a:prstGeom>
        </p:spPr>
        <p:txBody>
          <a:bodyPr anchor="t" rtlCol="false" tIns="0" lIns="0" bIns="0" rIns="0">
            <a:spAutoFit/>
          </a:bodyPr>
          <a:lstStyle/>
          <a:p>
            <a:pPr algn="ctr">
              <a:lnSpc>
                <a:spcPts val="6860"/>
              </a:lnSpc>
            </a:pPr>
            <a:r>
              <a:rPr lang="en-US" b="true" sz="4900">
                <a:solidFill>
                  <a:srgbClr val="FFFFFF"/>
                </a:solidFill>
                <a:latin typeface="Montserrat Bold"/>
                <a:ea typeface="Montserrat Bold"/>
                <a:cs typeface="Montserrat Bold"/>
                <a:sym typeface="Montserrat Bold"/>
              </a:rPr>
              <a:t>3.1 CONTEXTO DE NEGOCIO</a:t>
            </a:r>
          </a:p>
          <a:p>
            <a:pPr algn="ctr">
              <a:lnSpc>
                <a:spcPts val="6860"/>
              </a:lnSpc>
            </a:pPr>
          </a:p>
        </p:txBody>
      </p:sp>
      <p:sp>
        <p:nvSpPr>
          <p:cNvPr name="Freeform 8" id="8"/>
          <p:cNvSpPr/>
          <p:nvPr/>
        </p:nvSpPr>
        <p:spPr>
          <a:xfrm flipH="false" flipV="false" rot="-10800000">
            <a:off x="-116335" y="-82396"/>
            <a:ext cx="4697437" cy="4913254"/>
          </a:xfrm>
          <a:custGeom>
            <a:avLst/>
            <a:gdLst/>
            <a:ahLst/>
            <a:cxnLst/>
            <a:rect r="r" b="b" t="t" l="l"/>
            <a:pathLst>
              <a:path h="4913254" w="4697437">
                <a:moveTo>
                  <a:pt x="0" y="0"/>
                </a:moveTo>
                <a:lnTo>
                  <a:pt x="4697437" y="0"/>
                </a:lnTo>
                <a:lnTo>
                  <a:pt x="4697437" y="4913254"/>
                </a:lnTo>
                <a:lnTo>
                  <a:pt x="0" y="4913254"/>
                </a:lnTo>
                <a:lnTo>
                  <a:pt x="0" y="0"/>
                </a:lnTo>
                <a:close/>
              </a:path>
            </a:pathLst>
          </a:custGeom>
          <a:blipFill>
            <a:blip r:embed="rId3">
              <a:alphaModFix amt="74000"/>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4581102" y="1244521"/>
            <a:ext cx="8681904" cy="8588693"/>
          </a:xfrm>
          <a:custGeom>
            <a:avLst/>
            <a:gdLst/>
            <a:ahLst/>
            <a:cxnLst/>
            <a:rect r="r" b="b" t="t" l="l"/>
            <a:pathLst>
              <a:path h="8588693" w="8681904">
                <a:moveTo>
                  <a:pt x="0" y="0"/>
                </a:moveTo>
                <a:lnTo>
                  <a:pt x="8681904" y="0"/>
                </a:lnTo>
                <a:lnTo>
                  <a:pt x="8681904" y="8588693"/>
                </a:lnTo>
                <a:lnTo>
                  <a:pt x="0" y="8588693"/>
                </a:lnTo>
                <a:lnTo>
                  <a:pt x="0" y="0"/>
                </a:lnTo>
                <a:close/>
              </a:path>
            </a:pathLst>
          </a:custGeom>
          <a:blipFill>
            <a:blip r:embed="rId5"/>
            <a:stretch>
              <a:fillRect l="0" t="0" r="0" b="0"/>
            </a:stretch>
          </a:blipFill>
        </p:spPr>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5555" r="0" b="-5555"/>
            </a:stretch>
          </a:blipFill>
        </p:spPr>
      </p:sp>
      <p:grpSp>
        <p:nvGrpSpPr>
          <p:cNvPr name="Group 3" id="3"/>
          <p:cNvGrpSpPr/>
          <p:nvPr/>
        </p:nvGrpSpPr>
        <p:grpSpPr>
          <a:xfrm rot="0">
            <a:off x="0" y="-253637"/>
            <a:ext cx="18288000" cy="10287000"/>
            <a:chOff x="0" y="0"/>
            <a:chExt cx="4816593" cy="2709333"/>
          </a:xfrm>
        </p:grpSpPr>
        <p:sp>
          <p:nvSpPr>
            <p:cNvPr name="Freeform 4" id="4"/>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solidFill>
              <a:srgbClr val="000000">
                <a:alpha val="84706"/>
              </a:srgbClr>
            </a:solidFill>
          </p:spPr>
        </p:sp>
        <p:sp>
          <p:nvSpPr>
            <p:cNvPr name="TextBox 5" id="5"/>
            <p:cNvSpPr txBox="true"/>
            <p:nvPr/>
          </p:nvSpPr>
          <p:spPr>
            <a:xfrm>
              <a:off x="0" y="-38100"/>
              <a:ext cx="4816593" cy="2747433"/>
            </a:xfrm>
            <a:prstGeom prst="rect">
              <a:avLst/>
            </a:prstGeom>
          </p:spPr>
          <p:txBody>
            <a:bodyPr anchor="ctr" rtlCol="false" tIns="50800" lIns="50800" bIns="50800" rIns="50800"/>
            <a:lstStyle/>
            <a:p>
              <a:pPr algn="ctr">
                <a:lnSpc>
                  <a:spcPts val="3111"/>
                </a:lnSpc>
              </a:pPr>
            </a:p>
          </p:txBody>
        </p:sp>
      </p:grpSp>
      <p:sp>
        <p:nvSpPr>
          <p:cNvPr name="Freeform 6" id="6"/>
          <p:cNvSpPr/>
          <p:nvPr/>
        </p:nvSpPr>
        <p:spPr>
          <a:xfrm flipH="false" flipV="false" rot="0">
            <a:off x="13727632" y="5538868"/>
            <a:ext cx="4697437" cy="4913254"/>
          </a:xfrm>
          <a:custGeom>
            <a:avLst/>
            <a:gdLst/>
            <a:ahLst/>
            <a:cxnLst/>
            <a:rect r="r" b="b" t="t" l="l"/>
            <a:pathLst>
              <a:path h="4913254" w="4697437">
                <a:moveTo>
                  <a:pt x="0" y="0"/>
                </a:moveTo>
                <a:lnTo>
                  <a:pt x="4697437" y="0"/>
                </a:lnTo>
                <a:lnTo>
                  <a:pt x="4697437" y="4913253"/>
                </a:lnTo>
                <a:lnTo>
                  <a:pt x="0" y="4913253"/>
                </a:lnTo>
                <a:lnTo>
                  <a:pt x="0" y="0"/>
                </a:lnTo>
                <a:close/>
              </a:path>
            </a:pathLst>
          </a:custGeom>
          <a:blipFill>
            <a:blip r:embed="rId3">
              <a:alphaModFix amt="74000"/>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1842905" y="200661"/>
            <a:ext cx="14602190" cy="828039"/>
          </a:xfrm>
          <a:prstGeom prst="rect">
            <a:avLst/>
          </a:prstGeom>
        </p:spPr>
        <p:txBody>
          <a:bodyPr anchor="t" rtlCol="false" tIns="0" lIns="0" bIns="0" rIns="0">
            <a:spAutoFit/>
          </a:bodyPr>
          <a:lstStyle/>
          <a:p>
            <a:pPr algn="ctr">
              <a:lnSpc>
                <a:spcPts val="6860"/>
              </a:lnSpc>
            </a:pPr>
            <a:r>
              <a:rPr lang="en-US" b="true" sz="4900">
                <a:solidFill>
                  <a:srgbClr val="FFFFFF"/>
                </a:solidFill>
                <a:latin typeface="Montserrat Bold"/>
                <a:ea typeface="Montserrat Bold"/>
                <a:cs typeface="Montserrat Bold"/>
                <a:sym typeface="Montserrat Bold"/>
              </a:rPr>
              <a:t>3.2 CONTEXTO DE DESPLIEGUE</a:t>
            </a:r>
          </a:p>
        </p:txBody>
      </p:sp>
      <p:sp>
        <p:nvSpPr>
          <p:cNvPr name="Freeform 8" id="8"/>
          <p:cNvSpPr/>
          <p:nvPr/>
        </p:nvSpPr>
        <p:spPr>
          <a:xfrm flipH="false" flipV="false" rot="-10800000">
            <a:off x="-116335" y="-82396"/>
            <a:ext cx="4697437" cy="4913254"/>
          </a:xfrm>
          <a:custGeom>
            <a:avLst/>
            <a:gdLst/>
            <a:ahLst/>
            <a:cxnLst/>
            <a:rect r="r" b="b" t="t" l="l"/>
            <a:pathLst>
              <a:path h="4913254" w="4697437">
                <a:moveTo>
                  <a:pt x="0" y="0"/>
                </a:moveTo>
                <a:lnTo>
                  <a:pt x="4697437" y="0"/>
                </a:lnTo>
                <a:lnTo>
                  <a:pt x="4697437" y="4913254"/>
                </a:lnTo>
                <a:lnTo>
                  <a:pt x="0" y="4913254"/>
                </a:lnTo>
                <a:lnTo>
                  <a:pt x="0" y="0"/>
                </a:lnTo>
                <a:close/>
              </a:path>
            </a:pathLst>
          </a:custGeom>
          <a:blipFill>
            <a:blip r:embed="rId3">
              <a:alphaModFix amt="74000"/>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1842905" y="2949282"/>
            <a:ext cx="14672979" cy="3881162"/>
          </a:xfrm>
          <a:custGeom>
            <a:avLst/>
            <a:gdLst/>
            <a:ahLst/>
            <a:cxnLst/>
            <a:rect r="r" b="b" t="t" l="l"/>
            <a:pathLst>
              <a:path h="3881162" w="14672979">
                <a:moveTo>
                  <a:pt x="0" y="0"/>
                </a:moveTo>
                <a:lnTo>
                  <a:pt x="14672979" y="0"/>
                </a:lnTo>
                <a:lnTo>
                  <a:pt x="14672979" y="3881162"/>
                </a:lnTo>
                <a:lnTo>
                  <a:pt x="0" y="3881162"/>
                </a:lnTo>
                <a:lnTo>
                  <a:pt x="0" y="0"/>
                </a:lnTo>
                <a:close/>
              </a:path>
            </a:pathLst>
          </a:custGeom>
          <a:blipFill>
            <a:blip r:embed="rId5"/>
            <a:stretch>
              <a:fillRect l="-383" t="0" r="-383" b="0"/>
            </a:stretch>
          </a:blipFill>
        </p:spPr>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5555" r="0" b="-5555"/>
            </a:stretch>
          </a:blipFill>
        </p:spPr>
      </p:sp>
      <p:grpSp>
        <p:nvGrpSpPr>
          <p:cNvPr name="Group 3" id="3"/>
          <p:cNvGrpSpPr/>
          <p:nvPr/>
        </p:nvGrpSpPr>
        <p:grpSpPr>
          <a:xfrm rot="0">
            <a:off x="0" y="-253637"/>
            <a:ext cx="18288000" cy="10287000"/>
            <a:chOff x="0" y="0"/>
            <a:chExt cx="4816593" cy="2709333"/>
          </a:xfrm>
        </p:grpSpPr>
        <p:sp>
          <p:nvSpPr>
            <p:cNvPr name="Freeform 4" id="4"/>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solidFill>
              <a:srgbClr val="000000">
                <a:alpha val="84706"/>
              </a:srgbClr>
            </a:solidFill>
          </p:spPr>
        </p:sp>
        <p:sp>
          <p:nvSpPr>
            <p:cNvPr name="TextBox 5" id="5"/>
            <p:cNvSpPr txBox="true"/>
            <p:nvPr/>
          </p:nvSpPr>
          <p:spPr>
            <a:xfrm>
              <a:off x="0" y="-38100"/>
              <a:ext cx="4816593" cy="2747433"/>
            </a:xfrm>
            <a:prstGeom prst="rect">
              <a:avLst/>
            </a:prstGeom>
          </p:spPr>
          <p:txBody>
            <a:bodyPr anchor="ctr" rtlCol="false" tIns="50800" lIns="50800" bIns="50800" rIns="50800"/>
            <a:lstStyle/>
            <a:p>
              <a:pPr algn="ctr">
                <a:lnSpc>
                  <a:spcPts val="3111"/>
                </a:lnSpc>
              </a:pPr>
            </a:p>
          </p:txBody>
        </p:sp>
      </p:grpSp>
      <p:sp>
        <p:nvSpPr>
          <p:cNvPr name="Freeform 6" id="6"/>
          <p:cNvSpPr/>
          <p:nvPr/>
        </p:nvSpPr>
        <p:spPr>
          <a:xfrm flipH="false" flipV="false" rot="0">
            <a:off x="13727632" y="5538868"/>
            <a:ext cx="4697437" cy="4913254"/>
          </a:xfrm>
          <a:custGeom>
            <a:avLst/>
            <a:gdLst/>
            <a:ahLst/>
            <a:cxnLst/>
            <a:rect r="r" b="b" t="t" l="l"/>
            <a:pathLst>
              <a:path h="4913254" w="4697437">
                <a:moveTo>
                  <a:pt x="0" y="0"/>
                </a:moveTo>
                <a:lnTo>
                  <a:pt x="4697437" y="0"/>
                </a:lnTo>
                <a:lnTo>
                  <a:pt x="4697437" y="4913253"/>
                </a:lnTo>
                <a:lnTo>
                  <a:pt x="0" y="4913253"/>
                </a:lnTo>
                <a:lnTo>
                  <a:pt x="0" y="0"/>
                </a:lnTo>
                <a:close/>
              </a:path>
            </a:pathLst>
          </a:custGeom>
          <a:blipFill>
            <a:blip r:embed="rId3">
              <a:alphaModFix amt="74000"/>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1842905" y="200661"/>
            <a:ext cx="14602190" cy="828039"/>
          </a:xfrm>
          <a:prstGeom prst="rect">
            <a:avLst/>
          </a:prstGeom>
        </p:spPr>
        <p:txBody>
          <a:bodyPr anchor="t" rtlCol="false" tIns="0" lIns="0" bIns="0" rIns="0">
            <a:spAutoFit/>
          </a:bodyPr>
          <a:lstStyle/>
          <a:p>
            <a:pPr algn="ctr">
              <a:lnSpc>
                <a:spcPts val="6860"/>
              </a:lnSpc>
            </a:pPr>
            <a:r>
              <a:rPr lang="en-US" b="true" sz="4900">
                <a:solidFill>
                  <a:srgbClr val="FFFFFF"/>
                </a:solidFill>
                <a:latin typeface="Montserrat Bold"/>
                <a:ea typeface="Montserrat Bold"/>
                <a:cs typeface="Montserrat Bold"/>
                <a:sym typeface="Montserrat Bold"/>
              </a:rPr>
              <a:t>3.2 CONTEXTO DE DESPLIEGUE</a:t>
            </a:r>
          </a:p>
        </p:txBody>
      </p:sp>
      <p:sp>
        <p:nvSpPr>
          <p:cNvPr name="Freeform 8" id="8"/>
          <p:cNvSpPr/>
          <p:nvPr/>
        </p:nvSpPr>
        <p:spPr>
          <a:xfrm flipH="false" flipV="false" rot="-10800000">
            <a:off x="-116335" y="-82396"/>
            <a:ext cx="4697437" cy="4913254"/>
          </a:xfrm>
          <a:custGeom>
            <a:avLst/>
            <a:gdLst/>
            <a:ahLst/>
            <a:cxnLst/>
            <a:rect r="r" b="b" t="t" l="l"/>
            <a:pathLst>
              <a:path h="4913254" w="4697437">
                <a:moveTo>
                  <a:pt x="0" y="0"/>
                </a:moveTo>
                <a:lnTo>
                  <a:pt x="4697437" y="0"/>
                </a:lnTo>
                <a:lnTo>
                  <a:pt x="4697437" y="4913254"/>
                </a:lnTo>
                <a:lnTo>
                  <a:pt x="0" y="4913254"/>
                </a:lnTo>
                <a:lnTo>
                  <a:pt x="0" y="0"/>
                </a:lnTo>
                <a:close/>
              </a:path>
            </a:pathLst>
          </a:custGeom>
          <a:blipFill>
            <a:blip r:embed="rId3">
              <a:alphaModFix amt="74000"/>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3729993" y="1294516"/>
            <a:ext cx="10605821" cy="8410447"/>
          </a:xfrm>
          <a:custGeom>
            <a:avLst/>
            <a:gdLst/>
            <a:ahLst/>
            <a:cxnLst/>
            <a:rect r="r" b="b" t="t" l="l"/>
            <a:pathLst>
              <a:path h="8410447" w="10605821">
                <a:moveTo>
                  <a:pt x="0" y="0"/>
                </a:moveTo>
                <a:lnTo>
                  <a:pt x="10605822" y="0"/>
                </a:lnTo>
                <a:lnTo>
                  <a:pt x="10605822" y="8410447"/>
                </a:lnTo>
                <a:lnTo>
                  <a:pt x="0" y="8410447"/>
                </a:lnTo>
                <a:lnTo>
                  <a:pt x="0" y="0"/>
                </a:lnTo>
                <a:close/>
              </a:path>
            </a:pathLst>
          </a:custGeom>
          <a:blipFill>
            <a:blip r:embed="rId5"/>
            <a:stretch>
              <a:fillRect l="0" t="0" r="0" b="0"/>
            </a:stretch>
          </a:blipFill>
        </p:spPr>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5555" r="0" b="-5555"/>
            </a:stretch>
          </a:blipFill>
        </p:spPr>
      </p:sp>
      <p:grpSp>
        <p:nvGrpSpPr>
          <p:cNvPr name="Group 3" id="3"/>
          <p:cNvGrpSpPr/>
          <p:nvPr/>
        </p:nvGrpSpPr>
        <p:grpSpPr>
          <a:xfrm rot="0">
            <a:off x="0" y="-253637"/>
            <a:ext cx="18288000" cy="10287000"/>
            <a:chOff x="0" y="0"/>
            <a:chExt cx="4816593" cy="2709333"/>
          </a:xfrm>
        </p:grpSpPr>
        <p:sp>
          <p:nvSpPr>
            <p:cNvPr name="Freeform 4" id="4"/>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solidFill>
              <a:srgbClr val="000000">
                <a:alpha val="84706"/>
              </a:srgbClr>
            </a:solidFill>
          </p:spPr>
        </p:sp>
        <p:sp>
          <p:nvSpPr>
            <p:cNvPr name="TextBox 5" id="5"/>
            <p:cNvSpPr txBox="true"/>
            <p:nvPr/>
          </p:nvSpPr>
          <p:spPr>
            <a:xfrm>
              <a:off x="0" y="-38100"/>
              <a:ext cx="4816593" cy="2747433"/>
            </a:xfrm>
            <a:prstGeom prst="rect">
              <a:avLst/>
            </a:prstGeom>
          </p:spPr>
          <p:txBody>
            <a:bodyPr anchor="ctr" rtlCol="false" tIns="50800" lIns="50800" bIns="50800" rIns="50800"/>
            <a:lstStyle/>
            <a:p>
              <a:pPr algn="ctr">
                <a:lnSpc>
                  <a:spcPts val="3111"/>
                </a:lnSpc>
              </a:pPr>
            </a:p>
          </p:txBody>
        </p:sp>
      </p:grpSp>
      <p:sp>
        <p:nvSpPr>
          <p:cNvPr name="Freeform 6" id="6"/>
          <p:cNvSpPr/>
          <p:nvPr/>
        </p:nvSpPr>
        <p:spPr>
          <a:xfrm flipH="false" flipV="false" rot="0">
            <a:off x="13727632" y="5538868"/>
            <a:ext cx="4697437" cy="4913254"/>
          </a:xfrm>
          <a:custGeom>
            <a:avLst/>
            <a:gdLst/>
            <a:ahLst/>
            <a:cxnLst/>
            <a:rect r="r" b="b" t="t" l="l"/>
            <a:pathLst>
              <a:path h="4913254" w="4697437">
                <a:moveTo>
                  <a:pt x="0" y="0"/>
                </a:moveTo>
                <a:lnTo>
                  <a:pt x="4697437" y="0"/>
                </a:lnTo>
                <a:lnTo>
                  <a:pt x="4697437" y="4913253"/>
                </a:lnTo>
                <a:lnTo>
                  <a:pt x="0" y="4913253"/>
                </a:lnTo>
                <a:lnTo>
                  <a:pt x="0" y="0"/>
                </a:lnTo>
                <a:close/>
              </a:path>
            </a:pathLst>
          </a:custGeom>
          <a:blipFill>
            <a:blip r:embed="rId3">
              <a:alphaModFix amt="74000"/>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1842905" y="200661"/>
            <a:ext cx="14602190" cy="828039"/>
          </a:xfrm>
          <a:prstGeom prst="rect">
            <a:avLst/>
          </a:prstGeom>
        </p:spPr>
        <p:txBody>
          <a:bodyPr anchor="t" rtlCol="false" tIns="0" lIns="0" bIns="0" rIns="0">
            <a:spAutoFit/>
          </a:bodyPr>
          <a:lstStyle/>
          <a:p>
            <a:pPr algn="ctr">
              <a:lnSpc>
                <a:spcPts val="6860"/>
              </a:lnSpc>
            </a:pPr>
            <a:r>
              <a:rPr lang="en-US" b="true" sz="4900">
                <a:solidFill>
                  <a:srgbClr val="FFFFFF"/>
                </a:solidFill>
                <a:latin typeface="Montserrat Bold"/>
                <a:ea typeface="Montserrat Bold"/>
                <a:cs typeface="Montserrat Bold"/>
                <a:sym typeface="Montserrat Bold"/>
              </a:rPr>
              <a:t>2.2 RESTRICCIONES ORGANIZACIONALES</a:t>
            </a:r>
          </a:p>
        </p:txBody>
      </p:sp>
      <p:sp>
        <p:nvSpPr>
          <p:cNvPr name="Freeform 8" id="8"/>
          <p:cNvSpPr/>
          <p:nvPr/>
        </p:nvSpPr>
        <p:spPr>
          <a:xfrm flipH="false" flipV="false" rot="-10800000">
            <a:off x="-116335" y="-82396"/>
            <a:ext cx="4697437" cy="4913254"/>
          </a:xfrm>
          <a:custGeom>
            <a:avLst/>
            <a:gdLst/>
            <a:ahLst/>
            <a:cxnLst/>
            <a:rect r="r" b="b" t="t" l="l"/>
            <a:pathLst>
              <a:path h="4913254" w="4697437">
                <a:moveTo>
                  <a:pt x="0" y="0"/>
                </a:moveTo>
                <a:lnTo>
                  <a:pt x="4697437" y="0"/>
                </a:lnTo>
                <a:lnTo>
                  <a:pt x="4697437" y="4913254"/>
                </a:lnTo>
                <a:lnTo>
                  <a:pt x="0" y="4913254"/>
                </a:lnTo>
                <a:lnTo>
                  <a:pt x="0" y="0"/>
                </a:lnTo>
                <a:close/>
              </a:path>
            </a:pathLst>
          </a:custGeom>
          <a:blipFill>
            <a:blip r:embed="rId3">
              <a:alphaModFix amt="74000"/>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5070352" y="1323660"/>
            <a:ext cx="8147296" cy="8709703"/>
          </a:xfrm>
          <a:custGeom>
            <a:avLst/>
            <a:gdLst/>
            <a:ahLst/>
            <a:cxnLst/>
            <a:rect r="r" b="b" t="t" l="l"/>
            <a:pathLst>
              <a:path h="8709703" w="8147296">
                <a:moveTo>
                  <a:pt x="0" y="0"/>
                </a:moveTo>
                <a:lnTo>
                  <a:pt x="8147296" y="0"/>
                </a:lnTo>
                <a:lnTo>
                  <a:pt x="8147296" y="8709703"/>
                </a:lnTo>
                <a:lnTo>
                  <a:pt x="0" y="8709703"/>
                </a:lnTo>
                <a:lnTo>
                  <a:pt x="0" y="0"/>
                </a:lnTo>
                <a:close/>
              </a:path>
            </a:pathLst>
          </a:custGeom>
          <a:blipFill>
            <a:blip r:embed="rId5"/>
            <a:stretch>
              <a:fillRect l="0" t="0" r="0" b="0"/>
            </a:stretch>
          </a:blipFill>
        </p:spPr>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5555" r="0" b="-5555"/>
            </a:stretch>
          </a:blipFill>
        </p:spPr>
      </p:sp>
      <p:grpSp>
        <p:nvGrpSpPr>
          <p:cNvPr name="Group 3" id="3"/>
          <p:cNvGrpSpPr/>
          <p:nvPr/>
        </p:nvGrpSpPr>
        <p:grpSpPr>
          <a:xfrm rot="0">
            <a:off x="0" y="-253637"/>
            <a:ext cx="18288000" cy="10287000"/>
            <a:chOff x="0" y="0"/>
            <a:chExt cx="4816593" cy="2709333"/>
          </a:xfrm>
        </p:grpSpPr>
        <p:sp>
          <p:nvSpPr>
            <p:cNvPr name="Freeform 4" id="4"/>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solidFill>
              <a:srgbClr val="000000">
                <a:alpha val="84706"/>
              </a:srgbClr>
            </a:solidFill>
          </p:spPr>
        </p:sp>
        <p:sp>
          <p:nvSpPr>
            <p:cNvPr name="TextBox 5" id="5"/>
            <p:cNvSpPr txBox="true"/>
            <p:nvPr/>
          </p:nvSpPr>
          <p:spPr>
            <a:xfrm>
              <a:off x="0" y="-38100"/>
              <a:ext cx="4816593" cy="2747433"/>
            </a:xfrm>
            <a:prstGeom prst="rect">
              <a:avLst/>
            </a:prstGeom>
          </p:spPr>
          <p:txBody>
            <a:bodyPr anchor="ctr" rtlCol="false" tIns="50800" lIns="50800" bIns="50800" rIns="50800"/>
            <a:lstStyle/>
            <a:p>
              <a:pPr algn="ctr">
                <a:lnSpc>
                  <a:spcPts val="3111"/>
                </a:lnSpc>
              </a:pPr>
            </a:p>
          </p:txBody>
        </p:sp>
      </p:grpSp>
      <p:sp>
        <p:nvSpPr>
          <p:cNvPr name="Freeform 6" id="6"/>
          <p:cNvSpPr/>
          <p:nvPr/>
        </p:nvSpPr>
        <p:spPr>
          <a:xfrm flipH="false" flipV="false" rot="0">
            <a:off x="13727632" y="5538868"/>
            <a:ext cx="4697437" cy="4913254"/>
          </a:xfrm>
          <a:custGeom>
            <a:avLst/>
            <a:gdLst/>
            <a:ahLst/>
            <a:cxnLst/>
            <a:rect r="r" b="b" t="t" l="l"/>
            <a:pathLst>
              <a:path h="4913254" w="4697437">
                <a:moveTo>
                  <a:pt x="0" y="0"/>
                </a:moveTo>
                <a:lnTo>
                  <a:pt x="4697437" y="0"/>
                </a:lnTo>
                <a:lnTo>
                  <a:pt x="4697437" y="4913253"/>
                </a:lnTo>
                <a:lnTo>
                  <a:pt x="0" y="4913253"/>
                </a:lnTo>
                <a:lnTo>
                  <a:pt x="0" y="0"/>
                </a:lnTo>
                <a:close/>
              </a:path>
            </a:pathLst>
          </a:custGeom>
          <a:blipFill>
            <a:blip r:embed="rId3">
              <a:alphaModFix amt="74000"/>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1842905" y="200661"/>
            <a:ext cx="14602190" cy="828039"/>
          </a:xfrm>
          <a:prstGeom prst="rect">
            <a:avLst/>
          </a:prstGeom>
        </p:spPr>
        <p:txBody>
          <a:bodyPr anchor="t" rtlCol="false" tIns="0" lIns="0" bIns="0" rIns="0">
            <a:spAutoFit/>
          </a:bodyPr>
          <a:lstStyle/>
          <a:p>
            <a:pPr algn="ctr">
              <a:lnSpc>
                <a:spcPts val="6860"/>
              </a:lnSpc>
            </a:pPr>
            <a:r>
              <a:rPr lang="en-US" b="true" sz="4900">
                <a:solidFill>
                  <a:srgbClr val="FFFFFF"/>
                </a:solidFill>
                <a:latin typeface="Montserrat Bold"/>
                <a:ea typeface="Montserrat Bold"/>
                <a:cs typeface="Montserrat Bold"/>
                <a:sym typeface="Montserrat Bold"/>
              </a:rPr>
              <a:t>V4 - SOLUCIÓN Y ESTRATEGIA</a:t>
            </a:r>
          </a:p>
        </p:txBody>
      </p:sp>
      <p:sp>
        <p:nvSpPr>
          <p:cNvPr name="Freeform 8" id="8"/>
          <p:cNvSpPr/>
          <p:nvPr/>
        </p:nvSpPr>
        <p:spPr>
          <a:xfrm flipH="false" flipV="false" rot="-10800000">
            <a:off x="-116335" y="-82396"/>
            <a:ext cx="4697437" cy="4913254"/>
          </a:xfrm>
          <a:custGeom>
            <a:avLst/>
            <a:gdLst/>
            <a:ahLst/>
            <a:cxnLst/>
            <a:rect r="r" b="b" t="t" l="l"/>
            <a:pathLst>
              <a:path h="4913254" w="4697437">
                <a:moveTo>
                  <a:pt x="0" y="0"/>
                </a:moveTo>
                <a:lnTo>
                  <a:pt x="4697437" y="0"/>
                </a:lnTo>
                <a:lnTo>
                  <a:pt x="4697437" y="4913254"/>
                </a:lnTo>
                <a:lnTo>
                  <a:pt x="0" y="4913254"/>
                </a:lnTo>
                <a:lnTo>
                  <a:pt x="0" y="0"/>
                </a:lnTo>
                <a:close/>
              </a:path>
            </a:pathLst>
          </a:custGeom>
          <a:blipFill>
            <a:blip r:embed="rId3">
              <a:alphaModFix amt="74000"/>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3376131" y="1380637"/>
            <a:ext cx="11535738" cy="8316462"/>
          </a:xfrm>
          <a:custGeom>
            <a:avLst/>
            <a:gdLst/>
            <a:ahLst/>
            <a:cxnLst/>
            <a:rect r="r" b="b" t="t" l="l"/>
            <a:pathLst>
              <a:path h="8316462" w="11535738">
                <a:moveTo>
                  <a:pt x="0" y="0"/>
                </a:moveTo>
                <a:lnTo>
                  <a:pt x="11535738" y="0"/>
                </a:lnTo>
                <a:lnTo>
                  <a:pt x="11535738" y="8316462"/>
                </a:lnTo>
                <a:lnTo>
                  <a:pt x="0" y="8316462"/>
                </a:lnTo>
                <a:lnTo>
                  <a:pt x="0" y="0"/>
                </a:lnTo>
                <a:close/>
              </a:path>
            </a:pathLst>
          </a:custGeom>
          <a:blipFill>
            <a:blip r:embed="rId5"/>
            <a:stretch>
              <a:fillRect l="0" t="0" r="0" b="0"/>
            </a:stretch>
          </a:blipFill>
        </p:spPr>
      </p:sp>
    </p:spTree>
  </p:cSld>
  <p:clrMapOvr>
    <a:masterClrMapping/>
  </p:clrMapOvr>
</p:sld>
</file>

<file path=ppt/slides/slide1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5555" r="0" b="-5555"/>
            </a:stretch>
          </a:blipFill>
        </p:spPr>
      </p:sp>
      <p:grpSp>
        <p:nvGrpSpPr>
          <p:cNvPr name="Group 3" id="3"/>
          <p:cNvGrpSpPr/>
          <p:nvPr/>
        </p:nvGrpSpPr>
        <p:grpSpPr>
          <a:xfrm rot="0">
            <a:off x="137069" y="-312642"/>
            <a:ext cx="18288000" cy="10287000"/>
            <a:chOff x="0" y="0"/>
            <a:chExt cx="4816593" cy="2709333"/>
          </a:xfrm>
        </p:grpSpPr>
        <p:sp>
          <p:nvSpPr>
            <p:cNvPr name="Freeform 4" id="4"/>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solidFill>
              <a:srgbClr val="000000">
                <a:alpha val="84706"/>
              </a:srgbClr>
            </a:solidFill>
          </p:spPr>
        </p:sp>
        <p:sp>
          <p:nvSpPr>
            <p:cNvPr name="TextBox 5" id="5"/>
            <p:cNvSpPr txBox="true"/>
            <p:nvPr/>
          </p:nvSpPr>
          <p:spPr>
            <a:xfrm>
              <a:off x="0" y="-38100"/>
              <a:ext cx="4816593" cy="2747433"/>
            </a:xfrm>
            <a:prstGeom prst="rect">
              <a:avLst/>
            </a:prstGeom>
          </p:spPr>
          <p:txBody>
            <a:bodyPr anchor="ctr" rtlCol="false" tIns="50800" lIns="50800" bIns="50800" rIns="50800"/>
            <a:lstStyle/>
            <a:p>
              <a:pPr algn="ctr">
                <a:lnSpc>
                  <a:spcPts val="3111"/>
                </a:lnSpc>
              </a:pPr>
            </a:p>
          </p:txBody>
        </p:sp>
      </p:grpSp>
      <p:sp>
        <p:nvSpPr>
          <p:cNvPr name="Freeform 6" id="6"/>
          <p:cNvSpPr/>
          <p:nvPr/>
        </p:nvSpPr>
        <p:spPr>
          <a:xfrm flipH="false" flipV="false" rot="0">
            <a:off x="13727632" y="5538868"/>
            <a:ext cx="4697437" cy="4913254"/>
          </a:xfrm>
          <a:custGeom>
            <a:avLst/>
            <a:gdLst/>
            <a:ahLst/>
            <a:cxnLst/>
            <a:rect r="r" b="b" t="t" l="l"/>
            <a:pathLst>
              <a:path h="4913254" w="4697437">
                <a:moveTo>
                  <a:pt x="0" y="0"/>
                </a:moveTo>
                <a:lnTo>
                  <a:pt x="4697437" y="0"/>
                </a:lnTo>
                <a:lnTo>
                  <a:pt x="4697437" y="4913253"/>
                </a:lnTo>
                <a:lnTo>
                  <a:pt x="0" y="4913253"/>
                </a:lnTo>
                <a:lnTo>
                  <a:pt x="0" y="0"/>
                </a:lnTo>
                <a:close/>
              </a:path>
            </a:pathLst>
          </a:custGeom>
          <a:blipFill>
            <a:blip r:embed="rId3">
              <a:alphaModFix amt="74000"/>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1842905" y="200661"/>
            <a:ext cx="14602190" cy="828039"/>
          </a:xfrm>
          <a:prstGeom prst="rect">
            <a:avLst/>
          </a:prstGeom>
        </p:spPr>
        <p:txBody>
          <a:bodyPr anchor="t" rtlCol="false" tIns="0" lIns="0" bIns="0" rIns="0">
            <a:spAutoFit/>
          </a:bodyPr>
          <a:lstStyle/>
          <a:p>
            <a:pPr algn="ctr">
              <a:lnSpc>
                <a:spcPts val="6860"/>
              </a:lnSpc>
            </a:pPr>
            <a:r>
              <a:rPr lang="en-US" b="true" sz="4900">
                <a:solidFill>
                  <a:srgbClr val="FFFFFF"/>
                </a:solidFill>
                <a:latin typeface="Montserrat Bold"/>
                <a:ea typeface="Montserrat Bold"/>
                <a:cs typeface="Montserrat Bold"/>
                <a:sym typeface="Montserrat Bold"/>
              </a:rPr>
              <a:t>4.1 ESTRUCTURA DEL ERP ABOGATECH</a:t>
            </a:r>
          </a:p>
        </p:txBody>
      </p:sp>
      <p:sp>
        <p:nvSpPr>
          <p:cNvPr name="Freeform 8" id="8"/>
          <p:cNvSpPr/>
          <p:nvPr/>
        </p:nvSpPr>
        <p:spPr>
          <a:xfrm flipH="false" flipV="false" rot="-10800000">
            <a:off x="-116335" y="-82396"/>
            <a:ext cx="4697437" cy="4913254"/>
          </a:xfrm>
          <a:custGeom>
            <a:avLst/>
            <a:gdLst/>
            <a:ahLst/>
            <a:cxnLst/>
            <a:rect r="r" b="b" t="t" l="l"/>
            <a:pathLst>
              <a:path h="4913254" w="4697437">
                <a:moveTo>
                  <a:pt x="0" y="0"/>
                </a:moveTo>
                <a:lnTo>
                  <a:pt x="4697437" y="0"/>
                </a:lnTo>
                <a:lnTo>
                  <a:pt x="4697437" y="4913254"/>
                </a:lnTo>
                <a:lnTo>
                  <a:pt x="0" y="4913254"/>
                </a:lnTo>
                <a:lnTo>
                  <a:pt x="0" y="0"/>
                </a:lnTo>
                <a:close/>
              </a:path>
            </a:pathLst>
          </a:custGeom>
          <a:blipFill>
            <a:blip r:embed="rId3">
              <a:alphaModFix amt="74000"/>
              <a:extLst>
                <a:ext uri="{96DAC541-7B7A-43D3-8B79-37D633B846F1}">
                  <asvg:svgBlip xmlns:asvg="http://schemas.microsoft.com/office/drawing/2016/SVG/main" r:embed="rId4"/>
                </a:ext>
              </a:extLst>
            </a:blip>
            <a:stretch>
              <a:fillRect l="0" t="0" r="0" b="0"/>
            </a:stretch>
          </a:blipFill>
        </p:spPr>
      </p:sp>
      <p:sp>
        <p:nvSpPr>
          <p:cNvPr name="TextBox 9" id="9"/>
          <p:cNvSpPr txBox="true"/>
          <p:nvPr/>
        </p:nvSpPr>
        <p:spPr>
          <a:xfrm rot="0">
            <a:off x="2417253" y="2431496"/>
            <a:ext cx="13727632" cy="5950584"/>
          </a:xfrm>
          <a:prstGeom prst="rect">
            <a:avLst/>
          </a:prstGeom>
        </p:spPr>
        <p:txBody>
          <a:bodyPr anchor="t" rtlCol="false" tIns="0" lIns="0" bIns="0" rIns="0">
            <a:spAutoFit/>
          </a:bodyPr>
          <a:lstStyle/>
          <a:p>
            <a:pPr algn="ctr">
              <a:lnSpc>
                <a:spcPts val="4340"/>
              </a:lnSpc>
            </a:pPr>
            <a:r>
              <a:rPr lang="en-US" sz="3100">
                <a:solidFill>
                  <a:srgbClr val="FFFFFF"/>
                </a:solidFill>
                <a:latin typeface="Prata"/>
                <a:ea typeface="Prata"/>
                <a:cs typeface="Prata"/>
                <a:sym typeface="Prata"/>
              </a:rPr>
              <a:t>El ERP está compuesto por varios módulos:</a:t>
            </a:r>
          </a:p>
          <a:p>
            <a:pPr algn="ctr">
              <a:lnSpc>
                <a:spcPts val="4340"/>
              </a:lnSpc>
            </a:pPr>
          </a:p>
          <a:p>
            <a:pPr algn="ctr">
              <a:lnSpc>
                <a:spcPts val="4340"/>
              </a:lnSpc>
            </a:pPr>
            <a:r>
              <a:rPr lang="en-US" sz="3100">
                <a:solidFill>
                  <a:srgbClr val="FFFFFF"/>
                </a:solidFill>
                <a:latin typeface="Prata"/>
                <a:ea typeface="Prata"/>
                <a:cs typeface="Prata"/>
                <a:sym typeface="Prata"/>
              </a:rPr>
              <a:t>·Módulo de Gestión de Casos</a:t>
            </a:r>
          </a:p>
          <a:p>
            <a:pPr algn="ctr">
              <a:lnSpc>
                <a:spcPts val="4340"/>
              </a:lnSpc>
            </a:pPr>
          </a:p>
          <a:p>
            <a:pPr algn="ctr">
              <a:lnSpc>
                <a:spcPts val="4340"/>
              </a:lnSpc>
            </a:pPr>
            <a:r>
              <a:rPr lang="en-US" sz="3100">
                <a:solidFill>
                  <a:srgbClr val="FFFFFF"/>
                </a:solidFill>
                <a:latin typeface="Prata"/>
                <a:ea typeface="Prata"/>
                <a:cs typeface="Prata"/>
                <a:sym typeface="Prata"/>
              </a:rPr>
              <a:t>·Módulo de Facturación y Pagos</a:t>
            </a:r>
          </a:p>
          <a:p>
            <a:pPr algn="ctr">
              <a:lnSpc>
                <a:spcPts val="4340"/>
              </a:lnSpc>
            </a:pPr>
          </a:p>
          <a:p>
            <a:pPr algn="ctr">
              <a:lnSpc>
                <a:spcPts val="4340"/>
              </a:lnSpc>
            </a:pPr>
            <a:r>
              <a:rPr lang="en-US" sz="3100">
                <a:solidFill>
                  <a:srgbClr val="FFFFFF"/>
                </a:solidFill>
                <a:latin typeface="Prata"/>
                <a:ea typeface="Prata"/>
                <a:cs typeface="Prata"/>
                <a:sym typeface="Prata"/>
              </a:rPr>
              <a:t>·Módulo de Comunicación</a:t>
            </a:r>
          </a:p>
          <a:p>
            <a:pPr algn="ctr">
              <a:lnSpc>
                <a:spcPts val="4340"/>
              </a:lnSpc>
            </a:pPr>
          </a:p>
          <a:p>
            <a:pPr algn="ctr">
              <a:lnSpc>
                <a:spcPts val="4340"/>
              </a:lnSpc>
            </a:pPr>
            <a:r>
              <a:rPr lang="en-US" sz="3100">
                <a:solidFill>
                  <a:srgbClr val="FFFFFF"/>
                </a:solidFill>
                <a:latin typeface="Prata"/>
                <a:ea typeface="Prata"/>
                <a:cs typeface="Prata"/>
                <a:sym typeface="Prata"/>
              </a:rPr>
              <a:t>·Módulo de Firma Digital</a:t>
            </a:r>
          </a:p>
          <a:p>
            <a:pPr algn="ctr">
              <a:lnSpc>
                <a:spcPts val="4340"/>
              </a:lnSpc>
            </a:pPr>
          </a:p>
          <a:p>
            <a:pPr algn="ctr">
              <a:lnSpc>
                <a:spcPts val="4340"/>
              </a:lnSpc>
            </a:pPr>
            <a:r>
              <a:rPr lang="en-US" sz="3100">
                <a:solidFill>
                  <a:srgbClr val="FFFFFF"/>
                </a:solidFill>
                <a:latin typeface="Prata"/>
                <a:ea typeface="Prata"/>
                <a:cs typeface="Prata"/>
                <a:sym typeface="Prata"/>
              </a:rPr>
              <a:t>Módulo de Reportes</a:t>
            </a:r>
          </a:p>
        </p:txBody>
      </p:sp>
    </p:spTree>
  </p:cSld>
  <p:clrMapOvr>
    <a:masterClrMapping/>
  </p:clrMapOvr>
</p:sld>
</file>

<file path=ppt/slides/slide1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5555" r="0" b="-5555"/>
            </a:stretch>
          </a:blipFill>
        </p:spPr>
      </p:sp>
      <p:grpSp>
        <p:nvGrpSpPr>
          <p:cNvPr name="Group 3" id="3"/>
          <p:cNvGrpSpPr/>
          <p:nvPr/>
        </p:nvGrpSpPr>
        <p:grpSpPr>
          <a:xfrm rot="0">
            <a:off x="0" y="-253637"/>
            <a:ext cx="18288000" cy="10287000"/>
            <a:chOff x="0" y="0"/>
            <a:chExt cx="4816593" cy="2709333"/>
          </a:xfrm>
        </p:grpSpPr>
        <p:sp>
          <p:nvSpPr>
            <p:cNvPr name="Freeform 4" id="4"/>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solidFill>
              <a:srgbClr val="000000">
                <a:alpha val="84706"/>
              </a:srgbClr>
            </a:solidFill>
          </p:spPr>
        </p:sp>
        <p:sp>
          <p:nvSpPr>
            <p:cNvPr name="TextBox 5" id="5"/>
            <p:cNvSpPr txBox="true"/>
            <p:nvPr/>
          </p:nvSpPr>
          <p:spPr>
            <a:xfrm>
              <a:off x="0" y="-38100"/>
              <a:ext cx="4816593" cy="2747433"/>
            </a:xfrm>
            <a:prstGeom prst="rect">
              <a:avLst/>
            </a:prstGeom>
          </p:spPr>
          <p:txBody>
            <a:bodyPr anchor="ctr" rtlCol="false" tIns="50800" lIns="50800" bIns="50800" rIns="50800"/>
            <a:lstStyle/>
            <a:p>
              <a:pPr algn="ctr">
                <a:lnSpc>
                  <a:spcPts val="3111"/>
                </a:lnSpc>
              </a:pPr>
            </a:p>
          </p:txBody>
        </p:sp>
      </p:grpSp>
      <p:sp>
        <p:nvSpPr>
          <p:cNvPr name="Freeform 6" id="6"/>
          <p:cNvSpPr/>
          <p:nvPr/>
        </p:nvSpPr>
        <p:spPr>
          <a:xfrm flipH="false" flipV="false" rot="0">
            <a:off x="13727632" y="5538868"/>
            <a:ext cx="4697437" cy="4913254"/>
          </a:xfrm>
          <a:custGeom>
            <a:avLst/>
            <a:gdLst/>
            <a:ahLst/>
            <a:cxnLst/>
            <a:rect r="r" b="b" t="t" l="l"/>
            <a:pathLst>
              <a:path h="4913254" w="4697437">
                <a:moveTo>
                  <a:pt x="0" y="0"/>
                </a:moveTo>
                <a:lnTo>
                  <a:pt x="4697437" y="0"/>
                </a:lnTo>
                <a:lnTo>
                  <a:pt x="4697437" y="4913253"/>
                </a:lnTo>
                <a:lnTo>
                  <a:pt x="0" y="4913253"/>
                </a:lnTo>
                <a:lnTo>
                  <a:pt x="0" y="0"/>
                </a:lnTo>
                <a:close/>
              </a:path>
            </a:pathLst>
          </a:custGeom>
          <a:blipFill>
            <a:blip r:embed="rId3">
              <a:alphaModFix amt="74000"/>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1842905" y="200661"/>
            <a:ext cx="14602190" cy="828039"/>
          </a:xfrm>
          <a:prstGeom prst="rect">
            <a:avLst/>
          </a:prstGeom>
        </p:spPr>
        <p:txBody>
          <a:bodyPr anchor="t" rtlCol="false" tIns="0" lIns="0" bIns="0" rIns="0">
            <a:spAutoFit/>
          </a:bodyPr>
          <a:lstStyle/>
          <a:p>
            <a:pPr algn="ctr">
              <a:lnSpc>
                <a:spcPts val="6860"/>
              </a:lnSpc>
            </a:pPr>
            <a:r>
              <a:rPr lang="en-US" b="true" sz="4900">
                <a:solidFill>
                  <a:srgbClr val="FFFFFF"/>
                </a:solidFill>
                <a:latin typeface="Montserrat Bold"/>
                <a:ea typeface="Montserrat Bold"/>
                <a:cs typeface="Montserrat Bold"/>
                <a:sym typeface="Montserrat Bold"/>
              </a:rPr>
              <a:t>4.2 ESTRATEGIA DE SEGURIDAD</a:t>
            </a:r>
          </a:p>
        </p:txBody>
      </p:sp>
      <p:sp>
        <p:nvSpPr>
          <p:cNvPr name="Freeform 8" id="8"/>
          <p:cNvSpPr/>
          <p:nvPr/>
        </p:nvSpPr>
        <p:spPr>
          <a:xfrm flipH="false" flipV="false" rot="-10800000">
            <a:off x="-116335" y="-82396"/>
            <a:ext cx="4697437" cy="4913254"/>
          </a:xfrm>
          <a:custGeom>
            <a:avLst/>
            <a:gdLst/>
            <a:ahLst/>
            <a:cxnLst/>
            <a:rect r="r" b="b" t="t" l="l"/>
            <a:pathLst>
              <a:path h="4913254" w="4697437">
                <a:moveTo>
                  <a:pt x="0" y="0"/>
                </a:moveTo>
                <a:lnTo>
                  <a:pt x="4697437" y="0"/>
                </a:lnTo>
                <a:lnTo>
                  <a:pt x="4697437" y="4913254"/>
                </a:lnTo>
                <a:lnTo>
                  <a:pt x="0" y="4913254"/>
                </a:lnTo>
                <a:lnTo>
                  <a:pt x="0" y="0"/>
                </a:lnTo>
                <a:close/>
              </a:path>
            </a:pathLst>
          </a:custGeom>
          <a:blipFill>
            <a:blip r:embed="rId3">
              <a:alphaModFix amt="74000"/>
              <a:extLst>
                <a:ext uri="{96DAC541-7B7A-43D3-8B79-37D633B846F1}">
                  <asvg:svgBlip xmlns:asvg="http://schemas.microsoft.com/office/drawing/2016/SVG/main" r:embed="rId4"/>
                </a:ext>
              </a:extLst>
            </a:blip>
            <a:stretch>
              <a:fillRect l="0" t="0" r="0" b="0"/>
            </a:stretch>
          </a:blipFill>
        </p:spPr>
      </p:sp>
      <p:sp>
        <p:nvSpPr>
          <p:cNvPr name="TextBox 9" id="9"/>
          <p:cNvSpPr txBox="true"/>
          <p:nvPr/>
        </p:nvSpPr>
        <p:spPr>
          <a:xfrm rot="0">
            <a:off x="2044407" y="3191998"/>
            <a:ext cx="14199187" cy="4471668"/>
          </a:xfrm>
          <a:prstGeom prst="rect">
            <a:avLst/>
          </a:prstGeom>
        </p:spPr>
        <p:txBody>
          <a:bodyPr anchor="t" rtlCol="false" tIns="0" lIns="0" bIns="0" rIns="0">
            <a:spAutoFit/>
          </a:bodyPr>
          <a:lstStyle/>
          <a:p>
            <a:pPr algn="ctr">
              <a:lnSpc>
                <a:spcPts val="4480"/>
              </a:lnSpc>
              <a:spcBef>
                <a:spcPct val="0"/>
              </a:spcBef>
            </a:pPr>
            <a:r>
              <a:rPr lang="en-US" sz="3200">
                <a:solidFill>
                  <a:srgbClr val="FFFFFF"/>
                </a:solidFill>
                <a:latin typeface="Prata"/>
                <a:ea typeface="Prata"/>
                <a:cs typeface="Prata"/>
                <a:sym typeface="Prata"/>
              </a:rPr>
              <a:t>· AUTENTICACIÓN CON OAUTH 2.0 Y SOPORTE PARA MFA (AUTENTICACIÓN MULTIFACTOR).</a:t>
            </a:r>
          </a:p>
          <a:p>
            <a:pPr algn="ctr">
              <a:lnSpc>
                <a:spcPts val="4480"/>
              </a:lnSpc>
              <a:spcBef>
                <a:spcPct val="0"/>
              </a:spcBef>
            </a:pPr>
            <a:r>
              <a:rPr lang="en-US" sz="3200">
                <a:solidFill>
                  <a:srgbClr val="FFFFFF"/>
                </a:solidFill>
                <a:latin typeface="Prata"/>
                <a:ea typeface="Prata"/>
                <a:cs typeface="Prata"/>
                <a:sym typeface="Prata"/>
              </a:rPr>
              <a:t> </a:t>
            </a:r>
          </a:p>
          <a:p>
            <a:pPr algn="ctr">
              <a:lnSpc>
                <a:spcPts val="4480"/>
              </a:lnSpc>
              <a:spcBef>
                <a:spcPct val="0"/>
              </a:spcBef>
            </a:pPr>
            <a:r>
              <a:rPr lang="en-US" sz="3200">
                <a:solidFill>
                  <a:srgbClr val="FFFFFF"/>
                </a:solidFill>
                <a:latin typeface="Prata"/>
                <a:ea typeface="Prata"/>
                <a:cs typeface="Prata"/>
                <a:sym typeface="Prata"/>
              </a:rPr>
              <a:t>· ENCRIPTACIÓN DE DATOS SENSIBLES EN BASE DE DATOS CON AES-256.</a:t>
            </a:r>
          </a:p>
          <a:p>
            <a:pPr algn="ctr">
              <a:lnSpc>
                <a:spcPts val="4480"/>
              </a:lnSpc>
              <a:spcBef>
                <a:spcPct val="0"/>
              </a:spcBef>
            </a:pPr>
            <a:r>
              <a:rPr lang="en-US" sz="3200">
                <a:solidFill>
                  <a:srgbClr val="FFFFFF"/>
                </a:solidFill>
                <a:latin typeface="Prata"/>
                <a:ea typeface="Prata"/>
                <a:cs typeface="Prata"/>
                <a:sym typeface="Prata"/>
              </a:rPr>
              <a:t> </a:t>
            </a:r>
          </a:p>
          <a:p>
            <a:pPr algn="ctr">
              <a:lnSpc>
                <a:spcPts val="4480"/>
              </a:lnSpc>
              <a:spcBef>
                <a:spcPct val="0"/>
              </a:spcBef>
            </a:pPr>
            <a:r>
              <a:rPr lang="en-US" sz="3200">
                <a:solidFill>
                  <a:srgbClr val="FFFFFF"/>
                </a:solidFill>
                <a:latin typeface="Prata"/>
                <a:ea typeface="Prata"/>
                <a:cs typeface="Prata"/>
                <a:sym typeface="Prata"/>
              </a:rPr>
              <a:t>· GESTIÓN DE PERMISOS BASADA EN ROLES (RBAC), LIMITANDO ACCESOS SEGÚN PERFILES.</a:t>
            </a:r>
          </a:p>
        </p:txBody>
      </p:sp>
    </p:spTree>
  </p:cSld>
  <p:clrMapOvr>
    <a:masterClrMapping/>
  </p:clrMapOvr>
</p:sld>
</file>

<file path=ppt/slides/slide1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5555" r="0" b="-5555"/>
            </a:stretch>
          </a:blipFill>
        </p:spPr>
      </p:sp>
      <p:grpSp>
        <p:nvGrpSpPr>
          <p:cNvPr name="Group 3" id="3"/>
          <p:cNvGrpSpPr/>
          <p:nvPr/>
        </p:nvGrpSpPr>
        <p:grpSpPr>
          <a:xfrm rot="0">
            <a:off x="0" y="-253637"/>
            <a:ext cx="18288000" cy="10287000"/>
            <a:chOff x="0" y="0"/>
            <a:chExt cx="4816593" cy="2709333"/>
          </a:xfrm>
        </p:grpSpPr>
        <p:sp>
          <p:nvSpPr>
            <p:cNvPr name="Freeform 4" id="4"/>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solidFill>
              <a:srgbClr val="000000">
                <a:alpha val="84706"/>
              </a:srgbClr>
            </a:solidFill>
          </p:spPr>
        </p:sp>
        <p:sp>
          <p:nvSpPr>
            <p:cNvPr name="TextBox 5" id="5"/>
            <p:cNvSpPr txBox="true"/>
            <p:nvPr/>
          </p:nvSpPr>
          <p:spPr>
            <a:xfrm>
              <a:off x="0" y="-38100"/>
              <a:ext cx="4816593" cy="2747433"/>
            </a:xfrm>
            <a:prstGeom prst="rect">
              <a:avLst/>
            </a:prstGeom>
          </p:spPr>
          <p:txBody>
            <a:bodyPr anchor="ctr" rtlCol="false" tIns="50800" lIns="50800" bIns="50800" rIns="50800"/>
            <a:lstStyle/>
            <a:p>
              <a:pPr algn="ctr">
                <a:lnSpc>
                  <a:spcPts val="3111"/>
                </a:lnSpc>
              </a:pPr>
            </a:p>
          </p:txBody>
        </p:sp>
      </p:grpSp>
      <p:sp>
        <p:nvSpPr>
          <p:cNvPr name="Freeform 6" id="6"/>
          <p:cNvSpPr/>
          <p:nvPr/>
        </p:nvSpPr>
        <p:spPr>
          <a:xfrm flipH="false" flipV="false" rot="0">
            <a:off x="13727632" y="5538868"/>
            <a:ext cx="4697437" cy="4913254"/>
          </a:xfrm>
          <a:custGeom>
            <a:avLst/>
            <a:gdLst/>
            <a:ahLst/>
            <a:cxnLst/>
            <a:rect r="r" b="b" t="t" l="l"/>
            <a:pathLst>
              <a:path h="4913254" w="4697437">
                <a:moveTo>
                  <a:pt x="0" y="0"/>
                </a:moveTo>
                <a:lnTo>
                  <a:pt x="4697437" y="0"/>
                </a:lnTo>
                <a:lnTo>
                  <a:pt x="4697437" y="4913253"/>
                </a:lnTo>
                <a:lnTo>
                  <a:pt x="0" y="4913253"/>
                </a:lnTo>
                <a:lnTo>
                  <a:pt x="0" y="0"/>
                </a:lnTo>
                <a:close/>
              </a:path>
            </a:pathLst>
          </a:custGeom>
          <a:blipFill>
            <a:blip r:embed="rId3">
              <a:alphaModFix amt="74000"/>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1842905" y="200661"/>
            <a:ext cx="14602190" cy="828039"/>
          </a:xfrm>
          <a:prstGeom prst="rect">
            <a:avLst/>
          </a:prstGeom>
        </p:spPr>
        <p:txBody>
          <a:bodyPr anchor="t" rtlCol="false" tIns="0" lIns="0" bIns="0" rIns="0">
            <a:spAutoFit/>
          </a:bodyPr>
          <a:lstStyle/>
          <a:p>
            <a:pPr algn="ctr">
              <a:lnSpc>
                <a:spcPts val="6860"/>
              </a:lnSpc>
            </a:pPr>
            <a:r>
              <a:rPr lang="en-US" b="true" sz="4900">
                <a:solidFill>
                  <a:srgbClr val="FFFFFF"/>
                </a:solidFill>
                <a:latin typeface="Montserrat Bold"/>
                <a:ea typeface="Montserrat Bold"/>
                <a:cs typeface="Montserrat Bold"/>
                <a:sym typeface="Montserrat Bold"/>
              </a:rPr>
              <a:t>4.3 INTEGRACIÓN CON SISTEMAS EXTERNOS</a:t>
            </a:r>
          </a:p>
        </p:txBody>
      </p:sp>
      <p:sp>
        <p:nvSpPr>
          <p:cNvPr name="Freeform 8" id="8"/>
          <p:cNvSpPr/>
          <p:nvPr/>
        </p:nvSpPr>
        <p:spPr>
          <a:xfrm flipH="false" flipV="false" rot="-10800000">
            <a:off x="-116335" y="-82396"/>
            <a:ext cx="4697437" cy="4913254"/>
          </a:xfrm>
          <a:custGeom>
            <a:avLst/>
            <a:gdLst/>
            <a:ahLst/>
            <a:cxnLst/>
            <a:rect r="r" b="b" t="t" l="l"/>
            <a:pathLst>
              <a:path h="4913254" w="4697437">
                <a:moveTo>
                  <a:pt x="0" y="0"/>
                </a:moveTo>
                <a:lnTo>
                  <a:pt x="4697437" y="0"/>
                </a:lnTo>
                <a:lnTo>
                  <a:pt x="4697437" y="4913254"/>
                </a:lnTo>
                <a:lnTo>
                  <a:pt x="0" y="4913254"/>
                </a:lnTo>
                <a:lnTo>
                  <a:pt x="0" y="0"/>
                </a:lnTo>
                <a:close/>
              </a:path>
            </a:pathLst>
          </a:custGeom>
          <a:blipFill>
            <a:blip r:embed="rId3">
              <a:alphaModFix amt="74000"/>
              <a:extLst>
                <a:ext uri="{96DAC541-7B7A-43D3-8B79-37D633B846F1}">
                  <asvg:svgBlip xmlns:asvg="http://schemas.microsoft.com/office/drawing/2016/SVG/main" r:embed="rId4"/>
                </a:ext>
              </a:extLst>
            </a:blip>
            <a:stretch>
              <a:fillRect l="0" t="0" r="0" b="0"/>
            </a:stretch>
          </a:blipFill>
        </p:spPr>
      </p:sp>
      <p:sp>
        <p:nvSpPr>
          <p:cNvPr name="TextBox 9" id="9"/>
          <p:cNvSpPr txBox="true"/>
          <p:nvPr/>
        </p:nvSpPr>
        <p:spPr>
          <a:xfrm rot="0">
            <a:off x="2603320" y="3441066"/>
            <a:ext cx="13081360" cy="4471668"/>
          </a:xfrm>
          <a:prstGeom prst="rect">
            <a:avLst/>
          </a:prstGeom>
        </p:spPr>
        <p:txBody>
          <a:bodyPr anchor="t" rtlCol="false" tIns="0" lIns="0" bIns="0" rIns="0">
            <a:spAutoFit/>
          </a:bodyPr>
          <a:lstStyle/>
          <a:p>
            <a:pPr algn="ctr">
              <a:lnSpc>
                <a:spcPts val="4480"/>
              </a:lnSpc>
              <a:spcBef>
                <a:spcPct val="0"/>
              </a:spcBef>
            </a:pPr>
            <a:r>
              <a:rPr lang="en-US" sz="3200">
                <a:solidFill>
                  <a:srgbClr val="FFFFFF"/>
                </a:solidFill>
                <a:latin typeface="Prata"/>
                <a:ea typeface="Prata"/>
                <a:cs typeface="Prata"/>
                <a:sym typeface="Prata"/>
              </a:rPr>
              <a:t>· PLATAFORMA JUDICIAL: ENVÍO AUTOMATIZADO DE DOCUMENTOS MEDIANTE API.</a:t>
            </a:r>
          </a:p>
          <a:p>
            <a:pPr algn="ctr">
              <a:lnSpc>
                <a:spcPts val="4480"/>
              </a:lnSpc>
              <a:spcBef>
                <a:spcPct val="0"/>
              </a:spcBef>
            </a:pPr>
          </a:p>
          <a:p>
            <a:pPr algn="ctr">
              <a:lnSpc>
                <a:spcPts val="4480"/>
              </a:lnSpc>
              <a:spcBef>
                <a:spcPct val="0"/>
              </a:spcBef>
            </a:pPr>
            <a:r>
              <a:rPr lang="en-US" sz="3200">
                <a:solidFill>
                  <a:srgbClr val="FFFFFF"/>
                </a:solidFill>
                <a:latin typeface="Prata"/>
                <a:ea typeface="Prata"/>
                <a:cs typeface="Prata"/>
                <a:sym typeface="Prata"/>
              </a:rPr>
              <a:t>· PASARELA DE PAGOS: CONEXIÓN ALIADOS FINANCIEROS PARA REALIZAR PAGOS.</a:t>
            </a:r>
          </a:p>
          <a:p>
            <a:pPr algn="ctr">
              <a:lnSpc>
                <a:spcPts val="4480"/>
              </a:lnSpc>
              <a:spcBef>
                <a:spcPct val="0"/>
              </a:spcBef>
            </a:pPr>
          </a:p>
          <a:p>
            <a:pPr algn="ctr">
              <a:lnSpc>
                <a:spcPts val="4480"/>
              </a:lnSpc>
              <a:spcBef>
                <a:spcPct val="0"/>
              </a:spcBef>
            </a:pPr>
            <a:r>
              <a:rPr lang="en-US" sz="3200">
                <a:solidFill>
                  <a:srgbClr val="FFFFFF"/>
                </a:solidFill>
                <a:latin typeface="Prata"/>
                <a:ea typeface="Prata"/>
                <a:cs typeface="Prata"/>
                <a:sym typeface="Prata"/>
              </a:rPr>
              <a:t>· FIRMA ELECTRÓNICA: VALIDACIÓN DE DOCUMENTOS LEGALES CON FIRMAS CERTIFICADAS.</a:t>
            </a:r>
          </a:p>
        </p:txBody>
      </p:sp>
    </p:spTree>
  </p:cSld>
  <p:clrMapOvr>
    <a:masterClrMapping/>
  </p:clrMapOvr>
</p:sld>
</file>

<file path=ppt/slides/slide1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5555" r="0" b="-5555"/>
            </a:stretch>
          </a:blipFill>
        </p:spPr>
      </p:sp>
      <p:grpSp>
        <p:nvGrpSpPr>
          <p:cNvPr name="Group 3" id="3"/>
          <p:cNvGrpSpPr/>
          <p:nvPr/>
        </p:nvGrpSpPr>
        <p:grpSpPr>
          <a:xfrm rot="0">
            <a:off x="0" y="-253637"/>
            <a:ext cx="18288000" cy="10287000"/>
            <a:chOff x="0" y="0"/>
            <a:chExt cx="4816593" cy="2709333"/>
          </a:xfrm>
        </p:grpSpPr>
        <p:sp>
          <p:nvSpPr>
            <p:cNvPr name="Freeform 4" id="4"/>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solidFill>
              <a:srgbClr val="000000">
                <a:alpha val="84706"/>
              </a:srgbClr>
            </a:solidFill>
          </p:spPr>
        </p:sp>
        <p:sp>
          <p:nvSpPr>
            <p:cNvPr name="TextBox 5" id="5"/>
            <p:cNvSpPr txBox="true"/>
            <p:nvPr/>
          </p:nvSpPr>
          <p:spPr>
            <a:xfrm>
              <a:off x="0" y="-38100"/>
              <a:ext cx="4816593" cy="2747433"/>
            </a:xfrm>
            <a:prstGeom prst="rect">
              <a:avLst/>
            </a:prstGeom>
          </p:spPr>
          <p:txBody>
            <a:bodyPr anchor="ctr" rtlCol="false" tIns="50800" lIns="50800" bIns="50800" rIns="50800"/>
            <a:lstStyle/>
            <a:p>
              <a:pPr algn="ctr">
                <a:lnSpc>
                  <a:spcPts val="3111"/>
                </a:lnSpc>
              </a:pPr>
            </a:p>
          </p:txBody>
        </p:sp>
      </p:grpSp>
      <p:sp>
        <p:nvSpPr>
          <p:cNvPr name="Freeform 6" id="6"/>
          <p:cNvSpPr/>
          <p:nvPr/>
        </p:nvSpPr>
        <p:spPr>
          <a:xfrm flipH="false" flipV="false" rot="0">
            <a:off x="13727632" y="5538868"/>
            <a:ext cx="4697437" cy="4913254"/>
          </a:xfrm>
          <a:custGeom>
            <a:avLst/>
            <a:gdLst/>
            <a:ahLst/>
            <a:cxnLst/>
            <a:rect r="r" b="b" t="t" l="l"/>
            <a:pathLst>
              <a:path h="4913254" w="4697437">
                <a:moveTo>
                  <a:pt x="0" y="0"/>
                </a:moveTo>
                <a:lnTo>
                  <a:pt x="4697437" y="0"/>
                </a:lnTo>
                <a:lnTo>
                  <a:pt x="4697437" y="4913253"/>
                </a:lnTo>
                <a:lnTo>
                  <a:pt x="0" y="4913253"/>
                </a:lnTo>
                <a:lnTo>
                  <a:pt x="0" y="0"/>
                </a:lnTo>
                <a:close/>
              </a:path>
            </a:pathLst>
          </a:custGeom>
          <a:blipFill>
            <a:blip r:embed="rId3">
              <a:alphaModFix amt="74000"/>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1842905" y="4404406"/>
            <a:ext cx="14602190" cy="1035685"/>
          </a:xfrm>
          <a:prstGeom prst="rect">
            <a:avLst/>
          </a:prstGeom>
        </p:spPr>
        <p:txBody>
          <a:bodyPr anchor="t" rtlCol="false" tIns="0" lIns="0" bIns="0" rIns="0">
            <a:spAutoFit/>
          </a:bodyPr>
          <a:lstStyle/>
          <a:p>
            <a:pPr algn="ctr">
              <a:lnSpc>
                <a:spcPts val="8540"/>
              </a:lnSpc>
            </a:pPr>
            <a:r>
              <a:rPr lang="en-US" b="true" sz="6100">
                <a:solidFill>
                  <a:srgbClr val="FFFFFF"/>
                </a:solidFill>
                <a:latin typeface="Montserrat Bold"/>
                <a:ea typeface="Montserrat Bold"/>
                <a:cs typeface="Montserrat Bold"/>
                <a:sym typeface="Montserrat Bold"/>
              </a:rPr>
              <a:t>V.5 BUILDING BLOCK VIEW</a:t>
            </a:r>
          </a:p>
        </p:txBody>
      </p:sp>
      <p:sp>
        <p:nvSpPr>
          <p:cNvPr name="Freeform 8" id="8"/>
          <p:cNvSpPr/>
          <p:nvPr/>
        </p:nvSpPr>
        <p:spPr>
          <a:xfrm flipH="false" flipV="false" rot="-10800000">
            <a:off x="-116335" y="-82396"/>
            <a:ext cx="4697437" cy="4913254"/>
          </a:xfrm>
          <a:custGeom>
            <a:avLst/>
            <a:gdLst/>
            <a:ahLst/>
            <a:cxnLst/>
            <a:rect r="r" b="b" t="t" l="l"/>
            <a:pathLst>
              <a:path h="4913254" w="4697437">
                <a:moveTo>
                  <a:pt x="0" y="0"/>
                </a:moveTo>
                <a:lnTo>
                  <a:pt x="4697437" y="0"/>
                </a:lnTo>
                <a:lnTo>
                  <a:pt x="4697437" y="4913254"/>
                </a:lnTo>
                <a:lnTo>
                  <a:pt x="0" y="4913254"/>
                </a:lnTo>
                <a:lnTo>
                  <a:pt x="0" y="0"/>
                </a:lnTo>
                <a:close/>
              </a:path>
            </a:pathLst>
          </a:custGeom>
          <a:blipFill>
            <a:blip r:embed="rId3">
              <a:alphaModFix amt="74000"/>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1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5555" r="0" b="-5555"/>
            </a:stretch>
          </a:blipFill>
        </p:spPr>
      </p:sp>
      <p:grpSp>
        <p:nvGrpSpPr>
          <p:cNvPr name="Group 3" id="3"/>
          <p:cNvGrpSpPr/>
          <p:nvPr/>
        </p:nvGrpSpPr>
        <p:grpSpPr>
          <a:xfrm rot="0">
            <a:off x="0" y="-253637"/>
            <a:ext cx="18288000" cy="10287000"/>
            <a:chOff x="0" y="0"/>
            <a:chExt cx="4816593" cy="2709333"/>
          </a:xfrm>
        </p:grpSpPr>
        <p:sp>
          <p:nvSpPr>
            <p:cNvPr name="Freeform 4" id="4"/>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solidFill>
              <a:srgbClr val="000000">
                <a:alpha val="84706"/>
              </a:srgbClr>
            </a:solidFill>
          </p:spPr>
        </p:sp>
        <p:sp>
          <p:nvSpPr>
            <p:cNvPr name="TextBox 5" id="5"/>
            <p:cNvSpPr txBox="true"/>
            <p:nvPr/>
          </p:nvSpPr>
          <p:spPr>
            <a:xfrm>
              <a:off x="0" y="-38100"/>
              <a:ext cx="4816593" cy="2747433"/>
            </a:xfrm>
            <a:prstGeom prst="rect">
              <a:avLst/>
            </a:prstGeom>
          </p:spPr>
          <p:txBody>
            <a:bodyPr anchor="ctr" rtlCol="false" tIns="50800" lIns="50800" bIns="50800" rIns="50800"/>
            <a:lstStyle/>
            <a:p>
              <a:pPr algn="ctr">
                <a:lnSpc>
                  <a:spcPts val="3111"/>
                </a:lnSpc>
              </a:pPr>
            </a:p>
          </p:txBody>
        </p:sp>
      </p:grpSp>
      <p:sp>
        <p:nvSpPr>
          <p:cNvPr name="Freeform 6" id="6"/>
          <p:cNvSpPr/>
          <p:nvPr/>
        </p:nvSpPr>
        <p:spPr>
          <a:xfrm flipH="false" flipV="false" rot="0">
            <a:off x="13727632" y="5538868"/>
            <a:ext cx="4697437" cy="4913254"/>
          </a:xfrm>
          <a:custGeom>
            <a:avLst/>
            <a:gdLst/>
            <a:ahLst/>
            <a:cxnLst/>
            <a:rect r="r" b="b" t="t" l="l"/>
            <a:pathLst>
              <a:path h="4913254" w="4697437">
                <a:moveTo>
                  <a:pt x="0" y="0"/>
                </a:moveTo>
                <a:lnTo>
                  <a:pt x="4697437" y="0"/>
                </a:lnTo>
                <a:lnTo>
                  <a:pt x="4697437" y="4913253"/>
                </a:lnTo>
                <a:lnTo>
                  <a:pt x="0" y="4913253"/>
                </a:lnTo>
                <a:lnTo>
                  <a:pt x="0" y="0"/>
                </a:lnTo>
                <a:close/>
              </a:path>
            </a:pathLst>
          </a:custGeom>
          <a:blipFill>
            <a:blip r:embed="rId3">
              <a:alphaModFix amt="74000"/>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1842905" y="200661"/>
            <a:ext cx="14602190" cy="828039"/>
          </a:xfrm>
          <a:prstGeom prst="rect">
            <a:avLst/>
          </a:prstGeom>
        </p:spPr>
        <p:txBody>
          <a:bodyPr anchor="t" rtlCol="false" tIns="0" lIns="0" bIns="0" rIns="0">
            <a:spAutoFit/>
          </a:bodyPr>
          <a:lstStyle/>
          <a:p>
            <a:pPr algn="ctr">
              <a:lnSpc>
                <a:spcPts val="6860"/>
              </a:lnSpc>
            </a:pPr>
            <a:r>
              <a:rPr lang="en-US" b="true" sz="4900">
                <a:solidFill>
                  <a:srgbClr val="FFFFFF"/>
                </a:solidFill>
                <a:latin typeface="Montserrat Bold"/>
                <a:ea typeface="Montserrat Bold"/>
                <a:cs typeface="Montserrat Bold"/>
                <a:sym typeface="Montserrat Bold"/>
              </a:rPr>
              <a:t>5.1.1 DESCRIPCIÓN GENERAL</a:t>
            </a:r>
          </a:p>
        </p:txBody>
      </p:sp>
      <p:sp>
        <p:nvSpPr>
          <p:cNvPr name="Freeform 8" id="8"/>
          <p:cNvSpPr/>
          <p:nvPr/>
        </p:nvSpPr>
        <p:spPr>
          <a:xfrm flipH="false" flipV="false" rot="-10800000">
            <a:off x="-116335" y="-82396"/>
            <a:ext cx="4697437" cy="4913254"/>
          </a:xfrm>
          <a:custGeom>
            <a:avLst/>
            <a:gdLst/>
            <a:ahLst/>
            <a:cxnLst/>
            <a:rect r="r" b="b" t="t" l="l"/>
            <a:pathLst>
              <a:path h="4913254" w="4697437">
                <a:moveTo>
                  <a:pt x="0" y="0"/>
                </a:moveTo>
                <a:lnTo>
                  <a:pt x="4697437" y="0"/>
                </a:lnTo>
                <a:lnTo>
                  <a:pt x="4697437" y="4913254"/>
                </a:lnTo>
                <a:lnTo>
                  <a:pt x="0" y="4913254"/>
                </a:lnTo>
                <a:lnTo>
                  <a:pt x="0" y="0"/>
                </a:lnTo>
                <a:close/>
              </a:path>
            </a:pathLst>
          </a:custGeom>
          <a:blipFill>
            <a:blip r:embed="rId3">
              <a:alphaModFix amt="74000"/>
              <a:extLst>
                <a:ext uri="{96DAC541-7B7A-43D3-8B79-37D633B846F1}">
                  <asvg:svgBlip xmlns:asvg="http://schemas.microsoft.com/office/drawing/2016/SVG/main" r:embed="rId4"/>
                </a:ext>
              </a:extLst>
            </a:blip>
            <a:stretch>
              <a:fillRect l="0" t="0" r="0" b="0"/>
            </a:stretch>
          </a:blipFill>
        </p:spPr>
      </p:sp>
      <p:sp>
        <p:nvSpPr>
          <p:cNvPr name="TextBox 9" id="9"/>
          <p:cNvSpPr txBox="true"/>
          <p:nvPr/>
        </p:nvSpPr>
        <p:spPr>
          <a:xfrm rot="0">
            <a:off x="2727019" y="2307556"/>
            <a:ext cx="12833961" cy="6356983"/>
          </a:xfrm>
          <a:prstGeom prst="rect">
            <a:avLst/>
          </a:prstGeom>
        </p:spPr>
        <p:txBody>
          <a:bodyPr anchor="t" rtlCol="false" tIns="0" lIns="0" bIns="0" rIns="0">
            <a:spAutoFit/>
          </a:bodyPr>
          <a:lstStyle/>
          <a:p>
            <a:pPr algn="ctr">
              <a:lnSpc>
                <a:spcPts val="5040"/>
              </a:lnSpc>
              <a:spcBef>
                <a:spcPct val="0"/>
              </a:spcBef>
            </a:pPr>
          </a:p>
          <a:p>
            <a:pPr algn="ctr">
              <a:lnSpc>
                <a:spcPts val="5040"/>
              </a:lnSpc>
              <a:spcBef>
                <a:spcPct val="0"/>
              </a:spcBef>
            </a:pPr>
            <a:r>
              <a:rPr lang="en-US" sz="3600">
                <a:solidFill>
                  <a:srgbClr val="FFFFFF"/>
                </a:solidFill>
                <a:latin typeface="Prata"/>
                <a:ea typeface="Prata"/>
                <a:cs typeface="Prata"/>
                <a:sym typeface="Prata"/>
              </a:rPr>
              <a:t>INTERFAZ DE USUARIO (FRONTEND)</a:t>
            </a:r>
          </a:p>
          <a:p>
            <a:pPr algn="ctr">
              <a:lnSpc>
                <a:spcPts val="5040"/>
              </a:lnSpc>
              <a:spcBef>
                <a:spcPct val="0"/>
              </a:spcBef>
            </a:pPr>
          </a:p>
          <a:p>
            <a:pPr algn="ctr">
              <a:lnSpc>
                <a:spcPts val="5040"/>
              </a:lnSpc>
              <a:spcBef>
                <a:spcPct val="0"/>
              </a:spcBef>
            </a:pPr>
            <a:r>
              <a:rPr lang="en-US" sz="3600">
                <a:solidFill>
                  <a:srgbClr val="FFFFFF"/>
                </a:solidFill>
                <a:latin typeface="Prata"/>
                <a:ea typeface="Prata"/>
                <a:cs typeface="Prata"/>
                <a:sym typeface="Prata"/>
              </a:rPr>
              <a:t>BACKEND API</a:t>
            </a:r>
          </a:p>
          <a:p>
            <a:pPr algn="ctr">
              <a:lnSpc>
                <a:spcPts val="5040"/>
              </a:lnSpc>
              <a:spcBef>
                <a:spcPct val="0"/>
              </a:spcBef>
            </a:pPr>
          </a:p>
          <a:p>
            <a:pPr algn="ctr">
              <a:lnSpc>
                <a:spcPts val="5040"/>
              </a:lnSpc>
              <a:spcBef>
                <a:spcPct val="0"/>
              </a:spcBef>
            </a:pPr>
            <a:r>
              <a:rPr lang="en-US" sz="3600">
                <a:solidFill>
                  <a:srgbClr val="FFFFFF"/>
                </a:solidFill>
                <a:latin typeface="Prata"/>
                <a:ea typeface="Prata"/>
                <a:cs typeface="Prata"/>
                <a:sym typeface="Prata"/>
              </a:rPr>
              <a:t>BASE DE DATOS</a:t>
            </a:r>
          </a:p>
          <a:p>
            <a:pPr algn="ctr">
              <a:lnSpc>
                <a:spcPts val="5040"/>
              </a:lnSpc>
              <a:spcBef>
                <a:spcPct val="0"/>
              </a:spcBef>
            </a:pPr>
          </a:p>
          <a:p>
            <a:pPr algn="ctr">
              <a:lnSpc>
                <a:spcPts val="5040"/>
              </a:lnSpc>
              <a:spcBef>
                <a:spcPct val="0"/>
              </a:spcBef>
            </a:pPr>
            <a:r>
              <a:rPr lang="en-US" sz="3600">
                <a:solidFill>
                  <a:srgbClr val="FFFFFF"/>
                </a:solidFill>
                <a:latin typeface="Prata"/>
                <a:ea typeface="Prata"/>
                <a:cs typeface="Prata"/>
                <a:sym typeface="Prata"/>
              </a:rPr>
              <a:t>ESTOS SUBSISTEMAS INTERACTÚAN A TRAVÉS DE API REST, PERMITIENDO LA COMUNICACIÓN FLUIDA ENTRE EL CLIENTE Y EL SERVIDOR.</a:t>
            </a:r>
          </a:p>
        </p:txBody>
      </p:sp>
    </p:spTree>
  </p:cSld>
  <p:clrMapOvr>
    <a:masterClrMapping/>
  </p:clrMapOvr>
</p:sld>
</file>

<file path=ppt/slides/slide2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5555" r="0" b="-5555"/>
            </a:stretch>
          </a:blipFill>
        </p:spPr>
      </p:sp>
      <p:grpSp>
        <p:nvGrpSpPr>
          <p:cNvPr name="Group 3" id="3"/>
          <p:cNvGrpSpPr/>
          <p:nvPr/>
        </p:nvGrpSpPr>
        <p:grpSpPr>
          <a:xfrm rot="0">
            <a:off x="0" y="-253637"/>
            <a:ext cx="18288000" cy="10287000"/>
            <a:chOff x="0" y="0"/>
            <a:chExt cx="4816593" cy="2709333"/>
          </a:xfrm>
        </p:grpSpPr>
        <p:sp>
          <p:nvSpPr>
            <p:cNvPr name="Freeform 4" id="4"/>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solidFill>
              <a:srgbClr val="000000">
                <a:alpha val="84706"/>
              </a:srgbClr>
            </a:solidFill>
          </p:spPr>
        </p:sp>
        <p:sp>
          <p:nvSpPr>
            <p:cNvPr name="TextBox 5" id="5"/>
            <p:cNvSpPr txBox="true"/>
            <p:nvPr/>
          </p:nvSpPr>
          <p:spPr>
            <a:xfrm>
              <a:off x="0" y="-38100"/>
              <a:ext cx="4816593" cy="2747433"/>
            </a:xfrm>
            <a:prstGeom prst="rect">
              <a:avLst/>
            </a:prstGeom>
          </p:spPr>
          <p:txBody>
            <a:bodyPr anchor="ctr" rtlCol="false" tIns="50800" lIns="50800" bIns="50800" rIns="50800"/>
            <a:lstStyle/>
            <a:p>
              <a:pPr algn="ctr">
                <a:lnSpc>
                  <a:spcPts val="3111"/>
                </a:lnSpc>
              </a:pPr>
            </a:p>
          </p:txBody>
        </p:sp>
      </p:grpSp>
      <p:sp>
        <p:nvSpPr>
          <p:cNvPr name="Freeform 6" id="6"/>
          <p:cNvSpPr/>
          <p:nvPr/>
        </p:nvSpPr>
        <p:spPr>
          <a:xfrm flipH="false" flipV="false" rot="0">
            <a:off x="13727632" y="5538868"/>
            <a:ext cx="4697437" cy="4913254"/>
          </a:xfrm>
          <a:custGeom>
            <a:avLst/>
            <a:gdLst/>
            <a:ahLst/>
            <a:cxnLst/>
            <a:rect r="r" b="b" t="t" l="l"/>
            <a:pathLst>
              <a:path h="4913254" w="4697437">
                <a:moveTo>
                  <a:pt x="0" y="0"/>
                </a:moveTo>
                <a:lnTo>
                  <a:pt x="4697437" y="0"/>
                </a:lnTo>
                <a:lnTo>
                  <a:pt x="4697437" y="4913253"/>
                </a:lnTo>
                <a:lnTo>
                  <a:pt x="0" y="4913253"/>
                </a:lnTo>
                <a:lnTo>
                  <a:pt x="0" y="0"/>
                </a:lnTo>
                <a:close/>
              </a:path>
            </a:pathLst>
          </a:custGeom>
          <a:blipFill>
            <a:blip r:embed="rId3">
              <a:alphaModFix amt="74000"/>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1842905" y="200661"/>
            <a:ext cx="14602190" cy="828039"/>
          </a:xfrm>
          <a:prstGeom prst="rect">
            <a:avLst/>
          </a:prstGeom>
        </p:spPr>
        <p:txBody>
          <a:bodyPr anchor="t" rtlCol="false" tIns="0" lIns="0" bIns="0" rIns="0">
            <a:spAutoFit/>
          </a:bodyPr>
          <a:lstStyle/>
          <a:p>
            <a:pPr algn="ctr">
              <a:lnSpc>
                <a:spcPts val="6860"/>
              </a:lnSpc>
            </a:pPr>
            <a:r>
              <a:rPr lang="en-US" b="true" sz="4900">
                <a:solidFill>
                  <a:srgbClr val="FFFFFF"/>
                </a:solidFill>
                <a:latin typeface="Montserrat Bold"/>
                <a:ea typeface="Montserrat Bold"/>
                <a:cs typeface="Montserrat Bold"/>
                <a:sym typeface="Montserrat Bold"/>
              </a:rPr>
              <a:t>5.1.2 DIAGRAMA DE NIVEL 1</a:t>
            </a:r>
          </a:p>
        </p:txBody>
      </p:sp>
      <p:sp>
        <p:nvSpPr>
          <p:cNvPr name="Freeform 8" id="8"/>
          <p:cNvSpPr/>
          <p:nvPr/>
        </p:nvSpPr>
        <p:spPr>
          <a:xfrm flipH="false" flipV="false" rot="-10800000">
            <a:off x="-116335" y="-82396"/>
            <a:ext cx="4697437" cy="4913254"/>
          </a:xfrm>
          <a:custGeom>
            <a:avLst/>
            <a:gdLst/>
            <a:ahLst/>
            <a:cxnLst/>
            <a:rect r="r" b="b" t="t" l="l"/>
            <a:pathLst>
              <a:path h="4913254" w="4697437">
                <a:moveTo>
                  <a:pt x="0" y="0"/>
                </a:moveTo>
                <a:lnTo>
                  <a:pt x="4697437" y="0"/>
                </a:lnTo>
                <a:lnTo>
                  <a:pt x="4697437" y="4913254"/>
                </a:lnTo>
                <a:lnTo>
                  <a:pt x="0" y="4913254"/>
                </a:lnTo>
                <a:lnTo>
                  <a:pt x="0" y="0"/>
                </a:lnTo>
                <a:close/>
              </a:path>
            </a:pathLst>
          </a:custGeom>
          <a:blipFill>
            <a:blip r:embed="rId3">
              <a:alphaModFix amt="74000"/>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2819971" y="3869771"/>
            <a:ext cx="13256379" cy="1922175"/>
          </a:xfrm>
          <a:custGeom>
            <a:avLst/>
            <a:gdLst/>
            <a:ahLst/>
            <a:cxnLst/>
            <a:rect r="r" b="b" t="t" l="l"/>
            <a:pathLst>
              <a:path h="1922175" w="13256379">
                <a:moveTo>
                  <a:pt x="0" y="0"/>
                </a:moveTo>
                <a:lnTo>
                  <a:pt x="13256379" y="0"/>
                </a:lnTo>
                <a:lnTo>
                  <a:pt x="13256379" y="1922174"/>
                </a:lnTo>
                <a:lnTo>
                  <a:pt x="0" y="1922174"/>
                </a:lnTo>
                <a:lnTo>
                  <a:pt x="0" y="0"/>
                </a:lnTo>
                <a:close/>
              </a:path>
            </a:pathLst>
          </a:custGeom>
          <a:blipFill>
            <a:blip r:embed="rId5"/>
            <a:stretch>
              <a:fillRect l="0" t="0" r="0" b="0"/>
            </a:stretch>
          </a:blipFill>
        </p:spPr>
      </p:sp>
    </p:spTree>
  </p:cSld>
  <p:clrMapOvr>
    <a:masterClrMapping/>
  </p:clrMapOvr>
</p:sld>
</file>

<file path=ppt/slides/slide2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5555" r="0" b="-5555"/>
            </a:stretch>
          </a:blipFill>
        </p:spPr>
      </p:sp>
      <p:grpSp>
        <p:nvGrpSpPr>
          <p:cNvPr name="Group 3" id="3"/>
          <p:cNvGrpSpPr/>
          <p:nvPr/>
        </p:nvGrpSpPr>
        <p:grpSpPr>
          <a:xfrm rot="0">
            <a:off x="0" y="-253637"/>
            <a:ext cx="18288000" cy="10287000"/>
            <a:chOff x="0" y="0"/>
            <a:chExt cx="4816593" cy="2709333"/>
          </a:xfrm>
        </p:grpSpPr>
        <p:sp>
          <p:nvSpPr>
            <p:cNvPr name="Freeform 4" id="4"/>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solidFill>
              <a:srgbClr val="000000">
                <a:alpha val="84706"/>
              </a:srgbClr>
            </a:solidFill>
          </p:spPr>
        </p:sp>
        <p:sp>
          <p:nvSpPr>
            <p:cNvPr name="TextBox 5" id="5"/>
            <p:cNvSpPr txBox="true"/>
            <p:nvPr/>
          </p:nvSpPr>
          <p:spPr>
            <a:xfrm>
              <a:off x="0" y="-38100"/>
              <a:ext cx="4816593" cy="2747433"/>
            </a:xfrm>
            <a:prstGeom prst="rect">
              <a:avLst/>
            </a:prstGeom>
          </p:spPr>
          <p:txBody>
            <a:bodyPr anchor="ctr" rtlCol="false" tIns="50800" lIns="50800" bIns="50800" rIns="50800"/>
            <a:lstStyle/>
            <a:p>
              <a:pPr algn="ctr">
                <a:lnSpc>
                  <a:spcPts val="3111"/>
                </a:lnSpc>
              </a:pPr>
            </a:p>
          </p:txBody>
        </p:sp>
      </p:grpSp>
      <p:sp>
        <p:nvSpPr>
          <p:cNvPr name="Freeform 6" id="6"/>
          <p:cNvSpPr/>
          <p:nvPr/>
        </p:nvSpPr>
        <p:spPr>
          <a:xfrm flipH="false" flipV="false" rot="0">
            <a:off x="13727632" y="5538868"/>
            <a:ext cx="4697437" cy="4913254"/>
          </a:xfrm>
          <a:custGeom>
            <a:avLst/>
            <a:gdLst/>
            <a:ahLst/>
            <a:cxnLst/>
            <a:rect r="r" b="b" t="t" l="l"/>
            <a:pathLst>
              <a:path h="4913254" w="4697437">
                <a:moveTo>
                  <a:pt x="0" y="0"/>
                </a:moveTo>
                <a:lnTo>
                  <a:pt x="4697437" y="0"/>
                </a:lnTo>
                <a:lnTo>
                  <a:pt x="4697437" y="4913253"/>
                </a:lnTo>
                <a:lnTo>
                  <a:pt x="0" y="4913253"/>
                </a:lnTo>
                <a:lnTo>
                  <a:pt x="0" y="0"/>
                </a:lnTo>
                <a:close/>
              </a:path>
            </a:pathLst>
          </a:custGeom>
          <a:blipFill>
            <a:blip r:embed="rId3">
              <a:alphaModFix amt="74000"/>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1842905" y="200661"/>
            <a:ext cx="14602190" cy="1694814"/>
          </a:xfrm>
          <a:prstGeom prst="rect">
            <a:avLst/>
          </a:prstGeom>
        </p:spPr>
        <p:txBody>
          <a:bodyPr anchor="t" rtlCol="false" tIns="0" lIns="0" bIns="0" rIns="0">
            <a:spAutoFit/>
          </a:bodyPr>
          <a:lstStyle/>
          <a:p>
            <a:pPr algn="ctr">
              <a:lnSpc>
                <a:spcPts val="6860"/>
              </a:lnSpc>
            </a:pPr>
            <a:r>
              <a:rPr lang="en-US" b="true" sz="4900">
                <a:solidFill>
                  <a:srgbClr val="FFFFFF"/>
                </a:solidFill>
                <a:latin typeface="Montserrat Bold"/>
                <a:ea typeface="Montserrat Bold"/>
                <a:cs typeface="Montserrat Bold"/>
                <a:sym typeface="Montserrat Bold"/>
              </a:rPr>
              <a:t>5.2.1 DESCRIPCIÓN DE LOS MÓDULOS DEL BACKEND</a:t>
            </a:r>
          </a:p>
        </p:txBody>
      </p:sp>
      <p:sp>
        <p:nvSpPr>
          <p:cNvPr name="Freeform 8" id="8"/>
          <p:cNvSpPr/>
          <p:nvPr/>
        </p:nvSpPr>
        <p:spPr>
          <a:xfrm flipH="false" flipV="false" rot="-10800000">
            <a:off x="-116335" y="-82396"/>
            <a:ext cx="4697437" cy="4913254"/>
          </a:xfrm>
          <a:custGeom>
            <a:avLst/>
            <a:gdLst/>
            <a:ahLst/>
            <a:cxnLst/>
            <a:rect r="r" b="b" t="t" l="l"/>
            <a:pathLst>
              <a:path h="4913254" w="4697437">
                <a:moveTo>
                  <a:pt x="0" y="0"/>
                </a:moveTo>
                <a:lnTo>
                  <a:pt x="4697437" y="0"/>
                </a:lnTo>
                <a:lnTo>
                  <a:pt x="4697437" y="4913254"/>
                </a:lnTo>
                <a:lnTo>
                  <a:pt x="0" y="4913254"/>
                </a:lnTo>
                <a:lnTo>
                  <a:pt x="0" y="0"/>
                </a:lnTo>
                <a:close/>
              </a:path>
            </a:pathLst>
          </a:custGeom>
          <a:blipFill>
            <a:blip r:embed="rId3">
              <a:alphaModFix amt="74000"/>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2655386" y="1994927"/>
            <a:ext cx="12977228" cy="7087881"/>
          </a:xfrm>
          <a:custGeom>
            <a:avLst/>
            <a:gdLst/>
            <a:ahLst/>
            <a:cxnLst/>
            <a:rect r="r" b="b" t="t" l="l"/>
            <a:pathLst>
              <a:path h="7087881" w="12977228">
                <a:moveTo>
                  <a:pt x="0" y="0"/>
                </a:moveTo>
                <a:lnTo>
                  <a:pt x="12977228" y="0"/>
                </a:lnTo>
                <a:lnTo>
                  <a:pt x="12977228" y="7087881"/>
                </a:lnTo>
                <a:lnTo>
                  <a:pt x="0" y="7087881"/>
                </a:lnTo>
                <a:lnTo>
                  <a:pt x="0" y="0"/>
                </a:lnTo>
                <a:close/>
              </a:path>
            </a:pathLst>
          </a:custGeom>
          <a:blipFill>
            <a:blip r:embed="rId5"/>
            <a:stretch>
              <a:fillRect l="0" t="0" r="0" b="0"/>
            </a:stretch>
          </a:blipFill>
        </p:spPr>
      </p:sp>
    </p:spTree>
  </p:cSld>
  <p:clrMapOvr>
    <a:masterClrMapping/>
  </p:clrMapOvr>
</p:sld>
</file>

<file path=ppt/slides/slide2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5555" r="0" b="-5555"/>
            </a:stretch>
          </a:blipFill>
        </p:spPr>
      </p:sp>
      <p:grpSp>
        <p:nvGrpSpPr>
          <p:cNvPr name="Group 3" id="3"/>
          <p:cNvGrpSpPr/>
          <p:nvPr/>
        </p:nvGrpSpPr>
        <p:grpSpPr>
          <a:xfrm rot="0">
            <a:off x="0" y="-253637"/>
            <a:ext cx="18288000" cy="10287000"/>
            <a:chOff x="0" y="0"/>
            <a:chExt cx="4816593" cy="2709333"/>
          </a:xfrm>
        </p:grpSpPr>
        <p:sp>
          <p:nvSpPr>
            <p:cNvPr name="Freeform 4" id="4"/>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solidFill>
              <a:srgbClr val="000000">
                <a:alpha val="84706"/>
              </a:srgbClr>
            </a:solidFill>
          </p:spPr>
        </p:sp>
        <p:sp>
          <p:nvSpPr>
            <p:cNvPr name="TextBox 5" id="5"/>
            <p:cNvSpPr txBox="true"/>
            <p:nvPr/>
          </p:nvSpPr>
          <p:spPr>
            <a:xfrm>
              <a:off x="0" y="-38100"/>
              <a:ext cx="4816593" cy="2747433"/>
            </a:xfrm>
            <a:prstGeom prst="rect">
              <a:avLst/>
            </a:prstGeom>
          </p:spPr>
          <p:txBody>
            <a:bodyPr anchor="ctr" rtlCol="false" tIns="50800" lIns="50800" bIns="50800" rIns="50800"/>
            <a:lstStyle/>
            <a:p>
              <a:pPr algn="ctr">
                <a:lnSpc>
                  <a:spcPts val="3111"/>
                </a:lnSpc>
              </a:pPr>
            </a:p>
          </p:txBody>
        </p:sp>
      </p:grpSp>
      <p:sp>
        <p:nvSpPr>
          <p:cNvPr name="Freeform 6" id="6"/>
          <p:cNvSpPr/>
          <p:nvPr/>
        </p:nvSpPr>
        <p:spPr>
          <a:xfrm flipH="false" flipV="false" rot="0">
            <a:off x="13727632" y="5538868"/>
            <a:ext cx="4697437" cy="4913254"/>
          </a:xfrm>
          <a:custGeom>
            <a:avLst/>
            <a:gdLst/>
            <a:ahLst/>
            <a:cxnLst/>
            <a:rect r="r" b="b" t="t" l="l"/>
            <a:pathLst>
              <a:path h="4913254" w="4697437">
                <a:moveTo>
                  <a:pt x="0" y="0"/>
                </a:moveTo>
                <a:lnTo>
                  <a:pt x="4697437" y="0"/>
                </a:lnTo>
                <a:lnTo>
                  <a:pt x="4697437" y="4913253"/>
                </a:lnTo>
                <a:lnTo>
                  <a:pt x="0" y="4913253"/>
                </a:lnTo>
                <a:lnTo>
                  <a:pt x="0" y="0"/>
                </a:lnTo>
                <a:close/>
              </a:path>
            </a:pathLst>
          </a:custGeom>
          <a:blipFill>
            <a:blip r:embed="rId3">
              <a:alphaModFix amt="74000"/>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1842905" y="200661"/>
            <a:ext cx="14602190" cy="828039"/>
          </a:xfrm>
          <a:prstGeom prst="rect">
            <a:avLst/>
          </a:prstGeom>
        </p:spPr>
        <p:txBody>
          <a:bodyPr anchor="t" rtlCol="false" tIns="0" lIns="0" bIns="0" rIns="0">
            <a:spAutoFit/>
          </a:bodyPr>
          <a:lstStyle/>
          <a:p>
            <a:pPr algn="ctr">
              <a:lnSpc>
                <a:spcPts val="6860"/>
              </a:lnSpc>
            </a:pPr>
            <a:r>
              <a:rPr lang="en-US" b="true" sz="4900">
                <a:solidFill>
                  <a:srgbClr val="FFFFFF"/>
                </a:solidFill>
                <a:latin typeface="Montserrat Bold"/>
                <a:ea typeface="Montserrat Bold"/>
                <a:cs typeface="Montserrat Bold"/>
                <a:sym typeface="Montserrat Bold"/>
              </a:rPr>
              <a:t>5.2.2 DIAGRAMA DE NIVEL 2</a:t>
            </a:r>
          </a:p>
        </p:txBody>
      </p:sp>
      <p:sp>
        <p:nvSpPr>
          <p:cNvPr name="Freeform 8" id="8"/>
          <p:cNvSpPr/>
          <p:nvPr/>
        </p:nvSpPr>
        <p:spPr>
          <a:xfrm flipH="false" flipV="false" rot="-10800000">
            <a:off x="-116335" y="-82396"/>
            <a:ext cx="4697437" cy="4913254"/>
          </a:xfrm>
          <a:custGeom>
            <a:avLst/>
            <a:gdLst/>
            <a:ahLst/>
            <a:cxnLst/>
            <a:rect r="r" b="b" t="t" l="l"/>
            <a:pathLst>
              <a:path h="4913254" w="4697437">
                <a:moveTo>
                  <a:pt x="0" y="0"/>
                </a:moveTo>
                <a:lnTo>
                  <a:pt x="4697437" y="0"/>
                </a:lnTo>
                <a:lnTo>
                  <a:pt x="4697437" y="4913254"/>
                </a:lnTo>
                <a:lnTo>
                  <a:pt x="0" y="4913254"/>
                </a:lnTo>
                <a:lnTo>
                  <a:pt x="0" y="0"/>
                </a:lnTo>
                <a:close/>
              </a:path>
            </a:pathLst>
          </a:custGeom>
          <a:blipFill>
            <a:blip r:embed="rId3">
              <a:alphaModFix amt="74000"/>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1179823" y="3555864"/>
            <a:ext cx="16079477" cy="2693312"/>
          </a:xfrm>
          <a:custGeom>
            <a:avLst/>
            <a:gdLst/>
            <a:ahLst/>
            <a:cxnLst/>
            <a:rect r="r" b="b" t="t" l="l"/>
            <a:pathLst>
              <a:path h="2693312" w="16079477">
                <a:moveTo>
                  <a:pt x="0" y="0"/>
                </a:moveTo>
                <a:lnTo>
                  <a:pt x="16079477" y="0"/>
                </a:lnTo>
                <a:lnTo>
                  <a:pt x="16079477" y="2693312"/>
                </a:lnTo>
                <a:lnTo>
                  <a:pt x="0" y="2693312"/>
                </a:lnTo>
                <a:lnTo>
                  <a:pt x="0" y="0"/>
                </a:lnTo>
                <a:close/>
              </a:path>
            </a:pathLst>
          </a:custGeom>
          <a:blipFill>
            <a:blip r:embed="rId5"/>
            <a:stretch>
              <a:fillRect l="0" t="0" r="0" b="0"/>
            </a:stretch>
          </a:blipFill>
        </p:spPr>
      </p:sp>
    </p:spTree>
  </p:cSld>
  <p:clrMapOvr>
    <a:masterClrMapping/>
  </p:clrMapOvr>
</p:sld>
</file>

<file path=ppt/slides/slide2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5555" r="0" b="-5555"/>
            </a:stretch>
          </a:blipFill>
        </p:spPr>
      </p:sp>
      <p:grpSp>
        <p:nvGrpSpPr>
          <p:cNvPr name="Group 3" id="3"/>
          <p:cNvGrpSpPr/>
          <p:nvPr/>
        </p:nvGrpSpPr>
        <p:grpSpPr>
          <a:xfrm rot="0">
            <a:off x="0" y="-253637"/>
            <a:ext cx="18288000" cy="10287000"/>
            <a:chOff x="0" y="0"/>
            <a:chExt cx="4816593" cy="2709333"/>
          </a:xfrm>
        </p:grpSpPr>
        <p:sp>
          <p:nvSpPr>
            <p:cNvPr name="Freeform 4" id="4"/>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solidFill>
              <a:srgbClr val="000000">
                <a:alpha val="84706"/>
              </a:srgbClr>
            </a:solidFill>
          </p:spPr>
        </p:sp>
        <p:sp>
          <p:nvSpPr>
            <p:cNvPr name="TextBox 5" id="5"/>
            <p:cNvSpPr txBox="true"/>
            <p:nvPr/>
          </p:nvSpPr>
          <p:spPr>
            <a:xfrm>
              <a:off x="0" y="-38100"/>
              <a:ext cx="4816593" cy="2747433"/>
            </a:xfrm>
            <a:prstGeom prst="rect">
              <a:avLst/>
            </a:prstGeom>
          </p:spPr>
          <p:txBody>
            <a:bodyPr anchor="ctr" rtlCol="false" tIns="50800" lIns="50800" bIns="50800" rIns="50800"/>
            <a:lstStyle/>
            <a:p>
              <a:pPr algn="ctr">
                <a:lnSpc>
                  <a:spcPts val="3111"/>
                </a:lnSpc>
              </a:pPr>
            </a:p>
          </p:txBody>
        </p:sp>
      </p:grpSp>
      <p:sp>
        <p:nvSpPr>
          <p:cNvPr name="Freeform 6" id="6"/>
          <p:cNvSpPr/>
          <p:nvPr/>
        </p:nvSpPr>
        <p:spPr>
          <a:xfrm flipH="false" flipV="false" rot="0">
            <a:off x="13727632" y="5538868"/>
            <a:ext cx="4697437" cy="4913254"/>
          </a:xfrm>
          <a:custGeom>
            <a:avLst/>
            <a:gdLst/>
            <a:ahLst/>
            <a:cxnLst/>
            <a:rect r="r" b="b" t="t" l="l"/>
            <a:pathLst>
              <a:path h="4913254" w="4697437">
                <a:moveTo>
                  <a:pt x="0" y="0"/>
                </a:moveTo>
                <a:lnTo>
                  <a:pt x="4697437" y="0"/>
                </a:lnTo>
                <a:lnTo>
                  <a:pt x="4697437" y="4913253"/>
                </a:lnTo>
                <a:lnTo>
                  <a:pt x="0" y="4913253"/>
                </a:lnTo>
                <a:lnTo>
                  <a:pt x="0" y="0"/>
                </a:lnTo>
                <a:close/>
              </a:path>
            </a:pathLst>
          </a:custGeom>
          <a:blipFill>
            <a:blip r:embed="rId3">
              <a:alphaModFix amt="74000"/>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1842905" y="200661"/>
            <a:ext cx="14602190" cy="828039"/>
          </a:xfrm>
          <a:prstGeom prst="rect">
            <a:avLst/>
          </a:prstGeom>
        </p:spPr>
        <p:txBody>
          <a:bodyPr anchor="t" rtlCol="false" tIns="0" lIns="0" bIns="0" rIns="0">
            <a:spAutoFit/>
          </a:bodyPr>
          <a:lstStyle/>
          <a:p>
            <a:pPr algn="ctr">
              <a:lnSpc>
                <a:spcPts val="6860"/>
              </a:lnSpc>
            </a:pPr>
            <a:r>
              <a:rPr lang="en-US" b="true" sz="4900">
                <a:solidFill>
                  <a:srgbClr val="FFFFFF"/>
                </a:solidFill>
                <a:latin typeface="Montserrat Bold"/>
                <a:ea typeface="Montserrat Bold"/>
                <a:cs typeface="Montserrat Bold"/>
                <a:sym typeface="Montserrat Bold"/>
              </a:rPr>
              <a:t>5.2.3 RELACIÓN ENTRE LOS MÓDULOS</a:t>
            </a:r>
          </a:p>
        </p:txBody>
      </p:sp>
      <p:sp>
        <p:nvSpPr>
          <p:cNvPr name="Freeform 8" id="8"/>
          <p:cNvSpPr/>
          <p:nvPr/>
        </p:nvSpPr>
        <p:spPr>
          <a:xfrm flipH="false" flipV="false" rot="-10800000">
            <a:off x="-116335" y="-82396"/>
            <a:ext cx="4697437" cy="4913254"/>
          </a:xfrm>
          <a:custGeom>
            <a:avLst/>
            <a:gdLst/>
            <a:ahLst/>
            <a:cxnLst/>
            <a:rect r="r" b="b" t="t" l="l"/>
            <a:pathLst>
              <a:path h="4913254" w="4697437">
                <a:moveTo>
                  <a:pt x="0" y="0"/>
                </a:moveTo>
                <a:lnTo>
                  <a:pt x="4697437" y="0"/>
                </a:lnTo>
                <a:lnTo>
                  <a:pt x="4697437" y="4913254"/>
                </a:lnTo>
                <a:lnTo>
                  <a:pt x="0" y="4913254"/>
                </a:lnTo>
                <a:lnTo>
                  <a:pt x="0" y="0"/>
                </a:lnTo>
                <a:close/>
              </a:path>
            </a:pathLst>
          </a:custGeom>
          <a:blipFill>
            <a:blip r:embed="rId3">
              <a:alphaModFix amt="74000"/>
              <a:extLst>
                <a:ext uri="{96DAC541-7B7A-43D3-8B79-37D633B846F1}">
                  <asvg:svgBlip xmlns:asvg="http://schemas.microsoft.com/office/drawing/2016/SVG/main" r:embed="rId4"/>
                </a:ext>
              </a:extLst>
            </a:blip>
            <a:stretch>
              <a:fillRect l="0" t="0" r="0" b="0"/>
            </a:stretch>
          </a:blipFill>
        </p:spPr>
      </p:sp>
      <p:sp>
        <p:nvSpPr>
          <p:cNvPr name="TextBox 9" id="9"/>
          <p:cNvSpPr txBox="true"/>
          <p:nvPr/>
        </p:nvSpPr>
        <p:spPr>
          <a:xfrm rot="0">
            <a:off x="2106427" y="2334942"/>
            <a:ext cx="14075146" cy="5380988"/>
          </a:xfrm>
          <a:prstGeom prst="rect">
            <a:avLst/>
          </a:prstGeom>
        </p:spPr>
        <p:txBody>
          <a:bodyPr anchor="t" rtlCol="false" tIns="0" lIns="0" bIns="0" rIns="0">
            <a:spAutoFit/>
          </a:bodyPr>
          <a:lstStyle/>
          <a:p>
            <a:pPr algn="ctr">
              <a:lnSpc>
                <a:spcPts val="4760"/>
              </a:lnSpc>
              <a:spcBef>
                <a:spcPct val="0"/>
              </a:spcBef>
            </a:pPr>
            <a:r>
              <a:rPr lang="en-US" sz="3400">
                <a:solidFill>
                  <a:srgbClr val="FFFFFF"/>
                </a:solidFill>
                <a:latin typeface="Prata"/>
                <a:ea typeface="Prata"/>
                <a:cs typeface="Prata"/>
                <a:sym typeface="Prata"/>
              </a:rPr>
              <a:t>· EL MÓDULO DE AUTENTICACIÓN </a:t>
            </a:r>
          </a:p>
          <a:p>
            <a:pPr algn="ctr">
              <a:lnSpc>
                <a:spcPts val="4760"/>
              </a:lnSpc>
              <a:spcBef>
                <a:spcPct val="0"/>
              </a:spcBef>
            </a:pPr>
          </a:p>
          <a:p>
            <a:pPr algn="ctr">
              <a:lnSpc>
                <a:spcPts val="4760"/>
              </a:lnSpc>
              <a:spcBef>
                <a:spcPct val="0"/>
              </a:spcBef>
            </a:pPr>
            <a:r>
              <a:rPr lang="en-US" sz="3400">
                <a:solidFill>
                  <a:srgbClr val="FFFFFF"/>
                </a:solidFill>
                <a:latin typeface="Prata"/>
                <a:ea typeface="Prata"/>
                <a:cs typeface="Prata"/>
                <a:sym typeface="Prata"/>
              </a:rPr>
              <a:t>· EL MÓDULO DE EXPEDIENTES</a:t>
            </a:r>
          </a:p>
          <a:p>
            <a:pPr algn="ctr">
              <a:lnSpc>
                <a:spcPts val="4760"/>
              </a:lnSpc>
              <a:spcBef>
                <a:spcPct val="0"/>
              </a:spcBef>
            </a:pPr>
            <a:r>
              <a:rPr lang="en-US" sz="3400">
                <a:solidFill>
                  <a:srgbClr val="FFFFFF"/>
                </a:solidFill>
                <a:latin typeface="Prata"/>
                <a:ea typeface="Prata"/>
                <a:cs typeface="Prata"/>
                <a:sym typeface="Prata"/>
              </a:rPr>
              <a:t> </a:t>
            </a:r>
          </a:p>
          <a:p>
            <a:pPr algn="ctr">
              <a:lnSpc>
                <a:spcPts val="4760"/>
              </a:lnSpc>
              <a:spcBef>
                <a:spcPct val="0"/>
              </a:spcBef>
            </a:pPr>
            <a:r>
              <a:rPr lang="en-US" sz="3400">
                <a:solidFill>
                  <a:srgbClr val="FFFFFF"/>
                </a:solidFill>
                <a:latin typeface="Prata"/>
                <a:ea typeface="Prata"/>
                <a:cs typeface="Prata"/>
                <a:sym typeface="Prata"/>
              </a:rPr>
              <a:t>· EL MÓDULO DE FACTURACIÓN </a:t>
            </a:r>
          </a:p>
          <a:p>
            <a:pPr algn="ctr">
              <a:lnSpc>
                <a:spcPts val="4760"/>
              </a:lnSpc>
              <a:spcBef>
                <a:spcPct val="0"/>
              </a:spcBef>
            </a:pPr>
          </a:p>
          <a:p>
            <a:pPr algn="ctr">
              <a:lnSpc>
                <a:spcPts val="4760"/>
              </a:lnSpc>
              <a:spcBef>
                <a:spcPct val="0"/>
              </a:spcBef>
            </a:pPr>
            <a:r>
              <a:rPr lang="en-US" sz="3400">
                <a:solidFill>
                  <a:srgbClr val="FFFFFF"/>
                </a:solidFill>
                <a:latin typeface="Prata"/>
                <a:ea typeface="Prata"/>
                <a:cs typeface="Prata"/>
                <a:sym typeface="Prata"/>
              </a:rPr>
              <a:t>· EL MÓDULO DE GESTIÓN DE CLIENTES</a:t>
            </a:r>
          </a:p>
          <a:p>
            <a:pPr algn="ctr">
              <a:lnSpc>
                <a:spcPts val="4760"/>
              </a:lnSpc>
              <a:spcBef>
                <a:spcPct val="0"/>
              </a:spcBef>
            </a:pPr>
          </a:p>
          <a:p>
            <a:pPr algn="ctr">
              <a:lnSpc>
                <a:spcPts val="4760"/>
              </a:lnSpc>
              <a:spcBef>
                <a:spcPct val="0"/>
              </a:spcBef>
            </a:pPr>
            <a:r>
              <a:rPr lang="en-US" sz="3400">
                <a:solidFill>
                  <a:srgbClr val="FFFFFF"/>
                </a:solidFill>
                <a:latin typeface="Prata"/>
                <a:ea typeface="Prata"/>
                <a:cs typeface="Prata"/>
                <a:sym typeface="Prata"/>
              </a:rPr>
              <a:t>· EL MÓDULO DE RECURSOS HUMANOS</a:t>
            </a:r>
          </a:p>
        </p:txBody>
      </p:sp>
    </p:spTree>
  </p:cSld>
  <p:clrMapOvr>
    <a:masterClrMapping/>
  </p:clrMapOvr>
</p:sld>
</file>

<file path=ppt/slides/slide2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5555" r="0" b="-5555"/>
            </a:stretch>
          </a:blipFill>
        </p:spPr>
      </p:sp>
      <p:grpSp>
        <p:nvGrpSpPr>
          <p:cNvPr name="Group 3" id="3"/>
          <p:cNvGrpSpPr/>
          <p:nvPr/>
        </p:nvGrpSpPr>
        <p:grpSpPr>
          <a:xfrm rot="0">
            <a:off x="0" y="0"/>
            <a:ext cx="18288000" cy="10287000"/>
            <a:chOff x="0" y="0"/>
            <a:chExt cx="4816593" cy="2709333"/>
          </a:xfrm>
        </p:grpSpPr>
        <p:sp>
          <p:nvSpPr>
            <p:cNvPr name="Freeform 4" id="4"/>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solidFill>
              <a:srgbClr val="000000">
                <a:alpha val="84706"/>
              </a:srgbClr>
            </a:solidFill>
          </p:spPr>
        </p:sp>
        <p:sp>
          <p:nvSpPr>
            <p:cNvPr name="TextBox 5" id="5"/>
            <p:cNvSpPr txBox="true"/>
            <p:nvPr/>
          </p:nvSpPr>
          <p:spPr>
            <a:xfrm>
              <a:off x="0" y="-38100"/>
              <a:ext cx="4816593" cy="2747433"/>
            </a:xfrm>
            <a:prstGeom prst="rect">
              <a:avLst/>
            </a:prstGeom>
          </p:spPr>
          <p:txBody>
            <a:bodyPr anchor="ctr" rtlCol="false" tIns="50800" lIns="50800" bIns="50800" rIns="50800"/>
            <a:lstStyle/>
            <a:p>
              <a:pPr algn="ctr">
                <a:lnSpc>
                  <a:spcPts val="3111"/>
                </a:lnSpc>
              </a:pPr>
              <a:r>
                <a:rPr lang="en-US" sz="2222">
                  <a:solidFill>
                    <a:srgbClr val="000000">
                      <a:alpha val="84706"/>
                    </a:srgbClr>
                  </a:solidFill>
                  <a:latin typeface="Prata"/>
                  <a:ea typeface="Prata"/>
                  <a:cs typeface="Prata"/>
                  <a:sym typeface="Prata"/>
                </a:rPr>
                <a:t>A diferencia de la Building Block View, que describe la estructura estática del sistema, la Runtime View se centra en el comportamiento dinámico del ERP AbogaTech en diferentes escenarios de ejecución.</a:t>
              </a:r>
            </a:p>
            <a:p>
              <a:pPr algn="ctr">
                <a:lnSpc>
                  <a:spcPts val="3111"/>
                </a:lnSpc>
              </a:pPr>
              <a:r>
                <a:rPr lang="en-US" sz="2222">
                  <a:solidFill>
                    <a:srgbClr val="000000">
                      <a:alpha val="84706"/>
                    </a:srgbClr>
                  </a:solidFill>
                  <a:latin typeface="Prata"/>
                  <a:ea typeface="Prata"/>
                  <a:cs typeface="Prata"/>
                  <a:sym typeface="Prata"/>
                </a:rPr>
                <a:t>Se presentan los principales flujos de ejecución del sistema, describiendo cómo interactúan los módulos entre sí para procesar las solicitudes de los usuarios.</a:t>
              </a:r>
            </a:p>
            <a:p>
              <a:pPr algn="ctr">
                <a:lnSpc>
                  <a:spcPts val="3111"/>
                </a:lnSpc>
              </a:pPr>
            </a:p>
          </p:txBody>
        </p:sp>
      </p:grpSp>
      <p:sp>
        <p:nvSpPr>
          <p:cNvPr name="Freeform 6" id="6"/>
          <p:cNvSpPr/>
          <p:nvPr/>
        </p:nvSpPr>
        <p:spPr>
          <a:xfrm flipH="false" flipV="false" rot="0">
            <a:off x="13727632" y="5538868"/>
            <a:ext cx="4697437" cy="4913254"/>
          </a:xfrm>
          <a:custGeom>
            <a:avLst/>
            <a:gdLst/>
            <a:ahLst/>
            <a:cxnLst/>
            <a:rect r="r" b="b" t="t" l="l"/>
            <a:pathLst>
              <a:path h="4913254" w="4697437">
                <a:moveTo>
                  <a:pt x="0" y="0"/>
                </a:moveTo>
                <a:lnTo>
                  <a:pt x="4697437" y="0"/>
                </a:lnTo>
                <a:lnTo>
                  <a:pt x="4697437" y="4913253"/>
                </a:lnTo>
                <a:lnTo>
                  <a:pt x="0" y="4913253"/>
                </a:lnTo>
                <a:lnTo>
                  <a:pt x="0" y="0"/>
                </a:lnTo>
                <a:close/>
              </a:path>
            </a:pathLst>
          </a:custGeom>
          <a:blipFill>
            <a:blip r:embed="rId3">
              <a:alphaModFix amt="74000"/>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2051252" y="4277361"/>
            <a:ext cx="14602190" cy="1111250"/>
          </a:xfrm>
          <a:prstGeom prst="rect">
            <a:avLst/>
          </a:prstGeom>
        </p:spPr>
        <p:txBody>
          <a:bodyPr anchor="t" rtlCol="false" tIns="0" lIns="0" bIns="0" rIns="0">
            <a:spAutoFit/>
          </a:bodyPr>
          <a:lstStyle/>
          <a:p>
            <a:pPr algn="ctr">
              <a:lnSpc>
                <a:spcPts val="9099"/>
              </a:lnSpc>
            </a:pPr>
            <a:r>
              <a:rPr lang="en-US" b="true" sz="6499">
                <a:solidFill>
                  <a:srgbClr val="FFFFFF"/>
                </a:solidFill>
                <a:latin typeface="Montserrat Bold"/>
                <a:ea typeface="Montserrat Bold"/>
                <a:cs typeface="Montserrat Bold"/>
                <a:sym typeface="Montserrat Bold"/>
              </a:rPr>
              <a:t>V.6 RUNTIME VIEW </a:t>
            </a:r>
          </a:p>
        </p:txBody>
      </p:sp>
      <p:sp>
        <p:nvSpPr>
          <p:cNvPr name="Freeform 8" id="8"/>
          <p:cNvSpPr/>
          <p:nvPr/>
        </p:nvSpPr>
        <p:spPr>
          <a:xfrm flipH="false" flipV="false" rot="-10800000">
            <a:off x="-116335" y="-82396"/>
            <a:ext cx="4697437" cy="4913254"/>
          </a:xfrm>
          <a:custGeom>
            <a:avLst/>
            <a:gdLst/>
            <a:ahLst/>
            <a:cxnLst/>
            <a:rect r="r" b="b" t="t" l="l"/>
            <a:pathLst>
              <a:path h="4913254" w="4697437">
                <a:moveTo>
                  <a:pt x="0" y="0"/>
                </a:moveTo>
                <a:lnTo>
                  <a:pt x="4697437" y="0"/>
                </a:lnTo>
                <a:lnTo>
                  <a:pt x="4697437" y="4913254"/>
                </a:lnTo>
                <a:lnTo>
                  <a:pt x="0" y="4913254"/>
                </a:lnTo>
                <a:lnTo>
                  <a:pt x="0" y="0"/>
                </a:lnTo>
                <a:close/>
              </a:path>
            </a:pathLst>
          </a:custGeom>
          <a:blipFill>
            <a:blip r:embed="rId3">
              <a:alphaModFix amt="74000"/>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2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5555" r="0" b="-5555"/>
            </a:stretch>
          </a:blipFill>
        </p:spPr>
      </p:sp>
      <p:grpSp>
        <p:nvGrpSpPr>
          <p:cNvPr name="Group 3" id="3"/>
          <p:cNvGrpSpPr/>
          <p:nvPr/>
        </p:nvGrpSpPr>
        <p:grpSpPr>
          <a:xfrm rot="0">
            <a:off x="0" y="0"/>
            <a:ext cx="18288000" cy="10287000"/>
            <a:chOff x="0" y="0"/>
            <a:chExt cx="4816593" cy="2709333"/>
          </a:xfrm>
        </p:grpSpPr>
        <p:sp>
          <p:nvSpPr>
            <p:cNvPr name="Freeform 4" id="4"/>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solidFill>
              <a:srgbClr val="000000">
                <a:alpha val="84706"/>
              </a:srgbClr>
            </a:solidFill>
          </p:spPr>
        </p:sp>
        <p:sp>
          <p:nvSpPr>
            <p:cNvPr name="TextBox 5" id="5"/>
            <p:cNvSpPr txBox="true"/>
            <p:nvPr/>
          </p:nvSpPr>
          <p:spPr>
            <a:xfrm>
              <a:off x="0" y="-38100"/>
              <a:ext cx="4816593" cy="2747433"/>
            </a:xfrm>
            <a:prstGeom prst="rect">
              <a:avLst/>
            </a:prstGeom>
          </p:spPr>
          <p:txBody>
            <a:bodyPr anchor="ctr" rtlCol="false" tIns="50800" lIns="50800" bIns="50800" rIns="50800"/>
            <a:lstStyle/>
            <a:p>
              <a:pPr algn="ctr">
                <a:lnSpc>
                  <a:spcPts val="3111"/>
                </a:lnSpc>
              </a:pPr>
            </a:p>
          </p:txBody>
        </p:sp>
      </p:grpSp>
      <p:sp>
        <p:nvSpPr>
          <p:cNvPr name="Freeform 6" id="6"/>
          <p:cNvSpPr/>
          <p:nvPr/>
        </p:nvSpPr>
        <p:spPr>
          <a:xfrm flipH="false" flipV="false" rot="0">
            <a:off x="13727632" y="5538868"/>
            <a:ext cx="4697437" cy="4913254"/>
          </a:xfrm>
          <a:custGeom>
            <a:avLst/>
            <a:gdLst/>
            <a:ahLst/>
            <a:cxnLst/>
            <a:rect r="r" b="b" t="t" l="l"/>
            <a:pathLst>
              <a:path h="4913254" w="4697437">
                <a:moveTo>
                  <a:pt x="0" y="0"/>
                </a:moveTo>
                <a:lnTo>
                  <a:pt x="4697437" y="0"/>
                </a:lnTo>
                <a:lnTo>
                  <a:pt x="4697437" y="4913253"/>
                </a:lnTo>
                <a:lnTo>
                  <a:pt x="0" y="4913253"/>
                </a:lnTo>
                <a:lnTo>
                  <a:pt x="0" y="0"/>
                </a:lnTo>
                <a:close/>
              </a:path>
            </a:pathLst>
          </a:custGeom>
          <a:blipFill>
            <a:blip r:embed="rId3">
              <a:alphaModFix amt="74000"/>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1842905" y="200661"/>
            <a:ext cx="14602190" cy="828039"/>
          </a:xfrm>
          <a:prstGeom prst="rect">
            <a:avLst/>
          </a:prstGeom>
        </p:spPr>
        <p:txBody>
          <a:bodyPr anchor="t" rtlCol="false" tIns="0" lIns="0" bIns="0" rIns="0">
            <a:spAutoFit/>
          </a:bodyPr>
          <a:lstStyle/>
          <a:p>
            <a:pPr algn="ctr">
              <a:lnSpc>
                <a:spcPts val="6860"/>
              </a:lnSpc>
            </a:pPr>
            <a:r>
              <a:rPr lang="en-US" b="true" sz="4900">
                <a:solidFill>
                  <a:srgbClr val="FFFFFF"/>
                </a:solidFill>
                <a:latin typeface="Montserrat Bold"/>
                <a:ea typeface="Montserrat Bold"/>
                <a:cs typeface="Montserrat Bold"/>
                <a:sym typeface="Montserrat Bold"/>
              </a:rPr>
              <a:t>6.1 FLUJO DE CÁLCULO DE PROCESOS</a:t>
            </a:r>
          </a:p>
        </p:txBody>
      </p:sp>
      <p:sp>
        <p:nvSpPr>
          <p:cNvPr name="Freeform 8" id="8"/>
          <p:cNvSpPr/>
          <p:nvPr/>
        </p:nvSpPr>
        <p:spPr>
          <a:xfrm flipH="false" flipV="false" rot="-10800000">
            <a:off x="-116335" y="-82396"/>
            <a:ext cx="4697437" cy="4913254"/>
          </a:xfrm>
          <a:custGeom>
            <a:avLst/>
            <a:gdLst/>
            <a:ahLst/>
            <a:cxnLst/>
            <a:rect r="r" b="b" t="t" l="l"/>
            <a:pathLst>
              <a:path h="4913254" w="4697437">
                <a:moveTo>
                  <a:pt x="0" y="0"/>
                </a:moveTo>
                <a:lnTo>
                  <a:pt x="4697437" y="0"/>
                </a:lnTo>
                <a:lnTo>
                  <a:pt x="4697437" y="4913254"/>
                </a:lnTo>
                <a:lnTo>
                  <a:pt x="0" y="4913254"/>
                </a:lnTo>
                <a:lnTo>
                  <a:pt x="0" y="0"/>
                </a:lnTo>
                <a:close/>
              </a:path>
            </a:pathLst>
          </a:custGeom>
          <a:blipFill>
            <a:blip r:embed="rId3">
              <a:alphaModFix amt="74000"/>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3389259" y="1582483"/>
            <a:ext cx="11509482" cy="7912769"/>
          </a:xfrm>
          <a:custGeom>
            <a:avLst/>
            <a:gdLst/>
            <a:ahLst/>
            <a:cxnLst/>
            <a:rect r="r" b="b" t="t" l="l"/>
            <a:pathLst>
              <a:path h="7912769" w="11509482">
                <a:moveTo>
                  <a:pt x="0" y="0"/>
                </a:moveTo>
                <a:lnTo>
                  <a:pt x="11509482" y="0"/>
                </a:lnTo>
                <a:lnTo>
                  <a:pt x="11509482" y="7912769"/>
                </a:lnTo>
                <a:lnTo>
                  <a:pt x="0" y="7912769"/>
                </a:lnTo>
                <a:lnTo>
                  <a:pt x="0" y="0"/>
                </a:lnTo>
                <a:close/>
              </a:path>
            </a:pathLst>
          </a:custGeom>
          <a:blipFill>
            <a:blip r:embed="rId5"/>
            <a:stretch>
              <a:fillRect l="0" t="0" r="0" b="0"/>
            </a:stretch>
          </a:blipFill>
        </p:spPr>
      </p:sp>
    </p:spTree>
  </p:cSld>
  <p:clrMapOvr>
    <a:masterClrMapping/>
  </p:clrMapOvr>
</p:sld>
</file>

<file path=ppt/slides/slide2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5555" r="0" b="-5555"/>
            </a:stretch>
          </a:blipFill>
        </p:spPr>
      </p:sp>
      <p:grpSp>
        <p:nvGrpSpPr>
          <p:cNvPr name="Group 3" id="3"/>
          <p:cNvGrpSpPr/>
          <p:nvPr/>
        </p:nvGrpSpPr>
        <p:grpSpPr>
          <a:xfrm rot="0">
            <a:off x="0" y="0"/>
            <a:ext cx="18288000" cy="10287000"/>
            <a:chOff x="0" y="0"/>
            <a:chExt cx="4816593" cy="2709333"/>
          </a:xfrm>
        </p:grpSpPr>
        <p:sp>
          <p:nvSpPr>
            <p:cNvPr name="Freeform 4" id="4"/>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solidFill>
              <a:srgbClr val="000000">
                <a:alpha val="84706"/>
              </a:srgbClr>
            </a:solidFill>
          </p:spPr>
        </p:sp>
        <p:sp>
          <p:nvSpPr>
            <p:cNvPr name="TextBox 5" id="5"/>
            <p:cNvSpPr txBox="true"/>
            <p:nvPr/>
          </p:nvSpPr>
          <p:spPr>
            <a:xfrm>
              <a:off x="0" y="-38100"/>
              <a:ext cx="4816593" cy="2747433"/>
            </a:xfrm>
            <a:prstGeom prst="rect">
              <a:avLst/>
            </a:prstGeom>
          </p:spPr>
          <p:txBody>
            <a:bodyPr anchor="ctr" rtlCol="false" tIns="50800" lIns="50800" bIns="50800" rIns="50800"/>
            <a:lstStyle/>
            <a:p>
              <a:pPr algn="ctr">
                <a:lnSpc>
                  <a:spcPts val="3111"/>
                </a:lnSpc>
              </a:pPr>
              <a:r>
                <a:rPr lang="en-US" sz="2222">
                  <a:solidFill>
                    <a:srgbClr val="000000">
                      <a:alpha val="84706"/>
                    </a:srgbClr>
                  </a:solidFill>
                  <a:latin typeface="Prata"/>
                  <a:ea typeface="Prata"/>
                  <a:cs typeface="Prata"/>
                  <a:sym typeface="Prata"/>
                </a:rPr>
                <a:t>A diferencia de la Building Block View, que describe la estructura estática del sistema, la Runtime View se centra en el comportamiento dinámico del ERP AbogaTech en diferentes escenarios de ejecución.</a:t>
              </a:r>
            </a:p>
            <a:p>
              <a:pPr algn="ctr">
                <a:lnSpc>
                  <a:spcPts val="3111"/>
                </a:lnSpc>
              </a:pPr>
              <a:r>
                <a:rPr lang="en-US" sz="2222">
                  <a:solidFill>
                    <a:srgbClr val="000000">
                      <a:alpha val="84706"/>
                    </a:srgbClr>
                  </a:solidFill>
                  <a:latin typeface="Prata"/>
                  <a:ea typeface="Prata"/>
                  <a:cs typeface="Prata"/>
                  <a:sym typeface="Prata"/>
                </a:rPr>
                <a:t>Se presentan los principales flujos de ejecución del sistema, describiendo cómo interactúan los módulos entre sí para procesar las solicitudes de los usuarios.</a:t>
              </a:r>
            </a:p>
            <a:p>
              <a:pPr algn="ctr">
                <a:lnSpc>
                  <a:spcPts val="3111"/>
                </a:lnSpc>
              </a:pPr>
            </a:p>
          </p:txBody>
        </p:sp>
      </p:grpSp>
      <p:sp>
        <p:nvSpPr>
          <p:cNvPr name="Freeform 6" id="6"/>
          <p:cNvSpPr/>
          <p:nvPr/>
        </p:nvSpPr>
        <p:spPr>
          <a:xfrm flipH="false" flipV="false" rot="0">
            <a:off x="13727632" y="5538868"/>
            <a:ext cx="4697437" cy="4913254"/>
          </a:xfrm>
          <a:custGeom>
            <a:avLst/>
            <a:gdLst/>
            <a:ahLst/>
            <a:cxnLst/>
            <a:rect r="r" b="b" t="t" l="l"/>
            <a:pathLst>
              <a:path h="4913254" w="4697437">
                <a:moveTo>
                  <a:pt x="0" y="0"/>
                </a:moveTo>
                <a:lnTo>
                  <a:pt x="4697437" y="0"/>
                </a:lnTo>
                <a:lnTo>
                  <a:pt x="4697437" y="4913253"/>
                </a:lnTo>
                <a:lnTo>
                  <a:pt x="0" y="4913253"/>
                </a:lnTo>
                <a:lnTo>
                  <a:pt x="0" y="0"/>
                </a:lnTo>
                <a:close/>
              </a:path>
            </a:pathLst>
          </a:custGeom>
          <a:blipFill>
            <a:blip r:embed="rId3">
              <a:alphaModFix amt="74000"/>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2051252" y="4277361"/>
            <a:ext cx="14602190" cy="1111250"/>
          </a:xfrm>
          <a:prstGeom prst="rect">
            <a:avLst/>
          </a:prstGeom>
        </p:spPr>
        <p:txBody>
          <a:bodyPr anchor="t" rtlCol="false" tIns="0" lIns="0" bIns="0" rIns="0">
            <a:spAutoFit/>
          </a:bodyPr>
          <a:lstStyle/>
          <a:p>
            <a:pPr algn="ctr">
              <a:lnSpc>
                <a:spcPts val="9099"/>
              </a:lnSpc>
            </a:pPr>
            <a:r>
              <a:rPr lang="en-US" b="true" sz="6499">
                <a:solidFill>
                  <a:srgbClr val="FFFFFF"/>
                </a:solidFill>
                <a:latin typeface="Montserrat Bold"/>
                <a:ea typeface="Montserrat Bold"/>
                <a:cs typeface="Montserrat Bold"/>
                <a:sym typeface="Montserrat Bold"/>
              </a:rPr>
              <a:t>V.7 VISTA DE DESPLIEGUE</a:t>
            </a:r>
          </a:p>
        </p:txBody>
      </p:sp>
      <p:sp>
        <p:nvSpPr>
          <p:cNvPr name="Freeform 8" id="8"/>
          <p:cNvSpPr/>
          <p:nvPr/>
        </p:nvSpPr>
        <p:spPr>
          <a:xfrm flipH="false" flipV="false" rot="-10800000">
            <a:off x="-116335" y="-82396"/>
            <a:ext cx="4697437" cy="4913254"/>
          </a:xfrm>
          <a:custGeom>
            <a:avLst/>
            <a:gdLst/>
            <a:ahLst/>
            <a:cxnLst/>
            <a:rect r="r" b="b" t="t" l="l"/>
            <a:pathLst>
              <a:path h="4913254" w="4697437">
                <a:moveTo>
                  <a:pt x="0" y="0"/>
                </a:moveTo>
                <a:lnTo>
                  <a:pt x="4697437" y="0"/>
                </a:lnTo>
                <a:lnTo>
                  <a:pt x="4697437" y="4913254"/>
                </a:lnTo>
                <a:lnTo>
                  <a:pt x="0" y="4913254"/>
                </a:lnTo>
                <a:lnTo>
                  <a:pt x="0" y="0"/>
                </a:lnTo>
                <a:close/>
              </a:path>
            </a:pathLst>
          </a:custGeom>
          <a:blipFill>
            <a:blip r:embed="rId3">
              <a:alphaModFix amt="74000"/>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2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5555" r="0" b="-5555"/>
            </a:stretch>
          </a:blipFill>
        </p:spPr>
      </p:sp>
      <p:grpSp>
        <p:nvGrpSpPr>
          <p:cNvPr name="Group 3" id="3"/>
          <p:cNvGrpSpPr/>
          <p:nvPr/>
        </p:nvGrpSpPr>
        <p:grpSpPr>
          <a:xfrm rot="0">
            <a:off x="0" y="-82396"/>
            <a:ext cx="18288000" cy="10287000"/>
            <a:chOff x="0" y="0"/>
            <a:chExt cx="4816593" cy="2709333"/>
          </a:xfrm>
        </p:grpSpPr>
        <p:sp>
          <p:nvSpPr>
            <p:cNvPr name="Freeform 4" id="4"/>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solidFill>
              <a:srgbClr val="000000">
                <a:alpha val="84706"/>
              </a:srgbClr>
            </a:solidFill>
          </p:spPr>
        </p:sp>
        <p:sp>
          <p:nvSpPr>
            <p:cNvPr name="TextBox 5" id="5"/>
            <p:cNvSpPr txBox="true"/>
            <p:nvPr/>
          </p:nvSpPr>
          <p:spPr>
            <a:xfrm>
              <a:off x="0" y="-38100"/>
              <a:ext cx="4816593" cy="2747433"/>
            </a:xfrm>
            <a:prstGeom prst="rect">
              <a:avLst/>
            </a:prstGeom>
          </p:spPr>
          <p:txBody>
            <a:bodyPr anchor="ctr" rtlCol="false" tIns="50800" lIns="50800" bIns="50800" rIns="50800"/>
            <a:lstStyle/>
            <a:p>
              <a:pPr algn="ctr">
                <a:lnSpc>
                  <a:spcPts val="3111"/>
                </a:lnSpc>
              </a:pPr>
            </a:p>
          </p:txBody>
        </p:sp>
      </p:grpSp>
      <p:sp>
        <p:nvSpPr>
          <p:cNvPr name="Freeform 6" id="6"/>
          <p:cNvSpPr/>
          <p:nvPr/>
        </p:nvSpPr>
        <p:spPr>
          <a:xfrm flipH="false" flipV="false" rot="0">
            <a:off x="13727632" y="5538868"/>
            <a:ext cx="4697437" cy="4913254"/>
          </a:xfrm>
          <a:custGeom>
            <a:avLst/>
            <a:gdLst/>
            <a:ahLst/>
            <a:cxnLst/>
            <a:rect r="r" b="b" t="t" l="l"/>
            <a:pathLst>
              <a:path h="4913254" w="4697437">
                <a:moveTo>
                  <a:pt x="0" y="0"/>
                </a:moveTo>
                <a:lnTo>
                  <a:pt x="4697437" y="0"/>
                </a:lnTo>
                <a:lnTo>
                  <a:pt x="4697437" y="4913253"/>
                </a:lnTo>
                <a:lnTo>
                  <a:pt x="0" y="4913253"/>
                </a:lnTo>
                <a:lnTo>
                  <a:pt x="0" y="0"/>
                </a:lnTo>
                <a:close/>
              </a:path>
            </a:pathLst>
          </a:custGeom>
          <a:blipFill>
            <a:blip r:embed="rId3">
              <a:alphaModFix amt="74000"/>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1842905" y="200661"/>
            <a:ext cx="14602190" cy="1694814"/>
          </a:xfrm>
          <a:prstGeom prst="rect">
            <a:avLst/>
          </a:prstGeom>
        </p:spPr>
        <p:txBody>
          <a:bodyPr anchor="t" rtlCol="false" tIns="0" lIns="0" bIns="0" rIns="0">
            <a:spAutoFit/>
          </a:bodyPr>
          <a:lstStyle/>
          <a:p>
            <a:pPr algn="ctr">
              <a:lnSpc>
                <a:spcPts val="6860"/>
              </a:lnSpc>
            </a:pPr>
            <a:r>
              <a:rPr lang="en-US" b="true" sz="4900">
                <a:solidFill>
                  <a:srgbClr val="FFFFFF"/>
                </a:solidFill>
                <a:latin typeface="Montserrat Bold"/>
                <a:ea typeface="Montserrat Bold"/>
                <a:cs typeface="Montserrat Bold"/>
                <a:sym typeface="Montserrat Bold"/>
              </a:rPr>
              <a:t>7.1 INFRAESTRUCTURA LOCAL DE DESARROLLO</a:t>
            </a:r>
          </a:p>
        </p:txBody>
      </p:sp>
      <p:sp>
        <p:nvSpPr>
          <p:cNvPr name="Freeform 8" id="8"/>
          <p:cNvSpPr/>
          <p:nvPr/>
        </p:nvSpPr>
        <p:spPr>
          <a:xfrm flipH="false" flipV="false" rot="-10800000">
            <a:off x="-116335" y="-82396"/>
            <a:ext cx="4697437" cy="4913254"/>
          </a:xfrm>
          <a:custGeom>
            <a:avLst/>
            <a:gdLst/>
            <a:ahLst/>
            <a:cxnLst/>
            <a:rect r="r" b="b" t="t" l="l"/>
            <a:pathLst>
              <a:path h="4913254" w="4697437">
                <a:moveTo>
                  <a:pt x="0" y="0"/>
                </a:moveTo>
                <a:lnTo>
                  <a:pt x="4697437" y="0"/>
                </a:lnTo>
                <a:lnTo>
                  <a:pt x="4697437" y="4913254"/>
                </a:lnTo>
                <a:lnTo>
                  <a:pt x="0" y="4913254"/>
                </a:lnTo>
                <a:lnTo>
                  <a:pt x="0" y="0"/>
                </a:lnTo>
                <a:close/>
              </a:path>
            </a:pathLst>
          </a:custGeom>
          <a:blipFill>
            <a:blip r:embed="rId3">
              <a:alphaModFix amt="74000"/>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2233551" y="3655838"/>
            <a:ext cx="14211544" cy="3766059"/>
          </a:xfrm>
          <a:custGeom>
            <a:avLst/>
            <a:gdLst/>
            <a:ahLst/>
            <a:cxnLst/>
            <a:rect r="r" b="b" t="t" l="l"/>
            <a:pathLst>
              <a:path h="3766059" w="14211544">
                <a:moveTo>
                  <a:pt x="0" y="0"/>
                </a:moveTo>
                <a:lnTo>
                  <a:pt x="14211544" y="0"/>
                </a:lnTo>
                <a:lnTo>
                  <a:pt x="14211544" y="3766059"/>
                </a:lnTo>
                <a:lnTo>
                  <a:pt x="0" y="3766059"/>
                </a:lnTo>
                <a:lnTo>
                  <a:pt x="0" y="0"/>
                </a:lnTo>
                <a:close/>
              </a:path>
            </a:pathLst>
          </a:custGeom>
          <a:blipFill>
            <a:blip r:embed="rId5"/>
            <a:stretch>
              <a:fillRect l="0" t="0" r="0" b="0"/>
            </a:stretch>
          </a:blipFill>
        </p:spPr>
      </p:sp>
    </p:spTree>
  </p:cSld>
  <p:clrMapOvr>
    <a:masterClrMapping/>
  </p:clrMapOvr>
</p:sld>
</file>

<file path=ppt/slides/slide2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5555" r="0" b="-5555"/>
            </a:stretch>
          </a:blipFill>
        </p:spPr>
      </p:sp>
      <p:grpSp>
        <p:nvGrpSpPr>
          <p:cNvPr name="Group 3" id="3"/>
          <p:cNvGrpSpPr/>
          <p:nvPr/>
        </p:nvGrpSpPr>
        <p:grpSpPr>
          <a:xfrm rot="0">
            <a:off x="0" y="0"/>
            <a:ext cx="18288000" cy="10287000"/>
            <a:chOff x="0" y="0"/>
            <a:chExt cx="4816593" cy="2709333"/>
          </a:xfrm>
        </p:grpSpPr>
        <p:sp>
          <p:nvSpPr>
            <p:cNvPr name="Freeform 4" id="4"/>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solidFill>
              <a:srgbClr val="000000">
                <a:alpha val="84706"/>
              </a:srgbClr>
            </a:solidFill>
          </p:spPr>
        </p:sp>
        <p:sp>
          <p:nvSpPr>
            <p:cNvPr name="TextBox 5" id="5"/>
            <p:cNvSpPr txBox="true"/>
            <p:nvPr/>
          </p:nvSpPr>
          <p:spPr>
            <a:xfrm>
              <a:off x="0" y="-38100"/>
              <a:ext cx="4816593" cy="2747433"/>
            </a:xfrm>
            <a:prstGeom prst="rect">
              <a:avLst/>
            </a:prstGeom>
          </p:spPr>
          <p:txBody>
            <a:bodyPr anchor="ctr" rtlCol="false" tIns="50800" lIns="50800" bIns="50800" rIns="50800"/>
            <a:lstStyle/>
            <a:p>
              <a:pPr algn="ctr">
                <a:lnSpc>
                  <a:spcPts val="3111"/>
                </a:lnSpc>
              </a:pPr>
            </a:p>
          </p:txBody>
        </p:sp>
      </p:grpSp>
      <p:sp>
        <p:nvSpPr>
          <p:cNvPr name="Freeform 6" id="6"/>
          <p:cNvSpPr/>
          <p:nvPr/>
        </p:nvSpPr>
        <p:spPr>
          <a:xfrm flipH="false" flipV="false" rot="0">
            <a:off x="13727632" y="5538868"/>
            <a:ext cx="4697437" cy="4913254"/>
          </a:xfrm>
          <a:custGeom>
            <a:avLst/>
            <a:gdLst/>
            <a:ahLst/>
            <a:cxnLst/>
            <a:rect r="r" b="b" t="t" l="l"/>
            <a:pathLst>
              <a:path h="4913254" w="4697437">
                <a:moveTo>
                  <a:pt x="0" y="0"/>
                </a:moveTo>
                <a:lnTo>
                  <a:pt x="4697437" y="0"/>
                </a:lnTo>
                <a:lnTo>
                  <a:pt x="4697437" y="4913253"/>
                </a:lnTo>
                <a:lnTo>
                  <a:pt x="0" y="4913253"/>
                </a:lnTo>
                <a:lnTo>
                  <a:pt x="0" y="0"/>
                </a:lnTo>
                <a:close/>
              </a:path>
            </a:pathLst>
          </a:custGeom>
          <a:blipFill>
            <a:blip r:embed="rId3">
              <a:alphaModFix amt="74000"/>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1842905" y="200661"/>
            <a:ext cx="14602190" cy="828039"/>
          </a:xfrm>
          <a:prstGeom prst="rect">
            <a:avLst/>
          </a:prstGeom>
        </p:spPr>
        <p:txBody>
          <a:bodyPr anchor="t" rtlCol="false" tIns="0" lIns="0" bIns="0" rIns="0">
            <a:spAutoFit/>
          </a:bodyPr>
          <a:lstStyle/>
          <a:p>
            <a:pPr algn="ctr">
              <a:lnSpc>
                <a:spcPts val="6860"/>
              </a:lnSpc>
            </a:pPr>
            <a:r>
              <a:rPr lang="en-US" b="true" sz="4900">
                <a:solidFill>
                  <a:srgbClr val="FFFFFF"/>
                </a:solidFill>
                <a:latin typeface="Montserrat Bold"/>
                <a:ea typeface="Montserrat Bold"/>
                <a:cs typeface="Montserrat Bold"/>
                <a:sym typeface="Montserrat Bold"/>
              </a:rPr>
              <a:t>7.2 INFRAESTRUCTURA DE PRODUCCIÓN</a:t>
            </a:r>
          </a:p>
        </p:txBody>
      </p:sp>
      <p:sp>
        <p:nvSpPr>
          <p:cNvPr name="Freeform 8" id="8"/>
          <p:cNvSpPr/>
          <p:nvPr/>
        </p:nvSpPr>
        <p:spPr>
          <a:xfrm flipH="false" flipV="false" rot="-10800000">
            <a:off x="-116335" y="-82396"/>
            <a:ext cx="4697437" cy="4913254"/>
          </a:xfrm>
          <a:custGeom>
            <a:avLst/>
            <a:gdLst/>
            <a:ahLst/>
            <a:cxnLst/>
            <a:rect r="r" b="b" t="t" l="l"/>
            <a:pathLst>
              <a:path h="4913254" w="4697437">
                <a:moveTo>
                  <a:pt x="0" y="0"/>
                </a:moveTo>
                <a:lnTo>
                  <a:pt x="4697437" y="0"/>
                </a:lnTo>
                <a:lnTo>
                  <a:pt x="4697437" y="4913254"/>
                </a:lnTo>
                <a:lnTo>
                  <a:pt x="0" y="4913254"/>
                </a:lnTo>
                <a:lnTo>
                  <a:pt x="0" y="0"/>
                </a:lnTo>
                <a:close/>
              </a:path>
            </a:pathLst>
          </a:custGeom>
          <a:blipFill>
            <a:blip r:embed="rId3">
              <a:alphaModFix amt="74000"/>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5281342" y="1298791"/>
            <a:ext cx="8044431" cy="8368719"/>
          </a:xfrm>
          <a:custGeom>
            <a:avLst/>
            <a:gdLst/>
            <a:ahLst/>
            <a:cxnLst/>
            <a:rect r="r" b="b" t="t" l="l"/>
            <a:pathLst>
              <a:path h="8368719" w="8044431">
                <a:moveTo>
                  <a:pt x="0" y="0"/>
                </a:moveTo>
                <a:lnTo>
                  <a:pt x="8044431" y="0"/>
                </a:lnTo>
                <a:lnTo>
                  <a:pt x="8044431" y="8368719"/>
                </a:lnTo>
                <a:lnTo>
                  <a:pt x="0" y="8368719"/>
                </a:lnTo>
                <a:lnTo>
                  <a:pt x="0" y="0"/>
                </a:lnTo>
                <a:close/>
              </a:path>
            </a:pathLst>
          </a:custGeom>
          <a:blipFill>
            <a:blip r:embed="rId5"/>
            <a:stretch>
              <a:fillRect l="0" t="0" r="0" b="0"/>
            </a:stretch>
          </a:blipFill>
        </p:spPr>
      </p:sp>
    </p:spTree>
  </p:cSld>
  <p:clrMapOvr>
    <a:masterClrMapping/>
  </p:clrMapOvr>
</p:sld>
</file>

<file path=ppt/slides/slide2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5555" r="0" b="-5555"/>
            </a:stretch>
          </a:blipFill>
        </p:spPr>
      </p:sp>
      <p:grpSp>
        <p:nvGrpSpPr>
          <p:cNvPr name="Group 3" id="3"/>
          <p:cNvGrpSpPr/>
          <p:nvPr/>
        </p:nvGrpSpPr>
        <p:grpSpPr>
          <a:xfrm rot="0">
            <a:off x="0" y="0"/>
            <a:ext cx="18288000" cy="10287000"/>
            <a:chOff x="0" y="0"/>
            <a:chExt cx="4816593" cy="2709333"/>
          </a:xfrm>
        </p:grpSpPr>
        <p:sp>
          <p:nvSpPr>
            <p:cNvPr name="Freeform 4" id="4"/>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solidFill>
              <a:srgbClr val="000000">
                <a:alpha val="84706"/>
              </a:srgbClr>
            </a:solidFill>
          </p:spPr>
        </p:sp>
        <p:sp>
          <p:nvSpPr>
            <p:cNvPr name="TextBox 5" id="5"/>
            <p:cNvSpPr txBox="true"/>
            <p:nvPr/>
          </p:nvSpPr>
          <p:spPr>
            <a:xfrm>
              <a:off x="0" y="-38100"/>
              <a:ext cx="4816593" cy="2747433"/>
            </a:xfrm>
            <a:prstGeom prst="rect">
              <a:avLst/>
            </a:prstGeom>
          </p:spPr>
          <p:txBody>
            <a:bodyPr anchor="ctr" rtlCol="false" tIns="50800" lIns="50800" bIns="50800" rIns="50800"/>
            <a:lstStyle/>
            <a:p>
              <a:pPr algn="ctr">
                <a:lnSpc>
                  <a:spcPts val="3111"/>
                </a:lnSpc>
              </a:pPr>
              <a:r>
                <a:rPr lang="en-US" sz="2222">
                  <a:solidFill>
                    <a:srgbClr val="000000">
                      <a:alpha val="84706"/>
                    </a:srgbClr>
                  </a:solidFill>
                  <a:latin typeface="Prata"/>
                  <a:ea typeface="Prata"/>
                  <a:cs typeface="Prata"/>
                  <a:sym typeface="Prata"/>
                </a:rPr>
                <a:t>A diferencia de la Building Block View, que describe la estructura estática del sistema, la Runtime View se centra en el comportamiento dinámico del ERP AbogaTech en diferentes escenarios de ejecución.</a:t>
              </a:r>
            </a:p>
            <a:p>
              <a:pPr algn="ctr">
                <a:lnSpc>
                  <a:spcPts val="3111"/>
                </a:lnSpc>
              </a:pPr>
              <a:r>
                <a:rPr lang="en-US" sz="2222">
                  <a:solidFill>
                    <a:srgbClr val="000000">
                      <a:alpha val="84706"/>
                    </a:srgbClr>
                  </a:solidFill>
                  <a:latin typeface="Prata"/>
                  <a:ea typeface="Prata"/>
                  <a:cs typeface="Prata"/>
                  <a:sym typeface="Prata"/>
                </a:rPr>
                <a:t>Se presentan los principales flujos de ejecución del sistema, describiendo cómo interactúan los módulos entre sí para procesar las solicitudes de los usuarios.</a:t>
              </a:r>
            </a:p>
            <a:p>
              <a:pPr algn="ctr">
                <a:lnSpc>
                  <a:spcPts val="3111"/>
                </a:lnSpc>
              </a:pPr>
            </a:p>
          </p:txBody>
        </p:sp>
      </p:grpSp>
      <p:sp>
        <p:nvSpPr>
          <p:cNvPr name="Freeform 6" id="6"/>
          <p:cNvSpPr/>
          <p:nvPr/>
        </p:nvSpPr>
        <p:spPr>
          <a:xfrm flipH="false" flipV="false" rot="0">
            <a:off x="13727632" y="5538868"/>
            <a:ext cx="4697437" cy="4913254"/>
          </a:xfrm>
          <a:custGeom>
            <a:avLst/>
            <a:gdLst/>
            <a:ahLst/>
            <a:cxnLst/>
            <a:rect r="r" b="b" t="t" l="l"/>
            <a:pathLst>
              <a:path h="4913254" w="4697437">
                <a:moveTo>
                  <a:pt x="0" y="0"/>
                </a:moveTo>
                <a:lnTo>
                  <a:pt x="4697437" y="0"/>
                </a:lnTo>
                <a:lnTo>
                  <a:pt x="4697437" y="4913253"/>
                </a:lnTo>
                <a:lnTo>
                  <a:pt x="0" y="4913253"/>
                </a:lnTo>
                <a:lnTo>
                  <a:pt x="0" y="0"/>
                </a:lnTo>
                <a:close/>
              </a:path>
            </a:pathLst>
          </a:custGeom>
          <a:blipFill>
            <a:blip r:embed="rId3">
              <a:alphaModFix amt="74000"/>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2051252" y="4277361"/>
            <a:ext cx="14602190" cy="2263775"/>
          </a:xfrm>
          <a:prstGeom prst="rect">
            <a:avLst/>
          </a:prstGeom>
        </p:spPr>
        <p:txBody>
          <a:bodyPr anchor="t" rtlCol="false" tIns="0" lIns="0" bIns="0" rIns="0">
            <a:spAutoFit/>
          </a:bodyPr>
          <a:lstStyle/>
          <a:p>
            <a:pPr algn="ctr">
              <a:lnSpc>
                <a:spcPts val="9099"/>
              </a:lnSpc>
            </a:pPr>
            <a:r>
              <a:rPr lang="en-US" b="true" sz="6499">
                <a:solidFill>
                  <a:srgbClr val="FFFFFF"/>
                </a:solidFill>
                <a:latin typeface="Montserrat Bold"/>
                <a:ea typeface="Montserrat Bold"/>
                <a:cs typeface="Montserrat Bold"/>
                <a:sym typeface="Montserrat Bold"/>
              </a:rPr>
              <a:t>V.8 CONCEPTOS TÉCNICOS Y TRANSVERSALES</a:t>
            </a:r>
          </a:p>
        </p:txBody>
      </p:sp>
      <p:sp>
        <p:nvSpPr>
          <p:cNvPr name="Freeform 8" id="8"/>
          <p:cNvSpPr/>
          <p:nvPr/>
        </p:nvSpPr>
        <p:spPr>
          <a:xfrm flipH="false" flipV="false" rot="-10800000">
            <a:off x="-116335" y="-82396"/>
            <a:ext cx="4697437" cy="4913254"/>
          </a:xfrm>
          <a:custGeom>
            <a:avLst/>
            <a:gdLst/>
            <a:ahLst/>
            <a:cxnLst/>
            <a:rect r="r" b="b" t="t" l="l"/>
            <a:pathLst>
              <a:path h="4913254" w="4697437">
                <a:moveTo>
                  <a:pt x="0" y="0"/>
                </a:moveTo>
                <a:lnTo>
                  <a:pt x="4697437" y="0"/>
                </a:lnTo>
                <a:lnTo>
                  <a:pt x="4697437" y="4913254"/>
                </a:lnTo>
                <a:lnTo>
                  <a:pt x="0" y="4913254"/>
                </a:lnTo>
                <a:lnTo>
                  <a:pt x="0" y="0"/>
                </a:lnTo>
                <a:close/>
              </a:path>
            </a:pathLst>
          </a:custGeom>
          <a:blipFill>
            <a:blip r:embed="rId3">
              <a:alphaModFix amt="74000"/>
              <a:extLst>
                <a:ext uri="{96DAC541-7B7A-43D3-8B79-37D633B846F1}">
                  <asvg:svgBlip xmlns:asvg="http://schemas.microsoft.com/office/drawing/2016/SVG/main" r:embed="rId4"/>
                </a:ext>
              </a:extLst>
            </a:blip>
            <a:stretch>
              <a:fillRect l="0" t="0" r="0" b="0"/>
            </a:stretch>
          </a:blipFill>
        </p:spPr>
      </p:sp>
    </p:spTree>
  </p:cSld>
  <p:clrMapOvr>
    <a:masterClrMapping/>
  </p:clrMapOvr>
</p:sld>
</file>

<file path=ppt/slides/slide3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5555" r="0" b="-5555"/>
            </a:stretch>
          </a:blipFill>
        </p:spPr>
      </p:sp>
      <p:grpSp>
        <p:nvGrpSpPr>
          <p:cNvPr name="Group 3" id="3"/>
          <p:cNvGrpSpPr/>
          <p:nvPr/>
        </p:nvGrpSpPr>
        <p:grpSpPr>
          <a:xfrm rot="0">
            <a:off x="0" y="0"/>
            <a:ext cx="18288000" cy="10287000"/>
            <a:chOff x="0" y="0"/>
            <a:chExt cx="4816593" cy="2709333"/>
          </a:xfrm>
        </p:grpSpPr>
        <p:sp>
          <p:nvSpPr>
            <p:cNvPr name="Freeform 4" id="4"/>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solidFill>
              <a:srgbClr val="000000">
                <a:alpha val="84706"/>
              </a:srgbClr>
            </a:solidFill>
          </p:spPr>
        </p:sp>
        <p:sp>
          <p:nvSpPr>
            <p:cNvPr name="TextBox 5" id="5"/>
            <p:cNvSpPr txBox="true"/>
            <p:nvPr/>
          </p:nvSpPr>
          <p:spPr>
            <a:xfrm>
              <a:off x="0" y="-38100"/>
              <a:ext cx="4816593" cy="2747433"/>
            </a:xfrm>
            <a:prstGeom prst="rect">
              <a:avLst/>
            </a:prstGeom>
          </p:spPr>
          <p:txBody>
            <a:bodyPr anchor="ctr" rtlCol="false" tIns="50800" lIns="50800" bIns="50800" rIns="50800"/>
            <a:lstStyle/>
            <a:p>
              <a:pPr algn="ctr">
                <a:lnSpc>
                  <a:spcPts val="3111"/>
                </a:lnSpc>
              </a:pPr>
            </a:p>
          </p:txBody>
        </p:sp>
      </p:grpSp>
      <p:sp>
        <p:nvSpPr>
          <p:cNvPr name="Freeform 6" id="6"/>
          <p:cNvSpPr/>
          <p:nvPr/>
        </p:nvSpPr>
        <p:spPr>
          <a:xfrm flipH="false" flipV="false" rot="0">
            <a:off x="13727632" y="5538868"/>
            <a:ext cx="4697437" cy="4913254"/>
          </a:xfrm>
          <a:custGeom>
            <a:avLst/>
            <a:gdLst/>
            <a:ahLst/>
            <a:cxnLst/>
            <a:rect r="r" b="b" t="t" l="l"/>
            <a:pathLst>
              <a:path h="4913254" w="4697437">
                <a:moveTo>
                  <a:pt x="0" y="0"/>
                </a:moveTo>
                <a:lnTo>
                  <a:pt x="4697437" y="0"/>
                </a:lnTo>
                <a:lnTo>
                  <a:pt x="4697437" y="4913253"/>
                </a:lnTo>
                <a:lnTo>
                  <a:pt x="0" y="4913253"/>
                </a:lnTo>
                <a:lnTo>
                  <a:pt x="0" y="0"/>
                </a:lnTo>
                <a:close/>
              </a:path>
            </a:pathLst>
          </a:custGeom>
          <a:blipFill>
            <a:blip r:embed="rId3">
              <a:alphaModFix amt="74000"/>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1842905" y="200661"/>
            <a:ext cx="14602190" cy="1694814"/>
          </a:xfrm>
          <a:prstGeom prst="rect">
            <a:avLst/>
          </a:prstGeom>
        </p:spPr>
        <p:txBody>
          <a:bodyPr anchor="t" rtlCol="false" tIns="0" lIns="0" bIns="0" rIns="0">
            <a:spAutoFit/>
          </a:bodyPr>
          <a:lstStyle/>
          <a:p>
            <a:pPr algn="ctr">
              <a:lnSpc>
                <a:spcPts val="6860"/>
              </a:lnSpc>
            </a:pPr>
            <a:r>
              <a:rPr lang="en-US" b="true" sz="4900">
                <a:solidFill>
                  <a:srgbClr val="FFFFFF"/>
                </a:solidFill>
                <a:latin typeface="Montserrat Bold"/>
                <a:ea typeface="Montserrat Bold"/>
                <a:cs typeface="Montserrat Bold"/>
                <a:sym typeface="Montserrat Bold"/>
              </a:rPr>
              <a:t>8.1 DEPENDENCIAS ENTRE MÓDULOS</a:t>
            </a:r>
          </a:p>
          <a:p>
            <a:pPr algn="ctr">
              <a:lnSpc>
                <a:spcPts val="6860"/>
              </a:lnSpc>
            </a:pPr>
          </a:p>
        </p:txBody>
      </p:sp>
      <p:sp>
        <p:nvSpPr>
          <p:cNvPr name="Freeform 8" id="8"/>
          <p:cNvSpPr/>
          <p:nvPr/>
        </p:nvSpPr>
        <p:spPr>
          <a:xfrm flipH="false" flipV="false" rot="-10800000">
            <a:off x="-116335" y="-82396"/>
            <a:ext cx="4697437" cy="4913254"/>
          </a:xfrm>
          <a:custGeom>
            <a:avLst/>
            <a:gdLst/>
            <a:ahLst/>
            <a:cxnLst/>
            <a:rect r="r" b="b" t="t" l="l"/>
            <a:pathLst>
              <a:path h="4913254" w="4697437">
                <a:moveTo>
                  <a:pt x="0" y="0"/>
                </a:moveTo>
                <a:lnTo>
                  <a:pt x="4697437" y="0"/>
                </a:lnTo>
                <a:lnTo>
                  <a:pt x="4697437" y="4913254"/>
                </a:lnTo>
                <a:lnTo>
                  <a:pt x="0" y="4913254"/>
                </a:lnTo>
                <a:lnTo>
                  <a:pt x="0" y="0"/>
                </a:lnTo>
                <a:close/>
              </a:path>
            </a:pathLst>
          </a:custGeom>
          <a:blipFill>
            <a:blip r:embed="rId3">
              <a:alphaModFix amt="74000"/>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4606229" y="1597007"/>
            <a:ext cx="9075543" cy="8445505"/>
          </a:xfrm>
          <a:custGeom>
            <a:avLst/>
            <a:gdLst/>
            <a:ahLst/>
            <a:cxnLst/>
            <a:rect r="r" b="b" t="t" l="l"/>
            <a:pathLst>
              <a:path h="8445505" w="9075543">
                <a:moveTo>
                  <a:pt x="0" y="0"/>
                </a:moveTo>
                <a:lnTo>
                  <a:pt x="9075542" y="0"/>
                </a:lnTo>
                <a:lnTo>
                  <a:pt x="9075542" y="8445505"/>
                </a:lnTo>
                <a:lnTo>
                  <a:pt x="0" y="8445505"/>
                </a:lnTo>
                <a:lnTo>
                  <a:pt x="0" y="0"/>
                </a:lnTo>
                <a:close/>
              </a:path>
            </a:pathLst>
          </a:custGeom>
          <a:blipFill>
            <a:blip r:embed="rId5"/>
            <a:stretch>
              <a:fillRect l="0" t="0" r="0" b="0"/>
            </a:stretch>
          </a:blipFill>
        </p:spPr>
      </p:sp>
    </p:spTree>
  </p:cSld>
  <p:clrMapOvr>
    <a:masterClrMapping/>
  </p:clrMapOvr>
</p:sld>
</file>

<file path=ppt/slides/slide3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5555" r="0" b="-5555"/>
            </a:stretch>
          </a:blipFill>
        </p:spPr>
      </p:sp>
      <p:grpSp>
        <p:nvGrpSpPr>
          <p:cNvPr name="Group 3" id="3"/>
          <p:cNvGrpSpPr/>
          <p:nvPr/>
        </p:nvGrpSpPr>
        <p:grpSpPr>
          <a:xfrm rot="0">
            <a:off x="0" y="0"/>
            <a:ext cx="18288000" cy="10287000"/>
            <a:chOff x="0" y="0"/>
            <a:chExt cx="4816593" cy="2709333"/>
          </a:xfrm>
        </p:grpSpPr>
        <p:sp>
          <p:nvSpPr>
            <p:cNvPr name="Freeform 4" id="4"/>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solidFill>
              <a:srgbClr val="000000">
                <a:alpha val="84706"/>
              </a:srgbClr>
            </a:solidFill>
          </p:spPr>
        </p:sp>
        <p:sp>
          <p:nvSpPr>
            <p:cNvPr name="TextBox 5" id="5"/>
            <p:cNvSpPr txBox="true"/>
            <p:nvPr/>
          </p:nvSpPr>
          <p:spPr>
            <a:xfrm>
              <a:off x="0" y="-38100"/>
              <a:ext cx="4816593" cy="2747433"/>
            </a:xfrm>
            <a:prstGeom prst="rect">
              <a:avLst/>
            </a:prstGeom>
          </p:spPr>
          <p:txBody>
            <a:bodyPr anchor="ctr" rtlCol="false" tIns="50800" lIns="50800" bIns="50800" rIns="50800"/>
            <a:lstStyle/>
            <a:p>
              <a:pPr algn="ctr">
                <a:lnSpc>
                  <a:spcPts val="3111"/>
                </a:lnSpc>
              </a:pPr>
            </a:p>
          </p:txBody>
        </p:sp>
      </p:grpSp>
      <p:sp>
        <p:nvSpPr>
          <p:cNvPr name="Freeform 6" id="6"/>
          <p:cNvSpPr/>
          <p:nvPr/>
        </p:nvSpPr>
        <p:spPr>
          <a:xfrm flipH="false" flipV="false" rot="0">
            <a:off x="13727632" y="5538868"/>
            <a:ext cx="4697437" cy="4913254"/>
          </a:xfrm>
          <a:custGeom>
            <a:avLst/>
            <a:gdLst/>
            <a:ahLst/>
            <a:cxnLst/>
            <a:rect r="r" b="b" t="t" l="l"/>
            <a:pathLst>
              <a:path h="4913254" w="4697437">
                <a:moveTo>
                  <a:pt x="0" y="0"/>
                </a:moveTo>
                <a:lnTo>
                  <a:pt x="4697437" y="0"/>
                </a:lnTo>
                <a:lnTo>
                  <a:pt x="4697437" y="4913253"/>
                </a:lnTo>
                <a:lnTo>
                  <a:pt x="0" y="4913253"/>
                </a:lnTo>
                <a:lnTo>
                  <a:pt x="0" y="0"/>
                </a:lnTo>
                <a:close/>
              </a:path>
            </a:pathLst>
          </a:custGeom>
          <a:blipFill>
            <a:blip r:embed="rId3">
              <a:alphaModFix amt="74000"/>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1842905" y="200661"/>
            <a:ext cx="14602190" cy="1694814"/>
          </a:xfrm>
          <a:prstGeom prst="rect">
            <a:avLst/>
          </a:prstGeom>
        </p:spPr>
        <p:txBody>
          <a:bodyPr anchor="t" rtlCol="false" tIns="0" lIns="0" bIns="0" rIns="0">
            <a:spAutoFit/>
          </a:bodyPr>
          <a:lstStyle/>
          <a:p>
            <a:pPr algn="ctr">
              <a:lnSpc>
                <a:spcPts val="6860"/>
              </a:lnSpc>
            </a:pPr>
            <a:r>
              <a:rPr lang="en-US" b="true" sz="4900">
                <a:solidFill>
                  <a:srgbClr val="FFFFFF"/>
                </a:solidFill>
                <a:latin typeface="Montserrat Bold"/>
                <a:ea typeface="Montserrat Bold"/>
                <a:cs typeface="Montserrat Bold"/>
                <a:sym typeface="Montserrat Bold"/>
              </a:rPr>
              <a:t>8.2 MODELO DE DOMINIO</a:t>
            </a:r>
          </a:p>
          <a:p>
            <a:pPr algn="ctr">
              <a:lnSpc>
                <a:spcPts val="6860"/>
              </a:lnSpc>
            </a:pPr>
          </a:p>
        </p:txBody>
      </p:sp>
      <p:sp>
        <p:nvSpPr>
          <p:cNvPr name="Freeform 8" id="8"/>
          <p:cNvSpPr/>
          <p:nvPr/>
        </p:nvSpPr>
        <p:spPr>
          <a:xfrm flipH="false" flipV="false" rot="-10800000">
            <a:off x="-116335" y="-82396"/>
            <a:ext cx="4697437" cy="4913254"/>
          </a:xfrm>
          <a:custGeom>
            <a:avLst/>
            <a:gdLst/>
            <a:ahLst/>
            <a:cxnLst/>
            <a:rect r="r" b="b" t="t" l="l"/>
            <a:pathLst>
              <a:path h="4913254" w="4697437">
                <a:moveTo>
                  <a:pt x="0" y="0"/>
                </a:moveTo>
                <a:lnTo>
                  <a:pt x="4697437" y="0"/>
                </a:lnTo>
                <a:lnTo>
                  <a:pt x="4697437" y="4913254"/>
                </a:lnTo>
                <a:lnTo>
                  <a:pt x="0" y="4913254"/>
                </a:lnTo>
                <a:lnTo>
                  <a:pt x="0" y="0"/>
                </a:lnTo>
                <a:close/>
              </a:path>
            </a:pathLst>
          </a:custGeom>
          <a:blipFill>
            <a:blip r:embed="rId3">
              <a:alphaModFix amt="74000"/>
              <a:extLst>
                <a:ext uri="{96DAC541-7B7A-43D3-8B79-37D633B846F1}">
                  <asvg:svgBlip xmlns:asvg="http://schemas.microsoft.com/office/drawing/2016/SVG/main" r:embed="rId4"/>
                </a:ext>
              </a:extLst>
            </a:blip>
            <a:stretch>
              <a:fillRect l="0" t="0" r="0" b="0"/>
            </a:stretch>
          </a:blipFill>
        </p:spPr>
      </p:sp>
      <p:sp>
        <p:nvSpPr>
          <p:cNvPr name="Freeform 9" id="9"/>
          <p:cNvSpPr/>
          <p:nvPr/>
        </p:nvSpPr>
        <p:spPr>
          <a:xfrm flipH="false" flipV="false" rot="0">
            <a:off x="5004592" y="1406020"/>
            <a:ext cx="8278816" cy="8265696"/>
          </a:xfrm>
          <a:custGeom>
            <a:avLst/>
            <a:gdLst/>
            <a:ahLst/>
            <a:cxnLst/>
            <a:rect r="r" b="b" t="t" l="l"/>
            <a:pathLst>
              <a:path h="8265696" w="8278816">
                <a:moveTo>
                  <a:pt x="0" y="0"/>
                </a:moveTo>
                <a:lnTo>
                  <a:pt x="8278816" y="0"/>
                </a:lnTo>
                <a:lnTo>
                  <a:pt x="8278816" y="8265696"/>
                </a:lnTo>
                <a:lnTo>
                  <a:pt x="0" y="8265696"/>
                </a:lnTo>
                <a:lnTo>
                  <a:pt x="0" y="0"/>
                </a:lnTo>
                <a:close/>
              </a:path>
            </a:pathLst>
          </a:custGeom>
          <a:blipFill>
            <a:blip r:embed="rId5"/>
            <a:stretch>
              <a:fillRect l="0" t="0" r="0" b="0"/>
            </a:stretch>
          </a:blipFill>
        </p:spPr>
      </p:sp>
    </p:spTree>
  </p:cSld>
  <p:clrMapOvr>
    <a:masterClrMapping/>
  </p:clrMapOvr>
</p:sld>
</file>

<file path=ppt/slides/slide3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5555" r="0" b="-5555"/>
            </a:stretch>
          </a:blipFill>
        </p:spPr>
      </p:sp>
      <p:grpSp>
        <p:nvGrpSpPr>
          <p:cNvPr name="Group 3" id="3"/>
          <p:cNvGrpSpPr/>
          <p:nvPr/>
        </p:nvGrpSpPr>
        <p:grpSpPr>
          <a:xfrm rot="0">
            <a:off x="0" y="0"/>
            <a:ext cx="18288000" cy="10287000"/>
            <a:chOff x="0" y="0"/>
            <a:chExt cx="4816593" cy="2709333"/>
          </a:xfrm>
        </p:grpSpPr>
        <p:sp>
          <p:nvSpPr>
            <p:cNvPr name="Freeform 4" id="4"/>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solidFill>
              <a:srgbClr val="000000">
                <a:alpha val="84706"/>
              </a:srgbClr>
            </a:solidFill>
          </p:spPr>
        </p:sp>
        <p:sp>
          <p:nvSpPr>
            <p:cNvPr name="TextBox 5" id="5"/>
            <p:cNvSpPr txBox="true"/>
            <p:nvPr/>
          </p:nvSpPr>
          <p:spPr>
            <a:xfrm>
              <a:off x="0" y="-38100"/>
              <a:ext cx="4816593" cy="2747433"/>
            </a:xfrm>
            <a:prstGeom prst="rect">
              <a:avLst/>
            </a:prstGeom>
          </p:spPr>
          <p:txBody>
            <a:bodyPr anchor="ctr" rtlCol="false" tIns="50800" lIns="50800" bIns="50800" rIns="50800"/>
            <a:lstStyle/>
            <a:p>
              <a:pPr algn="ctr">
                <a:lnSpc>
                  <a:spcPts val="3111"/>
                </a:lnSpc>
              </a:pPr>
            </a:p>
          </p:txBody>
        </p:sp>
      </p:grpSp>
      <p:sp>
        <p:nvSpPr>
          <p:cNvPr name="Freeform 6" id="6"/>
          <p:cNvSpPr/>
          <p:nvPr/>
        </p:nvSpPr>
        <p:spPr>
          <a:xfrm flipH="false" flipV="false" rot="0">
            <a:off x="13727632" y="5538868"/>
            <a:ext cx="4697437" cy="4913254"/>
          </a:xfrm>
          <a:custGeom>
            <a:avLst/>
            <a:gdLst/>
            <a:ahLst/>
            <a:cxnLst/>
            <a:rect r="r" b="b" t="t" l="l"/>
            <a:pathLst>
              <a:path h="4913254" w="4697437">
                <a:moveTo>
                  <a:pt x="0" y="0"/>
                </a:moveTo>
                <a:lnTo>
                  <a:pt x="4697437" y="0"/>
                </a:lnTo>
                <a:lnTo>
                  <a:pt x="4697437" y="4913253"/>
                </a:lnTo>
                <a:lnTo>
                  <a:pt x="0" y="4913253"/>
                </a:lnTo>
                <a:lnTo>
                  <a:pt x="0" y="0"/>
                </a:lnTo>
                <a:close/>
              </a:path>
            </a:pathLst>
          </a:custGeom>
          <a:blipFill>
            <a:blip r:embed="rId3">
              <a:alphaModFix amt="74000"/>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1842905" y="200661"/>
            <a:ext cx="14602190" cy="1694814"/>
          </a:xfrm>
          <a:prstGeom prst="rect">
            <a:avLst/>
          </a:prstGeom>
        </p:spPr>
        <p:txBody>
          <a:bodyPr anchor="t" rtlCol="false" tIns="0" lIns="0" bIns="0" rIns="0">
            <a:spAutoFit/>
          </a:bodyPr>
          <a:lstStyle/>
          <a:p>
            <a:pPr algn="ctr">
              <a:lnSpc>
                <a:spcPts val="6860"/>
              </a:lnSpc>
            </a:pPr>
            <a:r>
              <a:rPr lang="en-US" b="true" sz="4900">
                <a:solidFill>
                  <a:srgbClr val="FFFFFF"/>
                </a:solidFill>
                <a:latin typeface="Montserrat Bold"/>
                <a:ea typeface="Montserrat Bold"/>
                <a:cs typeface="Montserrat Bold"/>
                <a:sym typeface="Montserrat Bold"/>
              </a:rPr>
              <a:t>8.3 INTERFAZ DE USUARIO</a:t>
            </a:r>
          </a:p>
          <a:p>
            <a:pPr algn="ctr">
              <a:lnSpc>
                <a:spcPts val="6860"/>
              </a:lnSpc>
            </a:pPr>
          </a:p>
        </p:txBody>
      </p:sp>
      <p:sp>
        <p:nvSpPr>
          <p:cNvPr name="Freeform 8" id="8"/>
          <p:cNvSpPr/>
          <p:nvPr/>
        </p:nvSpPr>
        <p:spPr>
          <a:xfrm flipH="false" flipV="false" rot="-10800000">
            <a:off x="-116335" y="-82396"/>
            <a:ext cx="4697437" cy="4913254"/>
          </a:xfrm>
          <a:custGeom>
            <a:avLst/>
            <a:gdLst/>
            <a:ahLst/>
            <a:cxnLst/>
            <a:rect r="r" b="b" t="t" l="l"/>
            <a:pathLst>
              <a:path h="4913254" w="4697437">
                <a:moveTo>
                  <a:pt x="0" y="0"/>
                </a:moveTo>
                <a:lnTo>
                  <a:pt x="4697437" y="0"/>
                </a:lnTo>
                <a:lnTo>
                  <a:pt x="4697437" y="4913254"/>
                </a:lnTo>
                <a:lnTo>
                  <a:pt x="0" y="4913254"/>
                </a:lnTo>
                <a:lnTo>
                  <a:pt x="0" y="0"/>
                </a:lnTo>
                <a:close/>
              </a:path>
            </a:pathLst>
          </a:custGeom>
          <a:blipFill>
            <a:blip r:embed="rId3">
              <a:alphaModFix amt="74000"/>
              <a:extLst>
                <a:ext uri="{96DAC541-7B7A-43D3-8B79-37D633B846F1}">
                  <asvg:svgBlip xmlns:asvg="http://schemas.microsoft.com/office/drawing/2016/SVG/main" r:embed="rId4"/>
                </a:ext>
              </a:extLst>
            </a:blip>
            <a:stretch>
              <a:fillRect l="0" t="0" r="0" b="0"/>
            </a:stretch>
          </a:blipFill>
        </p:spPr>
      </p:sp>
      <p:sp>
        <p:nvSpPr>
          <p:cNvPr name="TextBox 9" id="9"/>
          <p:cNvSpPr txBox="true"/>
          <p:nvPr/>
        </p:nvSpPr>
        <p:spPr>
          <a:xfrm rot="0">
            <a:off x="2864774" y="2888933"/>
            <a:ext cx="12897017" cy="4442458"/>
          </a:xfrm>
          <a:prstGeom prst="rect">
            <a:avLst/>
          </a:prstGeom>
        </p:spPr>
        <p:txBody>
          <a:bodyPr anchor="t" rtlCol="false" tIns="0" lIns="0" bIns="0" rIns="0">
            <a:spAutoFit/>
          </a:bodyPr>
          <a:lstStyle/>
          <a:p>
            <a:pPr algn="ctr">
              <a:lnSpc>
                <a:spcPts val="5040"/>
              </a:lnSpc>
              <a:spcBef>
                <a:spcPct val="0"/>
              </a:spcBef>
            </a:pPr>
            <a:r>
              <a:rPr lang="en-US" sz="3600">
                <a:solidFill>
                  <a:srgbClr val="FFFFFF"/>
                </a:solidFill>
                <a:latin typeface="Prata"/>
                <a:ea typeface="Prata"/>
                <a:cs typeface="Prata"/>
                <a:sym typeface="Prata"/>
              </a:rPr>
              <a:t>LA INTERFAZ DEL SISTEMA ESTÁ DISEÑADA EN HTML Y CSS, CON JAVASCRIPT PARA VALIDACIONES Y FUNCIONALIDADES INTERACTIVAS (COMO CALENDARIOS, AUTOCOMPLETADO, ETC.). CADA MÓDULO TIENE UNA VISTA WEB ESPECÍFICA CON FORMULARIOS Y LISTAS PARA OPERAR CON LOS DATOS.</a:t>
            </a:r>
          </a:p>
        </p:txBody>
      </p:sp>
    </p:spTree>
  </p:cSld>
  <p:clrMapOvr>
    <a:masterClrMapping/>
  </p:clrMapOvr>
</p:sld>
</file>

<file path=ppt/slides/slide3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5555" r="0" b="-5555"/>
            </a:stretch>
          </a:blipFill>
        </p:spPr>
      </p:sp>
      <p:grpSp>
        <p:nvGrpSpPr>
          <p:cNvPr name="Group 3" id="3"/>
          <p:cNvGrpSpPr/>
          <p:nvPr/>
        </p:nvGrpSpPr>
        <p:grpSpPr>
          <a:xfrm rot="0">
            <a:off x="0" y="0"/>
            <a:ext cx="18288000" cy="10287000"/>
            <a:chOff x="0" y="0"/>
            <a:chExt cx="4816593" cy="2709333"/>
          </a:xfrm>
        </p:grpSpPr>
        <p:sp>
          <p:nvSpPr>
            <p:cNvPr name="Freeform 4" id="4"/>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solidFill>
              <a:srgbClr val="000000">
                <a:alpha val="84706"/>
              </a:srgbClr>
            </a:solidFill>
          </p:spPr>
        </p:sp>
        <p:sp>
          <p:nvSpPr>
            <p:cNvPr name="TextBox 5" id="5"/>
            <p:cNvSpPr txBox="true"/>
            <p:nvPr/>
          </p:nvSpPr>
          <p:spPr>
            <a:xfrm>
              <a:off x="0" y="-38100"/>
              <a:ext cx="4816593" cy="2747433"/>
            </a:xfrm>
            <a:prstGeom prst="rect">
              <a:avLst/>
            </a:prstGeom>
          </p:spPr>
          <p:txBody>
            <a:bodyPr anchor="ctr" rtlCol="false" tIns="50800" lIns="50800" bIns="50800" rIns="50800"/>
            <a:lstStyle/>
            <a:p>
              <a:pPr algn="ctr">
                <a:lnSpc>
                  <a:spcPts val="3111"/>
                </a:lnSpc>
              </a:pPr>
            </a:p>
          </p:txBody>
        </p:sp>
      </p:grpSp>
      <p:sp>
        <p:nvSpPr>
          <p:cNvPr name="Freeform 6" id="6"/>
          <p:cNvSpPr/>
          <p:nvPr/>
        </p:nvSpPr>
        <p:spPr>
          <a:xfrm flipH="false" flipV="false" rot="0">
            <a:off x="13727632" y="5538868"/>
            <a:ext cx="4697437" cy="4913254"/>
          </a:xfrm>
          <a:custGeom>
            <a:avLst/>
            <a:gdLst/>
            <a:ahLst/>
            <a:cxnLst/>
            <a:rect r="r" b="b" t="t" l="l"/>
            <a:pathLst>
              <a:path h="4913254" w="4697437">
                <a:moveTo>
                  <a:pt x="0" y="0"/>
                </a:moveTo>
                <a:lnTo>
                  <a:pt x="4697437" y="0"/>
                </a:lnTo>
                <a:lnTo>
                  <a:pt x="4697437" y="4913253"/>
                </a:lnTo>
                <a:lnTo>
                  <a:pt x="0" y="4913253"/>
                </a:lnTo>
                <a:lnTo>
                  <a:pt x="0" y="0"/>
                </a:lnTo>
                <a:close/>
              </a:path>
            </a:pathLst>
          </a:custGeom>
          <a:blipFill>
            <a:blip r:embed="rId3">
              <a:alphaModFix amt="74000"/>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1842905" y="200661"/>
            <a:ext cx="14602190" cy="2561589"/>
          </a:xfrm>
          <a:prstGeom prst="rect">
            <a:avLst/>
          </a:prstGeom>
        </p:spPr>
        <p:txBody>
          <a:bodyPr anchor="t" rtlCol="false" tIns="0" lIns="0" bIns="0" rIns="0">
            <a:spAutoFit/>
          </a:bodyPr>
          <a:lstStyle/>
          <a:p>
            <a:pPr algn="ctr">
              <a:lnSpc>
                <a:spcPts val="6860"/>
              </a:lnSpc>
            </a:pPr>
            <a:r>
              <a:rPr lang="en-US" b="true" sz="4900">
                <a:solidFill>
                  <a:srgbClr val="FFFFFF"/>
                </a:solidFill>
                <a:latin typeface="Montserrat Bold"/>
                <a:ea typeface="Montserrat Bold"/>
                <a:cs typeface="Montserrat Bold"/>
                <a:sym typeface="Montserrat Bold"/>
              </a:rPr>
              <a:t>8.4 VALIDACIÓN DE DATOS Y COMPROBACIONES DE PLAUSIBILIDAD</a:t>
            </a:r>
          </a:p>
          <a:p>
            <a:pPr algn="ctr">
              <a:lnSpc>
                <a:spcPts val="6860"/>
              </a:lnSpc>
            </a:pPr>
          </a:p>
        </p:txBody>
      </p:sp>
      <p:sp>
        <p:nvSpPr>
          <p:cNvPr name="Freeform 8" id="8"/>
          <p:cNvSpPr/>
          <p:nvPr/>
        </p:nvSpPr>
        <p:spPr>
          <a:xfrm flipH="false" flipV="false" rot="-10800000">
            <a:off x="-116335" y="-82396"/>
            <a:ext cx="4697437" cy="4913254"/>
          </a:xfrm>
          <a:custGeom>
            <a:avLst/>
            <a:gdLst/>
            <a:ahLst/>
            <a:cxnLst/>
            <a:rect r="r" b="b" t="t" l="l"/>
            <a:pathLst>
              <a:path h="4913254" w="4697437">
                <a:moveTo>
                  <a:pt x="0" y="0"/>
                </a:moveTo>
                <a:lnTo>
                  <a:pt x="4697437" y="0"/>
                </a:lnTo>
                <a:lnTo>
                  <a:pt x="4697437" y="4913254"/>
                </a:lnTo>
                <a:lnTo>
                  <a:pt x="0" y="4913254"/>
                </a:lnTo>
                <a:lnTo>
                  <a:pt x="0" y="0"/>
                </a:lnTo>
                <a:close/>
              </a:path>
            </a:pathLst>
          </a:custGeom>
          <a:blipFill>
            <a:blip r:embed="rId3">
              <a:alphaModFix amt="74000"/>
              <a:extLst>
                <a:ext uri="{96DAC541-7B7A-43D3-8B79-37D633B846F1}">
                  <asvg:svgBlip xmlns:asvg="http://schemas.microsoft.com/office/drawing/2016/SVG/main" r:embed="rId4"/>
                </a:ext>
              </a:extLst>
            </a:blip>
            <a:stretch>
              <a:fillRect l="0" t="0" r="0" b="0"/>
            </a:stretch>
          </a:blipFill>
        </p:spPr>
      </p:sp>
      <p:sp>
        <p:nvSpPr>
          <p:cNvPr name="TextBox 9" id="9"/>
          <p:cNvSpPr txBox="true"/>
          <p:nvPr/>
        </p:nvSpPr>
        <p:spPr>
          <a:xfrm rot="0">
            <a:off x="2222017" y="2965214"/>
            <a:ext cx="13843967" cy="5080633"/>
          </a:xfrm>
          <a:prstGeom prst="rect">
            <a:avLst/>
          </a:prstGeom>
        </p:spPr>
        <p:txBody>
          <a:bodyPr anchor="t" rtlCol="false" tIns="0" lIns="0" bIns="0" rIns="0">
            <a:spAutoFit/>
          </a:bodyPr>
          <a:lstStyle/>
          <a:p>
            <a:pPr algn="ctr">
              <a:lnSpc>
                <a:spcPts val="5040"/>
              </a:lnSpc>
              <a:spcBef>
                <a:spcPct val="0"/>
              </a:spcBef>
            </a:pPr>
            <a:r>
              <a:rPr lang="en-US" sz="3600">
                <a:solidFill>
                  <a:srgbClr val="FFFFFF"/>
                </a:solidFill>
                <a:latin typeface="Prata"/>
                <a:ea typeface="Prata"/>
                <a:cs typeface="Prata"/>
                <a:sym typeface="Prata"/>
              </a:rPr>
              <a:t>FRONTEND (JAVASCRIPT): CAMPOS OBLIGATORIOS, FORMATOS CORRECTOS (EMAIL, FECHA, TELÉFONO).</a:t>
            </a:r>
          </a:p>
          <a:p>
            <a:pPr algn="ctr">
              <a:lnSpc>
                <a:spcPts val="5040"/>
              </a:lnSpc>
              <a:spcBef>
                <a:spcPct val="0"/>
              </a:spcBef>
            </a:pPr>
            <a:r>
              <a:rPr lang="en-US" sz="3600">
                <a:solidFill>
                  <a:srgbClr val="FFFFFF"/>
                </a:solidFill>
                <a:latin typeface="Prata"/>
                <a:ea typeface="Prata"/>
                <a:cs typeface="Prata"/>
                <a:sym typeface="Prata"/>
              </a:rPr>
              <a:t>BACKEND (PHP): REGLAS DEL NEGOCIO, COMO:</a:t>
            </a:r>
          </a:p>
          <a:p>
            <a:pPr algn="ctr">
              <a:lnSpc>
                <a:spcPts val="5040"/>
              </a:lnSpc>
              <a:spcBef>
                <a:spcPct val="0"/>
              </a:spcBef>
            </a:pPr>
            <a:r>
              <a:rPr lang="en-US" sz="3600">
                <a:solidFill>
                  <a:srgbClr val="FFFFFF"/>
                </a:solidFill>
                <a:latin typeface="Prata"/>
                <a:ea typeface="Prata"/>
                <a:cs typeface="Prata"/>
                <a:sym typeface="Prata"/>
              </a:rPr>
              <a:t>NO PERMITIR REGISTRAR UN CASO SIN CLIENTE ASIGNADO.</a:t>
            </a:r>
          </a:p>
          <a:p>
            <a:pPr algn="ctr">
              <a:lnSpc>
                <a:spcPts val="5040"/>
              </a:lnSpc>
              <a:spcBef>
                <a:spcPct val="0"/>
              </a:spcBef>
            </a:pPr>
            <a:r>
              <a:rPr lang="en-US" sz="3600">
                <a:solidFill>
                  <a:srgbClr val="FFFFFF"/>
                </a:solidFill>
                <a:latin typeface="Prata"/>
                <a:ea typeface="Prata"/>
                <a:cs typeface="Prata"/>
                <a:sym typeface="Prata"/>
              </a:rPr>
              <a:t>VALIDAR MONTOS POSITIVOS EN LAS FACTURAS.</a:t>
            </a:r>
          </a:p>
          <a:p>
            <a:pPr algn="ctr">
              <a:lnSpc>
                <a:spcPts val="5040"/>
              </a:lnSpc>
              <a:spcBef>
                <a:spcPct val="0"/>
              </a:spcBef>
            </a:pPr>
            <a:r>
              <a:rPr lang="en-US" sz="3600">
                <a:solidFill>
                  <a:srgbClr val="FFFFFF"/>
                </a:solidFill>
                <a:latin typeface="Prata"/>
                <a:ea typeface="Prata"/>
                <a:cs typeface="Prata"/>
                <a:sym typeface="Prata"/>
              </a:rPr>
              <a:t>VERIFICAR QUE LA FECHA DE UN EVENTO ESTÉ DENTRO DEL RANGO VÁLIDO DEL CASO.</a:t>
            </a:r>
          </a:p>
        </p:txBody>
      </p:sp>
      <p:sp>
        <p:nvSpPr>
          <p:cNvPr name="Freeform 10" id="10"/>
          <p:cNvSpPr/>
          <p:nvPr/>
        </p:nvSpPr>
        <p:spPr>
          <a:xfrm flipH="false" flipV="false" rot="0">
            <a:off x="15592523" y="8122786"/>
            <a:ext cx="4436830" cy="2329336"/>
          </a:xfrm>
          <a:custGeom>
            <a:avLst/>
            <a:gdLst/>
            <a:ahLst/>
            <a:cxnLst/>
            <a:rect r="r" b="b" t="t" l="l"/>
            <a:pathLst>
              <a:path h="2329336" w="4436830">
                <a:moveTo>
                  <a:pt x="0" y="0"/>
                </a:moveTo>
                <a:lnTo>
                  <a:pt x="4436829" y="0"/>
                </a:lnTo>
                <a:lnTo>
                  <a:pt x="4436829" y="2329335"/>
                </a:lnTo>
                <a:lnTo>
                  <a:pt x="0" y="2329335"/>
                </a:lnTo>
                <a:lnTo>
                  <a:pt x="0" y="0"/>
                </a:lnTo>
                <a:close/>
              </a:path>
            </a:pathLst>
          </a:custGeom>
          <a:blipFill>
            <a:blip r:embed="rId5"/>
            <a:stretch>
              <a:fillRect l="0" t="0" r="0" b="0"/>
            </a:stretch>
          </a:blipFill>
        </p:spPr>
      </p:sp>
    </p:spTree>
  </p:cSld>
  <p:clrMapOvr>
    <a:masterClrMapping/>
  </p:clrMapOvr>
</p:sld>
</file>

<file path=ppt/slides/slide3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0" t="-5555" r="0" b="-5555"/>
            </a:stretch>
          </a:blipFill>
        </p:spPr>
      </p:sp>
      <p:grpSp>
        <p:nvGrpSpPr>
          <p:cNvPr name="Group 3" id="3"/>
          <p:cNvGrpSpPr/>
          <p:nvPr/>
        </p:nvGrpSpPr>
        <p:grpSpPr>
          <a:xfrm rot="0">
            <a:off x="0" y="0"/>
            <a:ext cx="18288000" cy="10287000"/>
            <a:chOff x="0" y="0"/>
            <a:chExt cx="4816593" cy="2709333"/>
          </a:xfrm>
        </p:grpSpPr>
        <p:sp>
          <p:nvSpPr>
            <p:cNvPr name="Freeform 4" id="4"/>
            <p:cNvSpPr/>
            <p:nvPr/>
          </p:nvSpPr>
          <p:spPr>
            <a:xfrm flipH="false" flipV="false" rot="0">
              <a:off x="0" y="0"/>
              <a:ext cx="4816592" cy="2709333"/>
            </a:xfrm>
            <a:custGeom>
              <a:avLst/>
              <a:gdLst/>
              <a:ahLst/>
              <a:cxnLst/>
              <a:rect r="r" b="b" t="t" l="l"/>
              <a:pathLst>
                <a:path h="2709333" w="4816592">
                  <a:moveTo>
                    <a:pt x="0" y="0"/>
                  </a:moveTo>
                  <a:lnTo>
                    <a:pt x="4816592" y="0"/>
                  </a:lnTo>
                  <a:lnTo>
                    <a:pt x="4816592" y="2709333"/>
                  </a:lnTo>
                  <a:lnTo>
                    <a:pt x="0" y="2709333"/>
                  </a:lnTo>
                  <a:close/>
                </a:path>
              </a:pathLst>
            </a:custGeom>
            <a:solidFill>
              <a:srgbClr val="000000">
                <a:alpha val="84706"/>
              </a:srgbClr>
            </a:solidFill>
          </p:spPr>
        </p:sp>
        <p:sp>
          <p:nvSpPr>
            <p:cNvPr name="TextBox 5" id="5"/>
            <p:cNvSpPr txBox="true"/>
            <p:nvPr/>
          </p:nvSpPr>
          <p:spPr>
            <a:xfrm>
              <a:off x="0" y="-38100"/>
              <a:ext cx="4816593" cy="2747433"/>
            </a:xfrm>
            <a:prstGeom prst="rect">
              <a:avLst/>
            </a:prstGeom>
          </p:spPr>
          <p:txBody>
            <a:bodyPr anchor="ctr" rtlCol="false" tIns="50800" lIns="50800" bIns="50800" rIns="50800"/>
            <a:lstStyle/>
            <a:p>
              <a:pPr algn="ctr">
                <a:lnSpc>
                  <a:spcPts val="3111"/>
                </a:lnSpc>
              </a:pPr>
            </a:p>
          </p:txBody>
        </p:sp>
      </p:grpSp>
      <p:sp>
        <p:nvSpPr>
          <p:cNvPr name="Freeform 6" id="6"/>
          <p:cNvSpPr/>
          <p:nvPr/>
        </p:nvSpPr>
        <p:spPr>
          <a:xfrm flipH="false" flipV="false" rot="0">
            <a:off x="13727632" y="5538868"/>
            <a:ext cx="4697437" cy="4913254"/>
          </a:xfrm>
          <a:custGeom>
            <a:avLst/>
            <a:gdLst/>
            <a:ahLst/>
            <a:cxnLst/>
            <a:rect r="r" b="b" t="t" l="l"/>
            <a:pathLst>
              <a:path h="4913254" w="4697437">
                <a:moveTo>
                  <a:pt x="0" y="0"/>
                </a:moveTo>
                <a:lnTo>
                  <a:pt x="4697437" y="0"/>
                </a:lnTo>
                <a:lnTo>
                  <a:pt x="4697437" y="4913253"/>
                </a:lnTo>
                <a:lnTo>
                  <a:pt x="0" y="4913253"/>
                </a:lnTo>
                <a:lnTo>
                  <a:pt x="0" y="0"/>
                </a:lnTo>
                <a:close/>
              </a:path>
            </a:pathLst>
          </a:custGeom>
          <a:blipFill>
            <a:blip r:embed="rId3">
              <a:alphaModFix amt="74000"/>
              <a:extLst>
                <a:ext uri="{96DAC541-7B7A-43D3-8B79-37D633B846F1}">
                  <asvg:svgBlip xmlns:asvg="http://schemas.microsoft.com/office/drawing/2016/SVG/main" r:embed="rId4"/>
                </a:ext>
              </a:extLst>
            </a:blip>
            <a:stretch>
              <a:fillRect l="0" t="0" r="0" b="0"/>
            </a:stretch>
          </a:blipFill>
        </p:spPr>
      </p:sp>
      <p:sp>
        <p:nvSpPr>
          <p:cNvPr name="TextBox 7" id="7"/>
          <p:cNvSpPr txBox="true"/>
          <p:nvPr/>
        </p:nvSpPr>
        <p:spPr>
          <a:xfrm rot="0">
            <a:off x="1842905" y="200661"/>
            <a:ext cx="14602190" cy="828039"/>
          </a:xfrm>
          <a:prstGeom prst="rect">
            <a:avLst/>
          </a:prstGeom>
        </p:spPr>
        <p:txBody>
          <a:bodyPr anchor="t" rtlCol="false" tIns="0" lIns="0" bIns="0" rIns="0">
            <a:spAutoFit/>
          </a:bodyPr>
          <a:lstStyle/>
          <a:p>
            <a:pPr algn="ctr">
              <a:lnSpc>
                <a:spcPts val="6860"/>
              </a:lnSpc>
            </a:pPr>
            <a:r>
              <a:rPr lang="en-US" b="true" sz="4900">
                <a:solidFill>
                  <a:srgbClr val="FFFFFF"/>
                </a:solidFill>
                <a:latin typeface="Montserrat Bold"/>
                <a:ea typeface="Montserrat Bold"/>
                <a:cs typeface="Montserrat Bold"/>
                <a:sym typeface="Montserrat Bold"/>
              </a:rPr>
              <a:t>8.5 MANEJO DE ERRORES Y EXCEPCIONES</a:t>
            </a:r>
          </a:p>
        </p:txBody>
      </p:sp>
      <p:sp>
        <p:nvSpPr>
          <p:cNvPr name="Freeform 8" id="8"/>
          <p:cNvSpPr/>
          <p:nvPr/>
        </p:nvSpPr>
        <p:spPr>
          <a:xfrm flipH="false" flipV="false" rot="-10800000">
            <a:off x="-116335" y="-82396"/>
            <a:ext cx="4697437" cy="4913254"/>
          </a:xfrm>
          <a:custGeom>
            <a:avLst/>
            <a:gdLst/>
            <a:ahLst/>
            <a:cxnLst/>
            <a:rect r="r" b="b" t="t" l="l"/>
            <a:pathLst>
              <a:path h="4913254" w="4697437">
                <a:moveTo>
                  <a:pt x="0" y="0"/>
                </a:moveTo>
                <a:lnTo>
                  <a:pt x="4697437" y="0"/>
                </a:lnTo>
                <a:lnTo>
                  <a:pt x="4697437" y="4913254"/>
                </a:lnTo>
                <a:lnTo>
                  <a:pt x="0" y="4913254"/>
                </a:lnTo>
                <a:lnTo>
                  <a:pt x="0" y="0"/>
                </a:lnTo>
                <a:close/>
              </a:path>
            </a:pathLst>
          </a:custGeom>
          <a:blipFill>
            <a:blip r:embed="rId3">
              <a:alphaModFix amt="74000"/>
              <a:extLst>
                <a:ext uri="{96DAC541-7B7A-43D3-8B79-37D633B846F1}">
                  <asvg:svgBlip xmlns:asvg="http://schemas.microsoft.com/office/drawing/2016/SVG/main" r:embed="rId4"/>
                </a:ext>
              </a:extLst>
            </a:blip>
            <a:stretch>
              <a:fillRect l="0" t="0" r="0" b="0"/>
            </a:stretch>
          </a:blipFill>
        </p:spPr>
      </p:sp>
      <p:sp>
        <p:nvSpPr>
          <p:cNvPr name="TextBox 9" id="9"/>
          <p:cNvSpPr txBox="true"/>
          <p:nvPr/>
        </p:nvSpPr>
        <p:spPr>
          <a:xfrm rot="0">
            <a:off x="2864774" y="2888933"/>
            <a:ext cx="12897017" cy="4442458"/>
          </a:xfrm>
          <a:prstGeom prst="rect">
            <a:avLst/>
          </a:prstGeom>
        </p:spPr>
        <p:txBody>
          <a:bodyPr anchor="t" rtlCol="false" tIns="0" lIns="0" bIns="0" rIns="0">
            <a:spAutoFit/>
          </a:bodyPr>
          <a:lstStyle/>
          <a:p>
            <a:pPr algn="ctr">
              <a:lnSpc>
                <a:spcPts val="5040"/>
              </a:lnSpc>
              <a:spcBef>
                <a:spcPct val="0"/>
              </a:spcBef>
            </a:pPr>
            <a:r>
              <a:rPr lang="en-US" sz="3600">
                <a:solidFill>
                  <a:srgbClr val="FFFFFF"/>
                </a:solidFill>
                <a:latin typeface="Prata"/>
                <a:ea typeface="Prata"/>
                <a:cs typeface="Prata"/>
                <a:sym typeface="Prata"/>
              </a:rPr>
              <a:t>E</a:t>
            </a:r>
            <a:r>
              <a:rPr lang="en-US" sz="3600">
                <a:solidFill>
                  <a:srgbClr val="FFFFFF"/>
                </a:solidFill>
                <a:latin typeface="Prata"/>
                <a:ea typeface="Prata"/>
                <a:cs typeface="Prata"/>
                <a:sym typeface="Prata"/>
              </a:rPr>
              <a:t>L CÓDIGO PHP UTILIZA BLOQUES TRY/CATCH PARA CAPTURAR EXCEPCIONES. SE UTILIZAN MENSAJES PERSONALIZADOS PARA CADA TIPO DE ERROR, Y SE ALMACENAN LOS ERRORES CRÍTICOS EN UN ARCHIVO DE LOG INTERNO (LOGS/ERROR.LOG).</a:t>
            </a:r>
          </a:p>
          <a:p>
            <a:pPr algn="ctr">
              <a:lnSpc>
                <a:spcPts val="5040"/>
              </a:lnSpc>
              <a:spcBef>
                <a:spcPct val="0"/>
              </a:spcBef>
            </a:pPr>
          </a:p>
        </p:txBody>
      </p:sp>
      <p:sp>
        <p:nvSpPr>
          <p:cNvPr name="Freeform 10" id="10"/>
          <p:cNvSpPr/>
          <p:nvPr/>
        </p:nvSpPr>
        <p:spPr>
          <a:xfrm flipH="false" flipV="false" rot="0">
            <a:off x="0" y="7629570"/>
            <a:ext cx="4112689" cy="2657430"/>
          </a:xfrm>
          <a:custGeom>
            <a:avLst/>
            <a:gdLst/>
            <a:ahLst/>
            <a:cxnLst/>
            <a:rect r="r" b="b" t="t" l="l"/>
            <a:pathLst>
              <a:path h="2657430" w="4112689">
                <a:moveTo>
                  <a:pt x="0" y="0"/>
                </a:moveTo>
                <a:lnTo>
                  <a:pt x="4112689" y="0"/>
                </a:lnTo>
                <a:lnTo>
                  <a:pt x="4112689" y="2657430"/>
                </a:lnTo>
                <a:lnTo>
                  <a:pt x="0" y="2657430"/>
                </a:lnTo>
                <a:lnTo>
                  <a:pt x="0" y="0"/>
                </a:lnTo>
                <a:close/>
              </a:path>
            </a:pathLst>
          </a:custGeom>
          <a:blipFill>
            <a:blip r:embed="rId5"/>
            <a:stretch>
              <a:fillRect l="0" t="0" r="0" b="0"/>
            </a:stretch>
          </a:blipFill>
        </p:spPr>
      </p:sp>
    </p:spTree>
  </p:cSld>
  <p:clrMapOvr>
    <a:masterClrMapping/>
  </p:clrMapOvr>
</p:sld>
</file>

<file path=ppt/slides/slide3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2500" t="0" r="-12500" b="0"/>
            </a:stretch>
          </a:blipFill>
        </p:spPr>
      </p:sp>
      <p:sp>
        <p:nvSpPr>
          <p:cNvPr name="Freeform 3" id="3"/>
          <p:cNvSpPr/>
          <p:nvPr/>
        </p:nvSpPr>
        <p:spPr>
          <a:xfrm flipH="false" flipV="false" rot="-10800000">
            <a:off x="-116335" y="-82396"/>
            <a:ext cx="4697437" cy="4913254"/>
          </a:xfrm>
          <a:custGeom>
            <a:avLst/>
            <a:gdLst/>
            <a:ahLst/>
            <a:cxnLst/>
            <a:rect r="r" b="b" t="t" l="l"/>
            <a:pathLst>
              <a:path h="4913254" w="4697437">
                <a:moveTo>
                  <a:pt x="0" y="0"/>
                </a:moveTo>
                <a:lnTo>
                  <a:pt x="4697437" y="0"/>
                </a:lnTo>
                <a:lnTo>
                  <a:pt x="4697437" y="4913254"/>
                </a:lnTo>
                <a:lnTo>
                  <a:pt x="0" y="4913254"/>
                </a:lnTo>
                <a:lnTo>
                  <a:pt x="0" y="0"/>
                </a:lnTo>
                <a:close/>
              </a:path>
            </a:pathLst>
          </a:custGeom>
          <a:blipFill>
            <a:blip r:embed="rId3">
              <a:alphaModFix amt="74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6582493" y="5547050"/>
            <a:ext cx="5625833" cy="3982331"/>
          </a:xfrm>
          <a:custGeom>
            <a:avLst/>
            <a:gdLst/>
            <a:ahLst/>
            <a:cxnLst/>
            <a:rect r="r" b="b" t="t" l="l"/>
            <a:pathLst>
              <a:path h="3982331" w="5625833">
                <a:moveTo>
                  <a:pt x="0" y="0"/>
                </a:moveTo>
                <a:lnTo>
                  <a:pt x="5625832" y="0"/>
                </a:lnTo>
                <a:lnTo>
                  <a:pt x="5625832" y="3982331"/>
                </a:lnTo>
                <a:lnTo>
                  <a:pt x="0" y="3982331"/>
                </a:lnTo>
                <a:lnTo>
                  <a:pt x="0" y="0"/>
                </a:lnTo>
                <a:close/>
              </a:path>
            </a:pathLst>
          </a:custGeom>
          <a:blipFill>
            <a:blip r:embed="rId5"/>
            <a:stretch>
              <a:fillRect l="0" t="0" r="0" b="0"/>
            </a:stretch>
          </a:blipFill>
        </p:spPr>
      </p:sp>
      <p:sp>
        <p:nvSpPr>
          <p:cNvPr name="TextBox 5" id="5"/>
          <p:cNvSpPr txBox="true"/>
          <p:nvPr/>
        </p:nvSpPr>
        <p:spPr>
          <a:xfrm rot="0">
            <a:off x="1365656" y="1690307"/>
            <a:ext cx="16059506" cy="3453193"/>
          </a:xfrm>
          <a:prstGeom prst="rect">
            <a:avLst/>
          </a:prstGeom>
        </p:spPr>
        <p:txBody>
          <a:bodyPr anchor="t" rtlCol="false" tIns="0" lIns="0" bIns="0" rIns="0">
            <a:spAutoFit/>
          </a:bodyPr>
          <a:lstStyle/>
          <a:p>
            <a:pPr algn="ctr">
              <a:lnSpc>
                <a:spcPts val="5491"/>
              </a:lnSpc>
              <a:spcBef>
                <a:spcPct val="0"/>
              </a:spcBef>
            </a:pPr>
            <a:r>
              <a:rPr lang="en-US" sz="3922">
                <a:solidFill>
                  <a:srgbClr val="FFFFFF"/>
                </a:solidFill>
                <a:latin typeface="Prata"/>
                <a:ea typeface="Prata"/>
                <a:cs typeface="Prata"/>
                <a:sym typeface="Prata"/>
              </a:rPr>
              <a:t>El</a:t>
            </a:r>
            <a:r>
              <a:rPr lang="en-US" sz="3922">
                <a:solidFill>
                  <a:srgbClr val="FFFFFF"/>
                </a:solidFill>
                <a:latin typeface="Prata"/>
                <a:ea typeface="Prata"/>
                <a:cs typeface="Prata"/>
                <a:sym typeface="Prata"/>
              </a:rPr>
              <a:t> diseño del sistema ERP para un bufete de abogados involucra decisiones clave que afectan la calidad, escalabilidad y mantenibilidad del sistema. A continuación, se presentan dos decisiones críticas que impactan directamente la arquitectura y el manejo de datos.</a:t>
            </a:r>
          </a:p>
        </p:txBody>
      </p:sp>
      <p:sp>
        <p:nvSpPr>
          <p:cNvPr name="TextBox 6" id="6"/>
          <p:cNvSpPr txBox="true"/>
          <p:nvPr/>
        </p:nvSpPr>
        <p:spPr>
          <a:xfrm rot="0">
            <a:off x="3410580" y="462852"/>
            <a:ext cx="11002403" cy="671893"/>
          </a:xfrm>
          <a:prstGeom prst="rect">
            <a:avLst/>
          </a:prstGeom>
        </p:spPr>
        <p:txBody>
          <a:bodyPr anchor="t" rtlCol="false" tIns="0" lIns="0" bIns="0" rIns="0">
            <a:spAutoFit/>
          </a:bodyPr>
          <a:lstStyle/>
          <a:p>
            <a:pPr algn="ctr">
              <a:lnSpc>
                <a:spcPts val="5491"/>
              </a:lnSpc>
              <a:spcBef>
                <a:spcPct val="0"/>
              </a:spcBef>
            </a:pPr>
            <a:r>
              <a:rPr lang="en-US" sz="3922">
                <a:solidFill>
                  <a:srgbClr val="FFFFFF"/>
                </a:solidFill>
                <a:latin typeface="Prata"/>
                <a:ea typeface="Prata"/>
                <a:cs typeface="Prata"/>
                <a:sym typeface="Prata"/>
              </a:rPr>
              <a:t>V.9 Decisiones de Diseño</a:t>
            </a:r>
          </a:p>
        </p:txBody>
      </p:sp>
    </p:spTree>
  </p:cSld>
  <p:clrMapOvr>
    <a:masterClrMapping/>
  </p:clrMapOvr>
</p:sld>
</file>

<file path=ppt/slides/slide36.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2500" t="0" r="-12500" b="0"/>
            </a:stretch>
          </a:blipFill>
        </p:spPr>
      </p:sp>
      <p:sp>
        <p:nvSpPr>
          <p:cNvPr name="Freeform 3" id="3"/>
          <p:cNvSpPr/>
          <p:nvPr/>
        </p:nvSpPr>
        <p:spPr>
          <a:xfrm flipH="false" flipV="false" rot="-10800000">
            <a:off x="-116335" y="-82396"/>
            <a:ext cx="4697437" cy="4913254"/>
          </a:xfrm>
          <a:custGeom>
            <a:avLst/>
            <a:gdLst/>
            <a:ahLst/>
            <a:cxnLst/>
            <a:rect r="r" b="b" t="t" l="l"/>
            <a:pathLst>
              <a:path h="4913254" w="4697437">
                <a:moveTo>
                  <a:pt x="0" y="0"/>
                </a:moveTo>
                <a:lnTo>
                  <a:pt x="4697437" y="0"/>
                </a:lnTo>
                <a:lnTo>
                  <a:pt x="4697437" y="4913254"/>
                </a:lnTo>
                <a:lnTo>
                  <a:pt x="0" y="4913254"/>
                </a:lnTo>
                <a:lnTo>
                  <a:pt x="0" y="0"/>
                </a:lnTo>
                <a:close/>
              </a:path>
            </a:pathLst>
          </a:custGeom>
          <a:blipFill>
            <a:blip r:embed="rId3">
              <a:alphaModFix amt="74000"/>
              <a:extLst>
                <a:ext uri="{96DAC541-7B7A-43D3-8B79-37D633B846F1}">
                  <asvg:svgBlip xmlns:asvg="http://schemas.microsoft.com/office/drawing/2016/SVG/main" r:embed="rId4"/>
                </a:ext>
              </a:extLst>
            </a:blip>
            <a:stretch>
              <a:fillRect l="0" t="0" r="0" b="0"/>
            </a:stretch>
          </a:blipFill>
        </p:spPr>
      </p:sp>
      <p:sp>
        <p:nvSpPr>
          <p:cNvPr name="TextBox 4" id="4"/>
          <p:cNvSpPr txBox="true"/>
          <p:nvPr/>
        </p:nvSpPr>
        <p:spPr>
          <a:xfrm rot="0">
            <a:off x="2483532" y="356807"/>
            <a:ext cx="13320937" cy="671893"/>
          </a:xfrm>
          <a:prstGeom prst="rect">
            <a:avLst/>
          </a:prstGeom>
        </p:spPr>
        <p:txBody>
          <a:bodyPr anchor="t" rtlCol="false" tIns="0" lIns="0" bIns="0" rIns="0">
            <a:spAutoFit/>
          </a:bodyPr>
          <a:lstStyle/>
          <a:p>
            <a:pPr algn="ctr">
              <a:lnSpc>
                <a:spcPts val="5491"/>
              </a:lnSpc>
              <a:spcBef>
                <a:spcPct val="0"/>
              </a:spcBef>
            </a:pPr>
            <a:r>
              <a:rPr lang="en-US" sz="3922">
                <a:solidFill>
                  <a:srgbClr val="FFFFFF"/>
                </a:solidFill>
                <a:latin typeface="Prata"/>
                <a:ea typeface="Prata"/>
                <a:cs typeface="Prata"/>
                <a:sym typeface="Prata"/>
              </a:rPr>
              <a:t>9</a:t>
            </a:r>
            <a:r>
              <a:rPr lang="en-US" sz="3922">
                <a:solidFill>
                  <a:srgbClr val="FFFFFF"/>
                </a:solidFill>
                <a:latin typeface="Prata"/>
                <a:ea typeface="Prata"/>
                <a:cs typeface="Prata"/>
                <a:sym typeface="Prata"/>
              </a:rPr>
              <a:t>.2 Manejo de Datos: ¿Mutables o Inmutables?</a:t>
            </a:r>
          </a:p>
        </p:txBody>
      </p:sp>
      <p:sp>
        <p:nvSpPr>
          <p:cNvPr name="TextBox 5" id="5"/>
          <p:cNvSpPr txBox="true"/>
          <p:nvPr/>
        </p:nvSpPr>
        <p:spPr>
          <a:xfrm rot="0">
            <a:off x="501983" y="952500"/>
            <a:ext cx="16757317" cy="10406443"/>
          </a:xfrm>
          <a:prstGeom prst="rect">
            <a:avLst/>
          </a:prstGeom>
        </p:spPr>
        <p:txBody>
          <a:bodyPr anchor="t" rtlCol="false" tIns="0" lIns="0" bIns="0" rIns="0">
            <a:spAutoFit/>
          </a:bodyPr>
          <a:lstStyle/>
          <a:p>
            <a:pPr algn="ctr">
              <a:lnSpc>
                <a:spcPts val="5491"/>
              </a:lnSpc>
              <a:spcBef>
                <a:spcPct val="0"/>
              </a:spcBef>
            </a:pPr>
          </a:p>
          <a:p>
            <a:pPr algn="ctr">
              <a:lnSpc>
                <a:spcPts val="5491"/>
              </a:lnSpc>
              <a:spcBef>
                <a:spcPct val="0"/>
              </a:spcBef>
            </a:pPr>
            <a:r>
              <a:rPr lang="en-US" sz="3922">
                <a:solidFill>
                  <a:srgbClr val="FFFFFF"/>
                </a:solidFill>
                <a:latin typeface="Prata"/>
                <a:ea typeface="Prata"/>
                <a:cs typeface="Prata"/>
                <a:sym typeface="Prata"/>
              </a:rPr>
              <a:t>🟠 Problema:</a:t>
            </a:r>
          </a:p>
          <a:p>
            <a:pPr algn="ctr">
              <a:lnSpc>
                <a:spcPts val="5491"/>
              </a:lnSpc>
              <a:spcBef>
                <a:spcPct val="0"/>
              </a:spcBef>
            </a:pPr>
            <a:r>
              <a:rPr lang="en-US" sz="3922">
                <a:solidFill>
                  <a:srgbClr val="FFFFFF"/>
                </a:solidFill>
                <a:latin typeface="Prata"/>
                <a:ea typeface="Prata"/>
                <a:cs typeface="Prata"/>
                <a:sym typeface="Prata"/>
              </a:rPr>
              <a:t> Al modificar datos (como clientes, salarios o facturas), hay que decidir si se sobreescriben los registros o si se crean nuevas versiones.</a:t>
            </a:r>
          </a:p>
          <a:p>
            <a:pPr algn="ctr">
              <a:lnSpc>
                <a:spcPts val="5491"/>
              </a:lnSpc>
              <a:spcBef>
                <a:spcPct val="0"/>
              </a:spcBef>
            </a:pPr>
          </a:p>
          <a:p>
            <a:pPr algn="ctr">
              <a:lnSpc>
                <a:spcPts val="5491"/>
              </a:lnSpc>
              <a:spcBef>
                <a:spcPct val="0"/>
              </a:spcBef>
            </a:pPr>
            <a:r>
              <a:rPr lang="en-US" sz="3922">
                <a:solidFill>
                  <a:srgbClr val="FFFFFF"/>
                </a:solidFill>
                <a:latin typeface="Prata"/>
                <a:ea typeface="Prata"/>
                <a:cs typeface="Prata"/>
                <a:sym typeface="Prata"/>
              </a:rPr>
              <a:t>📌 Requisitos y limitaciones:</a:t>
            </a:r>
          </a:p>
          <a:p>
            <a:pPr algn="ctr">
              <a:lnSpc>
                <a:spcPts val="5491"/>
              </a:lnSpc>
              <a:spcBef>
                <a:spcPct val="0"/>
              </a:spcBef>
            </a:pPr>
          </a:p>
          <a:p>
            <a:pPr algn="just" marL="846871" indent="-423435" lvl="1">
              <a:lnSpc>
                <a:spcPts val="5491"/>
              </a:lnSpc>
              <a:buFont typeface="Arial"/>
              <a:buChar char="•"/>
            </a:pPr>
            <a:r>
              <a:rPr lang="en-US" sz="3922">
                <a:solidFill>
                  <a:srgbClr val="FFFFFF"/>
                </a:solidFill>
                <a:latin typeface="Prata"/>
                <a:ea typeface="Prata"/>
                <a:cs typeface="Prata"/>
                <a:sym typeface="Prata"/>
              </a:rPr>
              <a:t>Proyecto en PHP/MySQL simple.</a:t>
            </a:r>
          </a:p>
          <a:p>
            <a:pPr algn="just">
              <a:lnSpc>
                <a:spcPts val="5491"/>
              </a:lnSpc>
            </a:pPr>
          </a:p>
          <a:p>
            <a:pPr algn="just" marL="846871" indent="-423435" lvl="1">
              <a:lnSpc>
                <a:spcPts val="5491"/>
              </a:lnSpc>
              <a:buFont typeface="Arial"/>
              <a:buChar char="•"/>
            </a:pPr>
            <a:r>
              <a:rPr lang="en-US" sz="3922">
                <a:solidFill>
                  <a:srgbClr val="FFFFFF"/>
                </a:solidFill>
                <a:latin typeface="Prata"/>
                <a:ea typeface="Prata"/>
                <a:cs typeface="Prata"/>
                <a:sym typeface="Prata"/>
              </a:rPr>
              <a:t>Desarrollo con pocos recursos.</a:t>
            </a:r>
          </a:p>
          <a:p>
            <a:pPr algn="just">
              <a:lnSpc>
                <a:spcPts val="5491"/>
              </a:lnSpc>
            </a:pPr>
          </a:p>
          <a:p>
            <a:pPr algn="just" marL="846871" indent="-423435" lvl="1">
              <a:lnSpc>
                <a:spcPts val="5491"/>
              </a:lnSpc>
              <a:buFont typeface="Arial"/>
              <a:buChar char="•"/>
            </a:pPr>
            <a:r>
              <a:rPr lang="en-US" sz="3922">
                <a:solidFill>
                  <a:srgbClr val="FFFFFF"/>
                </a:solidFill>
                <a:latin typeface="Prata"/>
                <a:ea typeface="Prata"/>
                <a:cs typeface="Prata"/>
                <a:sym typeface="Prata"/>
              </a:rPr>
              <a:t>Objetivo: sistema funcional, fácil de mantener y que cumpla legalmente.</a:t>
            </a:r>
          </a:p>
          <a:p>
            <a:pPr algn="ctr">
              <a:lnSpc>
                <a:spcPts val="5491"/>
              </a:lnSpc>
              <a:spcBef>
                <a:spcPct val="0"/>
              </a:spcBef>
            </a:pPr>
          </a:p>
          <a:p>
            <a:pPr algn="ctr">
              <a:lnSpc>
                <a:spcPts val="5491"/>
              </a:lnSpc>
              <a:spcBef>
                <a:spcPct val="0"/>
              </a:spcBef>
            </a:pPr>
          </a:p>
        </p:txBody>
      </p:sp>
    </p:spTree>
  </p:cSld>
  <p:clrMapOvr>
    <a:masterClrMapping/>
  </p:clrMapOvr>
</p:sld>
</file>

<file path=ppt/slides/slide37.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2500" t="0" r="-12500" b="0"/>
            </a:stretch>
          </a:blipFill>
        </p:spPr>
      </p:sp>
      <p:sp>
        <p:nvSpPr>
          <p:cNvPr name="Freeform 3" id="3"/>
          <p:cNvSpPr/>
          <p:nvPr/>
        </p:nvSpPr>
        <p:spPr>
          <a:xfrm flipH="false" flipV="false" rot="-10800000">
            <a:off x="-116335" y="-82396"/>
            <a:ext cx="4697437" cy="4913254"/>
          </a:xfrm>
          <a:custGeom>
            <a:avLst/>
            <a:gdLst/>
            <a:ahLst/>
            <a:cxnLst/>
            <a:rect r="r" b="b" t="t" l="l"/>
            <a:pathLst>
              <a:path h="4913254" w="4697437">
                <a:moveTo>
                  <a:pt x="0" y="0"/>
                </a:moveTo>
                <a:lnTo>
                  <a:pt x="4697437" y="0"/>
                </a:lnTo>
                <a:lnTo>
                  <a:pt x="4697437" y="4913254"/>
                </a:lnTo>
                <a:lnTo>
                  <a:pt x="0" y="4913254"/>
                </a:lnTo>
                <a:lnTo>
                  <a:pt x="0" y="0"/>
                </a:lnTo>
                <a:close/>
              </a:path>
            </a:pathLst>
          </a:custGeom>
          <a:blipFill>
            <a:blip r:embed="rId3">
              <a:alphaModFix amt="74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028700" y="4830858"/>
            <a:ext cx="5616527" cy="2889013"/>
          </a:xfrm>
          <a:custGeom>
            <a:avLst/>
            <a:gdLst/>
            <a:ahLst/>
            <a:cxnLst/>
            <a:rect r="r" b="b" t="t" l="l"/>
            <a:pathLst>
              <a:path h="2889013" w="5616527">
                <a:moveTo>
                  <a:pt x="0" y="0"/>
                </a:moveTo>
                <a:lnTo>
                  <a:pt x="5616527" y="0"/>
                </a:lnTo>
                <a:lnTo>
                  <a:pt x="5616527" y="2889013"/>
                </a:lnTo>
                <a:lnTo>
                  <a:pt x="0" y="2889013"/>
                </a:lnTo>
                <a:lnTo>
                  <a:pt x="0" y="0"/>
                </a:lnTo>
                <a:close/>
              </a:path>
            </a:pathLst>
          </a:custGeom>
          <a:blipFill>
            <a:blip r:embed="rId5"/>
            <a:stretch>
              <a:fillRect l="0" t="0" r="0" b="0"/>
            </a:stretch>
          </a:blipFill>
        </p:spPr>
      </p:sp>
      <p:sp>
        <p:nvSpPr>
          <p:cNvPr name="Freeform 5" id="5"/>
          <p:cNvSpPr/>
          <p:nvPr/>
        </p:nvSpPr>
        <p:spPr>
          <a:xfrm flipH="false" flipV="false" rot="0">
            <a:off x="5553466" y="6275364"/>
            <a:ext cx="6910947" cy="3870130"/>
          </a:xfrm>
          <a:custGeom>
            <a:avLst/>
            <a:gdLst/>
            <a:ahLst/>
            <a:cxnLst/>
            <a:rect r="r" b="b" t="t" l="l"/>
            <a:pathLst>
              <a:path h="3870130" w="6910947">
                <a:moveTo>
                  <a:pt x="0" y="0"/>
                </a:moveTo>
                <a:lnTo>
                  <a:pt x="6910947" y="0"/>
                </a:lnTo>
                <a:lnTo>
                  <a:pt x="6910947" y="3870130"/>
                </a:lnTo>
                <a:lnTo>
                  <a:pt x="0" y="3870130"/>
                </a:lnTo>
                <a:lnTo>
                  <a:pt x="0" y="0"/>
                </a:lnTo>
                <a:close/>
              </a:path>
            </a:pathLst>
          </a:custGeom>
          <a:blipFill>
            <a:blip r:embed="rId6">
              <a:alphaModFix amt="58000"/>
            </a:blip>
            <a:stretch>
              <a:fillRect l="0" t="0" r="0" b="0"/>
            </a:stretch>
          </a:blipFill>
        </p:spPr>
      </p:sp>
      <p:sp>
        <p:nvSpPr>
          <p:cNvPr name="Freeform 6" id="6"/>
          <p:cNvSpPr/>
          <p:nvPr/>
        </p:nvSpPr>
        <p:spPr>
          <a:xfrm flipH="false" flipV="false" rot="0">
            <a:off x="11231496" y="4830858"/>
            <a:ext cx="6212321" cy="2889013"/>
          </a:xfrm>
          <a:custGeom>
            <a:avLst/>
            <a:gdLst/>
            <a:ahLst/>
            <a:cxnLst/>
            <a:rect r="r" b="b" t="t" l="l"/>
            <a:pathLst>
              <a:path h="2889013" w="6212321">
                <a:moveTo>
                  <a:pt x="0" y="0"/>
                </a:moveTo>
                <a:lnTo>
                  <a:pt x="6212321" y="0"/>
                </a:lnTo>
                <a:lnTo>
                  <a:pt x="6212321" y="2889013"/>
                </a:lnTo>
                <a:lnTo>
                  <a:pt x="0" y="2889013"/>
                </a:lnTo>
                <a:lnTo>
                  <a:pt x="0" y="0"/>
                </a:lnTo>
                <a:close/>
              </a:path>
            </a:pathLst>
          </a:custGeom>
          <a:blipFill>
            <a:blip r:embed="rId7"/>
            <a:stretch>
              <a:fillRect l="0" t="0" r="0" b="0"/>
            </a:stretch>
          </a:blipFill>
        </p:spPr>
      </p:sp>
      <p:sp>
        <p:nvSpPr>
          <p:cNvPr name="TextBox 7" id="7"/>
          <p:cNvSpPr txBox="true"/>
          <p:nvPr/>
        </p:nvSpPr>
        <p:spPr>
          <a:xfrm rot="0">
            <a:off x="2483532" y="356807"/>
            <a:ext cx="13320937" cy="671893"/>
          </a:xfrm>
          <a:prstGeom prst="rect">
            <a:avLst/>
          </a:prstGeom>
        </p:spPr>
        <p:txBody>
          <a:bodyPr anchor="t" rtlCol="false" tIns="0" lIns="0" bIns="0" rIns="0">
            <a:spAutoFit/>
          </a:bodyPr>
          <a:lstStyle/>
          <a:p>
            <a:pPr algn="ctr">
              <a:lnSpc>
                <a:spcPts val="5491"/>
              </a:lnSpc>
              <a:spcBef>
                <a:spcPct val="0"/>
              </a:spcBef>
            </a:pPr>
            <a:r>
              <a:rPr lang="en-US" sz="3922">
                <a:solidFill>
                  <a:srgbClr val="FFFFFF"/>
                </a:solidFill>
                <a:latin typeface="Prata"/>
                <a:ea typeface="Prata"/>
                <a:cs typeface="Prata"/>
                <a:sym typeface="Prata"/>
              </a:rPr>
              <a:t>9</a:t>
            </a:r>
            <a:r>
              <a:rPr lang="en-US" sz="3922">
                <a:solidFill>
                  <a:srgbClr val="FFFFFF"/>
                </a:solidFill>
                <a:latin typeface="Prata"/>
                <a:ea typeface="Prata"/>
                <a:cs typeface="Prata"/>
                <a:sym typeface="Prata"/>
              </a:rPr>
              <a:t>.2 Manejo de Datos: ¿Mutables o Inmutables?</a:t>
            </a:r>
          </a:p>
        </p:txBody>
      </p:sp>
      <p:sp>
        <p:nvSpPr>
          <p:cNvPr name="TextBox 8" id="8"/>
          <p:cNvSpPr txBox="true"/>
          <p:nvPr/>
        </p:nvSpPr>
        <p:spPr>
          <a:xfrm rot="0">
            <a:off x="4929496" y="1565502"/>
            <a:ext cx="7753708" cy="2757868"/>
          </a:xfrm>
          <a:prstGeom prst="rect">
            <a:avLst/>
          </a:prstGeom>
        </p:spPr>
        <p:txBody>
          <a:bodyPr anchor="t" rtlCol="false" tIns="0" lIns="0" bIns="0" rIns="0">
            <a:spAutoFit/>
          </a:bodyPr>
          <a:lstStyle/>
          <a:p>
            <a:pPr algn="ctr" marL="846871" indent="-423435" lvl="1">
              <a:lnSpc>
                <a:spcPts val="5491"/>
              </a:lnSpc>
              <a:buFont typeface="Arial"/>
              <a:buChar char="•"/>
            </a:pPr>
            <a:r>
              <a:rPr lang="en-US" sz="3922">
                <a:solidFill>
                  <a:srgbClr val="FFFFFF"/>
                </a:solidFill>
                <a:latin typeface="Prata"/>
                <a:ea typeface="Prata"/>
                <a:cs typeface="Prata"/>
                <a:sym typeface="Prata"/>
              </a:rPr>
              <a:t>Eficiencia de procesamiento.</a:t>
            </a:r>
          </a:p>
          <a:p>
            <a:pPr algn="ctr" marL="846871" indent="-423435" lvl="1">
              <a:lnSpc>
                <a:spcPts val="5491"/>
              </a:lnSpc>
              <a:buFont typeface="Arial"/>
              <a:buChar char="•"/>
            </a:pPr>
            <a:r>
              <a:rPr lang="en-US" sz="3922">
                <a:solidFill>
                  <a:srgbClr val="FFFFFF"/>
                </a:solidFill>
                <a:latin typeface="Prata"/>
                <a:ea typeface="Prata"/>
                <a:cs typeface="Prata"/>
                <a:sym typeface="Prata"/>
              </a:rPr>
              <a:t>Trazabilidad de cambios.</a:t>
            </a:r>
          </a:p>
          <a:p>
            <a:pPr algn="ctr" marL="846871" indent="-423435" lvl="1">
              <a:lnSpc>
                <a:spcPts val="5491"/>
              </a:lnSpc>
              <a:buFont typeface="Arial"/>
              <a:buChar char="•"/>
            </a:pPr>
            <a:r>
              <a:rPr lang="en-US" sz="3922">
                <a:solidFill>
                  <a:srgbClr val="FFFFFF"/>
                </a:solidFill>
                <a:latin typeface="Prata"/>
                <a:ea typeface="Prata"/>
                <a:cs typeface="Prata"/>
                <a:sym typeface="Prata"/>
              </a:rPr>
              <a:t>Mantenimiento fácil.</a:t>
            </a:r>
          </a:p>
          <a:p>
            <a:pPr algn="ctr" marL="846871" indent="-423435" lvl="1">
              <a:lnSpc>
                <a:spcPts val="5491"/>
              </a:lnSpc>
              <a:buFont typeface="Arial"/>
              <a:buChar char="•"/>
            </a:pPr>
            <a:r>
              <a:rPr lang="en-US" sz="3922">
                <a:solidFill>
                  <a:srgbClr val="FFFFFF"/>
                </a:solidFill>
                <a:latin typeface="Prata"/>
                <a:ea typeface="Prata"/>
                <a:cs typeface="Prata"/>
                <a:sym typeface="Prata"/>
              </a:rPr>
              <a:t>Escalabilidad a futuro.</a:t>
            </a:r>
          </a:p>
        </p:txBody>
      </p:sp>
    </p:spTree>
  </p:cSld>
  <p:clrMapOvr>
    <a:masterClrMapping/>
  </p:clrMapOvr>
</p:sld>
</file>

<file path=ppt/slides/slide38.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2500" t="0" r="-12500" b="0"/>
            </a:stretch>
          </a:blipFill>
        </p:spPr>
      </p:sp>
      <p:sp>
        <p:nvSpPr>
          <p:cNvPr name="Freeform 3" id="3"/>
          <p:cNvSpPr/>
          <p:nvPr/>
        </p:nvSpPr>
        <p:spPr>
          <a:xfrm flipH="false" flipV="false" rot="-10800000">
            <a:off x="-116335" y="-82396"/>
            <a:ext cx="4697437" cy="4913254"/>
          </a:xfrm>
          <a:custGeom>
            <a:avLst/>
            <a:gdLst/>
            <a:ahLst/>
            <a:cxnLst/>
            <a:rect r="r" b="b" t="t" l="l"/>
            <a:pathLst>
              <a:path h="4913254" w="4697437">
                <a:moveTo>
                  <a:pt x="0" y="0"/>
                </a:moveTo>
                <a:lnTo>
                  <a:pt x="4697437" y="0"/>
                </a:lnTo>
                <a:lnTo>
                  <a:pt x="4697437" y="4913254"/>
                </a:lnTo>
                <a:lnTo>
                  <a:pt x="0" y="4913254"/>
                </a:lnTo>
                <a:lnTo>
                  <a:pt x="0" y="0"/>
                </a:lnTo>
                <a:close/>
              </a:path>
            </a:pathLst>
          </a:custGeom>
          <a:blipFill>
            <a:blip r:embed="rId3">
              <a:alphaModFix amt="74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4237959" y="1687581"/>
            <a:ext cx="10453428" cy="7955971"/>
          </a:xfrm>
          <a:custGeom>
            <a:avLst/>
            <a:gdLst/>
            <a:ahLst/>
            <a:cxnLst/>
            <a:rect r="r" b="b" t="t" l="l"/>
            <a:pathLst>
              <a:path h="7955971" w="10453428">
                <a:moveTo>
                  <a:pt x="0" y="0"/>
                </a:moveTo>
                <a:lnTo>
                  <a:pt x="10453428" y="0"/>
                </a:lnTo>
                <a:lnTo>
                  <a:pt x="10453428" y="7955971"/>
                </a:lnTo>
                <a:lnTo>
                  <a:pt x="0" y="7955971"/>
                </a:lnTo>
                <a:lnTo>
                  <a:pt x="0" y="0"/>
                </a:lnTo>
                <a:close/>
              </a:path>
            </a:pathLst>
          </a:custGeom>
          <a:blipFill>
            <a:blip r:embed="rId5"/>
            <a:stretch>
              <a:fillRect l="0" t="0" r="0" b="0"/>
            </a:stretch>
          </a:blipFill>
        </p:spPr>
      </p:sp>
      <p:sp>
        <p:nvSpPr>
          <p:cNvPr name="TextBox 5" id="5"/>
          <p:cNvSpPr txBox="true"/>
          <p:nvPr/>
        </p:nvSpPr>
        <p:spPr>
          <a:xfrm rot="0">
            <a:off x="2483532" y="356807"/>
            <a:ext cx="13320937" cy="671893"/>
          </a:xfrm>
          <a:prstGeom prst="rect">
            <a:avLst/>
          </a:prstGeom>
        </p:spPr>
        <p:txBody>
          <a:bodyPr anchor="t" rtlCol="false" tIns="0" lIns="0" bIns="0" rIns="0">
            <a:spAutoFit/>
          </a:bodyPr>
          <a:lstStyle/>
          <a:p>
            <a:pPr algn="ctr">
              <a:lnSpc>
                <a:spcPts val="5491"/>
              </a:lnSpc>
              <a:spcBef>
                <a:spcPct val="0"/>
              </a:spcBef>
            </a:pPr>
            <a:r>
              <a:rPr lang="en-US" sz="3922">
                <a:solidFill>
                  <a:srgbClr val="FFFFFF"/>
                </a:solidFill>
                <a:latin typeface="Prata"/>
                <a:ea typeface="Prata"/>
                <a:cs typeface="Prata"/>
                <a:sym typeface="Prata"/>
              </a:rPr>
              <a:t>9</a:t>
            </a:r>
            <a:r>
              <a:rPr lang="en-US" sz="3922">
                <a:solidFill>
                  <a:srgbClr val="FFFFFF"/>
                </a:solidFill>
                <a:latin typeface="Prata"/>
                <a:ea typeface="Prata"/>
                <a:cs typeface="Prata"/>
                <a:sym typeface="Prata"/>
              </a:rPr>
              <a:t>.1 Manejo de Datos: ¿Mutables o Inmutables?</a:t>
            </a:r>
          </a:p>
        </p:txBody>
      </p:sp>
    </p:spTree>
  </p:cSld>
  <p:clrMapOvr>
    <a:masterClrMapping/>
  </p:clrMapOvr>
</p:sld>
</file>

<file path=ppt/slides/slide39.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2500" t="0" r="-12500" b="0"/>
            </a:stretch>
          </a:blipFill>
        </p:spPr>
      </p:sp>
      <p:sp>
        <p:nvSpPr>
          <p:cNvPr name="Freeform 3" id="3"/>
          <p:cNvSpPr/>
          <p:nvPr/>
        </p:nvSpPr>
        <p:spPr>
          <a:xfrm flipH="false" flipV="false" rot="-10800000">
            <a:off x="-116335" y="-82396"/>
            <a:ext cx="4697437" cy="4913254"/>
          </a:xfrm>
          <a:custGeom>
            <a:avLst/>
            <a:gdLst/>
            <a:ahLst/>
            <a:cxnLst/>
            <a:rect r="r" b="b" t="t" l="l"/>
            <a:pathLst>
              <a:path h="4913254" w="4697437">
                <a:moveTo>
                  <a:pt x="0" y="0"/>
                </a:moveTo>
                <a:lnTo>
                  <a:pt x="4697437" y="0"/>
                </a:lnTo>
                <a:lnTo>
                  <a:pt x="4697437" y="4913254"/>
                </a:lnTo>
                <a:lnTo>
                  <a:pt x="0" y="4913254"/>
                </a:lnTo>
                <a:lnTo>
                  <a:pt x="0" y="0"/>
                </a:lnTo>
                <a:close/>
              </a:path>
            </a:pathLst>
          </a:custGeom>
          <a:blipFill>
            <a:blip r:embed="rId3">
              <a:alphaModFix amt="74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6657658" y="5292185"/>
            <a:ext cx="4972684" cy="4820014"/>
          </a:xfrm>
          <a:custGeom>
            <a:avLst/>
            <a:gdLst/>
            <a:ahLst/>
            <a:cxnLst/>
            <a:rect r="r" b="b" t="t" l="l"/>
            <a:pathLst>
              <a:path h="4820014" w="4972684">
                <a:moveTo>
                  <a:pt x="0" y="0"/>
                </a:moveTo>
                <a:lnTo>
                  <a:pt x="4972684" y="0"/>
                </a:lnTo>
                <a:lnTo>
                  <a:pt x="4972684" y="4820014"/>
                </a:lnTo>
                <a:lnTo>
                  <a:pt x="0" y="4820014"/>
                </a:lnTo>
                <a:lnTo>
                  <a:pt x="0" y="0"/>
                </a:lnTo>
                <a:close/>
              </a:path>
            </a:pathLst>
          </a:custGeom>
          <a:blipFill>
            <a:blip r:embed="rId5"/>
            <a:stretch>
              <a:fillRect l="0" t="0" r="0" b="0"/>
            </a:stretch>
          </a:blipFill>
        </p:spPr>
      </p:sp>
      <p:sp>
        <p:nvSpPr>
          <p:cNvPr name="TextBox 5" id="5"/>
          <p:cNvSpPr txBox="true"/>
          <p:nvPr/>
        </p:nvSpPr>
        <p:spPr>
          <a:xfrm rot="0">
            <a:off x="1365656" y="1690307"/>
            <a:ext cx="16059506" cy="4148518"/>
          </a:xfrm>
          <a:prstGeom prst="rect">
            <a:avLst/>
          </a:prstGeom>
        </p:spPr>
        <p:txBody>
          <a:bodyPr anchor="t" rtlCol="false" tIns="0" lIns="0" bIns="0" rIns="0">
            <a:spAutoFit/>
          </a:bodyPr>
          <a:lstStyle/>
          <a:p>
            <a:pPr algn="ctr">
              <a:lnSpc>
                <a:spcPts val="5491"/>
              </a:lnSpc>
              <a:spcBef>
                <a:spcPct val="0"/>
              </a:spcBef>
            </a:pPr>
            <a:r>
              <a:rPr lang="en-US" sz="3922">
                <a:solidFill>
                  <a:srgbClr val="FFFFFF"/>
                </a:solidFill>
                <a:latin typeface="Prata"/>
                <a:ea typeface="Prata"/>
                <a:cs typeface="Prata"/>
                <a:sym typeface="Prata"/>
              </a:rPr>
              <a:t>Los</a:t>
            </a:r>
            <a:r>
              <a:rPr lang="en-US" sz="3922">
                <a:solidFill>
                  <a:srgbClr val="FFFFFF"/>
                </a:solidFill>
                <a:latin typeface="Prata"/>
                <a:ea typeface="Prata"/>
                <a:cs typeface="Prata"/>
                <a:sym typeface="Prata"/>
              </a:rPr>
              <a:t> escenarios de calidad permiten evaluar si el sistema ERP satisface sus objetivos fundamentales. Se detallan en forma de árbol de utilidad (Utility Tree) y en una tabla de escenarios concretos. Cada escenario está diseñado para comprobar aspectos clave como usabilidad, eficiencia, adaptabilidad y confiabilidad.</a:t>
            </a:r>
          </a:p>
          <a:p>
            <a:pPr algn="ctr">
              <a:lnSpc>
                <a:spcPts val="5491"/>
              </a:lnSpc>
              <a:spcBef>
                <a:spcPct val="0"/>
              </a:spcBef>
            </a:pPr>
          </a:p>
        </p:txBody>
      </p:sp>
      <p:sp>
        <p:nvSpPr>
          <p:cNvPr name="TextBox 6" id="6"/>
          <p:cNvSpPr txBox="true"/>
          <p:nvPr/>
        </p:nvSpPr>
        <p:spPr>
          <a:xfrm rot="0">
            <a:off x="3410580" y="462852"/>
            <a:ext cx="11002403" cy="671893"/>
          </a:xfrm>
          <a:prstGeom prst="rect">
            <a:avLst/>
          </a:prstGeom>
        </p:spPr>
        <p:txBody>
          <a:bodyPr anchor="t" rtlCol="false" tIns="0" lIns="0" bIns="0" rIns="0">
            <a:spAutoFit/>
          </a:bodyPr>
          <a:lstStyle/>
          <a:p>
            <a:pPr algn="ctr">
              <a:lnSpc>
                <a:spcPts val="5491"/>
              </a:lnSpc>
              <a:spcBef>
                <a:spcPct val="0"/>
              </a:spcBef>
            </a:pPr>
            <a:r>
              <a:rPr lang="en-US" sz="3922">
                <a:solidFill>
                  <a:srgbClr val="FFFFFF"/>
                </a:solidFill>
                <a:latin typeface="Prata"/>
                <a:ea typeface="Prata"/>
                <a:cs typeface="Prata"/>
                <a:sym typeface="Prata"/>
              </a:rPr>
              <a:t>V.10 Escenarios De Calidad</a:t>
            </a:r>
          </a:p>
        </p:txBody>
      </p:sp>
    </p:spTree>
  </p:cSld>
  <p:clrMapOvr>
    <a:masterClrMapping/>
  </p:clrMapOvr>
</p:sld>
</file>

<file path=ppt/slides/slide40.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2500" t="0" r="-12500" b="0"/>
            </a:stretch>
          </a:blipFill>
        </p:spPr>
      </p:sp>
      <p:sp>
        <p:nvSpPr>
          <p:cNvPr name="Freeform 3" id="3"/>
          <p:cNvSpPr/>
          <p:nvPr/>
        </p:nvSpPr>
        <p:spPr>
          <a:xfrm flipH="false" flipV="false" rot="-10800000">
            <a:off x="-116335" y="-82396"/>
            <a:ext cx="4697437" cy="4913254"/>
          </a:xfrm>
          <a:custGeom>
            <a:avLst/>
            <a:gdLst/>
            <a:ahLst/>
            <a:cxnLst/>
            <a:rect r="r" b="b" t="t" l="l"/>
            <a:pathLst>
              <a:path h="4913254" w="4697437">
                <a:moveTo>
                  <a:pt x="0" y="0"/>
                </a:moveTo>
                <a:lnTo>
                  <a:pt x="4697437" y="0"/>
                </a:lnTo>
                <a:lnTo>
                  <a:pt x="4697437" y="4913254"/>
                </a:lnTo>
                <a:lnTo>
                  <a:pt x="0" y="4913254"/>
                </a:lnTo>
                <a:lnTo>
                  <a:pt x="0" y="0"/>
                </a:lnTo>
                <a:close/>
              </a:path>
            </a:pathLst>
          </a:custGeom>
          <a:blipFill>
            <a:blip r:embed="rId3">
              <a:alphaModFix amt="74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7381099" y="205798"/>
            <a:ext cx="9496241" cy="9875404"/>
          </a:xfrm>
          <a:custGeom>
            <a:avLst/>
            <a:gdLst/>
            <a:ahLst/>
            <a:cxnLst/>
            <a:rect r="r" b="b" t="t" l="l"/>
            <a:pathLst>
              <a:path h="9875404" w="9496241">
                <a:moveTo>
                  <a:pt x="0" y="0"/>
                </a:moveTo>
                <a:lnTo>
                  <a:pt x="9496241" y="0"/>
                </a:lnTo>
                <a:lnTo>
                  <a:pt x="9496241" y="9875404"/>
                </a:lnTo>
                <a:lnTo>
                  <a:pt x="0" y="9875404"/>
                </a:lnTo>
                <a:lnTo>
                  <a:pt x="0" y="0"/>
                </a:lnTo>
                <a:close/>
              </a:path>
            </a:pathLst>
          </a:custGeom>
          <a:blipFill>
            <a:blip r:embed="rId5"/>
            <a:stretch>
              <a:fillRect l="0" t="0" r="-2370" b="0"/>
            </a:stretch>
          </a:blipFill>
        </p:spPr>
      </p:sp>
      <p:sp>
        <p:nvSpPr>
          <p:cNvPr name="TextBox 5" id="5"/>
          <p:cNvSpPr txBox="true"/>
          <p:nvPr/>
        </p:nvSpPr>
        <p:spPr>
          <a:xfrm rot="0">
            <a:off x="-1699199" y="4754658"/>
            <a:ext cx="11002403" cy="671893"/>
          </a:xfrm>
          <a:prstGeom prst="rect">
            <a:avLst/>
          </a:prstGeom>
        </p:spPr>
        <p:txBody>
          <a:bodyPr anchor="t" rtlCol="false" tIns="0" lIns="0" bIns="0" rIns="0">
            <a:spAutoFit/>
          </a:bodyPr>
          <a:lstStyle/>
          <a:p>
            <a:pPr algn="ctr">
              <a:lnSpc>
                <a:spcPts val="5491"/>
              </a:lnSpc>
              <a:spcBef>
                <a:spcPct val="0"/>
              </a:spcBef>
            </a:pPr>
            <a:r>
              <a:rPr lang="en-US" sz="3922">
                <a:solidFill>
                  <a:srgbClr val="FFFFFF"/>
                </a:solidFill>
                <a:latin typeface="Prata"/>
                <a:ea typeface="Prata"/>
                <a:cs typeface="Prata"/>
                <a:sym typeface="Prata"/>
              </a:rPr>
              <a:t>10.1 Árbol de Utilidad</a:t>
            </a:r>
          </a:p>
        </p:txBody>
      </p:sp>
    </p:spTree>
  </p:cSld>
  <p:clrMapOvr>
    <a:masterClrMapping/>
  </p:clrMapOvr>
</p:sld>
</file>

<file path=ppt/slides/slide41.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2500" t="0" r="-12500" b="0"/>
            </a:stretch>
          </a:blipFill>
        </p:spPr>
      </p:sp>
      <p:sp>
        <p:nvSpPr>
          <p:cNvPr name="Freeform 3" id="3"/>
          <p:cNvSpPr/>
          <p:nvPr/>
        </p:nvSpPr>
        <p:spPr>
          <a:xfrm flipH="false" flipV="false" rot="-10800000">
            <a:off x="-116335" y="-82396"/>
            <a:ext cx="4697437" cy="4913254"/>
          </a:xfrm>
          <a:custGeom>
            <a:avLst/>
            <a:gdLst/>
            <a:ahLst/>
            <a:cxnLst/>
            <a:rect r="r" b="b" t="t" l="l"/>
            <a:pathLst>
              <a:path h="4913254" w="4697437">
                <a:moveTo>
                  <a:pt x="0" y="0"/>
                </a:moveTo>
                <a:lnTo>
                  <a:pt x="4697437" y="0"/>
                </a:lnTo>
                <a:lnTo>
                  <a:pt x="4697437" y="4913254"/>
                </a:lnTo>
                <a:lnTo>
                  <a:pt x="0" y="4913254"/>
                </a:lnTo>
                <a:lnTo>
                  <a:pt x="0" y="0"/>
                </a:lnTo>
                <a:close/>
              </a:path>
            </a:pathLst>
          </a:custGeom>
          <a:blipFill>
            <a:blip r:embed="rId3">
              <a:alphaModFix amt="74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5754841" y="5363302"/>
            <a:ext cx="7281135" cy="4350478"/>
          </a:xfrm>
          <a:custGeom>
            <a:avLst/>
            <a:gdLst/>
            <a:ahLst/>
            <a:cxnLst/>
            <a:rect r="r" b="b" t="t" l="l"/>
            <a:pathLst>
              <a:path h="4350478" w="7281135">
                <a:moveTo>
                  <a:pt x="0" y="0"/>
                </a:moveTo>
                <a:lnTo>
                  <a:pt x="7281136" y="0"/>
                </a:lnTo>
                <a:lnTo>
                  <a:pt x="7281136" y="4350479"/>
                </a:lnTo>
                <a:lnTo>
                  <a:pt x="0" y="4350479"/>
                </a:lnTo>
                <a:lnTo>
                  <a:pt x="0" y="0"/>
                </a:lnTo>
                <a:close/>
              </a:path>
            </a:pathLst>
          </a:custGeom>
          <a:blipFill>
            <a:blip r:embed="rId5"/>
            <a:stretch>
              <a:fillRect l="0" t="0" r="0" b="0"/>
            </a:stretch>
          </a:blipFill>
        </p:spPr>
      </p:sp>
      <p:sp>
        <p:nvSpPr>
          <p:cNvPr name="TextBox 5" id="5"/>
          <p:cNvSpPr txBox="true"/>
          <p:nvPr/>
        </p:nvSpPr>
        <p:spPr>
          <a:xfrm rot="0">
            <a:off x="1365656" y="1690307"/>
            <a:ext cx="16059506" cy="2757868"/>
          </a:xfrm>
          <a:prstGeom prst="rect">
            <a:avLst/>
          </a:prstGeom>
        </p:spPr>
        <p:txBody>
          <a:bodyPr anchor="t" rtlCol="false" tIns="0" lIns="0" bIns="0" rIns="0">
            <a:spAutoFit/>
          </a:bodyPr>
          <a:lstStyle/>
          <a:p>
            <a:pPr algn="ctr">
              <a:lnSpc>
                <a:spcPts val="5491"/>
              </a:lnSpc>
              <a:spcBef>
                <a:spcPct val="0"/>
              </a:spcBef>
            </a:pPr>
            <a:r>
              <a:rPr lang="en-US" sz="3922">
                <a:solidFill>
                  <a:srgbClr val="FFFFFF"/>
                </a:solidFill>
                <a:latin typeface="Prata"/>
                <a:ea typeface="Prata"/>
                <a:cs typeface="Prata"/>
                <a:sym typeface="Prata"/>
              </a:rPr>
              <a:t>Se</a:t>
            </a:r>
            <a:r>
              <a:rPr lang="en-US" sz="3922">
                <a:solidFill>
                  <a:srgbClr val="FFFFFF"/>
                </a:solidFill>
                <a:latin typeface="Prata"/>
                <a:ea typeface="Prata"/>
                <a:cs typeface="Prata"/>
                <a:sym typeface="Prata"/>
              </a:rPr>
              <a:t> han identificado los siguientes riesgos al inicio del proyecto (abril 2025). Estos influyeron significativamente en la planificación de las primeras tres iteraciones. Desde la finalización de la tercera iteración, estos riesgos han sido gestionados adecuadamente</a:t>
            </a:r>
          </a:p>
        </p:txBody>
      </p:sp>
      <p:sp>
        <p:nvSpPr>
          <p:cNvPr name="TextBox 6" id="6"/>
          <p:cNvSpPr txBox="true"/>
          <p:nvPr/>
        </p:nvSpPr>
        <p:spPr>
          <a:xfrm rot="0">
            <a:off x="3410580" y="462852"/>
            <a:ext cx="11002403" cy="671893"/>
          </a:xfrm>
          <a:prstGeom prst="rect">
            <a:avLst/>
          </a:prstGeom>
        </p:spPr>
        <p:txBody>
          <a:bodyPr anchor="t" rtlCol="false" tIns="0" lIns="0" bIns="0" rIns="0">
            <a:spAutoFit/>
          </a:bodyPr>
          <a:lstStyle/>
          <a:p>
            <a:pPr algn="ctr">
              <a:lnSpc>
                <a:spcPts val="5491"/>
              </a:lnSpc>
              <a:spcBef>
                <a:spcPct val="0"/>
              </a:spcBef>
            </a:pPr>
            <a:r>
              <a:rPr lang="en-US" sz="3922">
                <a:solidFill>
                  <a:srgbClr val="FFFFFF"/>
                </a:solidFill>
                <a:latin typeface="Prata"/>
                <a:ea typeface="Prata"/>
                <a:cs typeface="Prata"/>
                <a:sym typeface="Prata"/>
              </a:rPr>
              <a:t>V.11 Riesgos</a:t>
            </a:r>
          </a:p>
        </p:txBody>
      </p:sp>
    </p:spTree>
  </p:cSld>
  <p:clrMapOvr>
    <a:masterClrMapping/>
  </p:clrMapOvr>
</p:sld>
</file>

<file path=ppt/slides/slide42.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2500" t="0" r="-12500" b="0"/>
            </a:stretch>
          </a:blipFill>
        </p:spPr>
      </p:sp>
      <p:sp>
        <p:nvSpPr>
          <p:cNvPr name="Freeform 3" id="3"/>
          <p:cNvSpPr/>
          <p:nvPr/>
        </p:nvSpPr>
        <p:spPr>
          <a:xfrm flipH="false" flipV="false" rot="-10800000">
            <a:off x="-116335" y="-82396"/>
            <a:ext cx="4697437" cy="4913254"/>
          </a:xfrm>
          <a:custGeom>
            <a:avLst/>
            <a:gdLst/>
            <a:ahLst/>
            <a:cxnLst/>
            <a:rect r="r" b="b" t="t" l="l"/>
            <a:pathLst>
              <a:path h="4913254" w="4697437">
                <a:moveTo>
                  <a:pt x="0" y="0"/>
                </a:moveTo>
                <a:lnTo>
                  <a:pt x="4697437" y="0"/>
                </a:lnTo>
                <a:lnTo>
                  <a:pt x="4697437" y="4913254"/>
                </a:lnTo>
                <a:lnTo>
                  <a:pt x="0" y="4913254"/>
                </a:lnTo>
                <a:lnTo>
                  <a:pt x="0" y="0"/>
                </a:lnTo>
                <a:close/>
              </a:path>
            </a:pathLst>
          </a:custGeom>
          <a:blipFill>
            <a:blip r:embed="rId3">
              <a:alphaModFix amt="74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6251642" y="4830858"/>
            <a:ext cx="5784716" cy="4661470"/>
          </a:xfrm>
          <a:custGeom>
            <a:avLst/>
            <a:gdLst/>
            <a:ahLst/>
            <a:cxnLst/>
            <a:rect r="r" b="b" t="t" l="l"/>
            <a:pathLst>
              <a:path h="4661470" w="5784716">
                <a:moveTo>
                  <a:pt x="0" y="0"/>
                </a:moveTo>
                <a:lnTo>
                  <a:pt x="5784716" y="0"/>
                </a:lnTo>
                <a:lnTo>
                  <a:pt x="5784716" y="4661470"/>
                </a:lnTo>
                <a:lnTo>
                  <a:pt x="0" y="4661470"/>
                </a:lnTo>
                <a:lnTo>
                  <a:pt x="0" y="0"/>
                </a:lnTo>
                <a:close/>
              </a:path>
            </a:pathLst>
          </a:custGeom>
          <a:blipFill>
            <a:blip r:embed="rId5"/>
            <a:stretch>
              <a:fillRect l="0" t="0" r="0" b="0"/>
            </a:stretch>
          </a:blipFill>
        </p:spPr>
      </p:sp>
      <p:sp>
        <p:nvSpPr>
          <p:cNvPr name="TextBox 5" id="5"/>
          <p:cNvSpPr txBox="true"/>
          <p:nvPr/>
        </p:nvSpPr>
        <p:spPr>
          <a:xfrm rot="0">
            <a:off x="1199794" y="1835499"/>
            <a:ext cx="16059506" cy="2757868"/>
          </a:xfrm>
          <a:prstGeom prst="rect">
            <a:avLst/>
          </a:prstGeom>
        </p:spPr>
        <p:txBody>
          <a:bodyPr anchor="t" rtlCol="false" tIns="0" lIns="0" bIns="0" rIns="0">
            <a:spAutoFit/>
          </a:bodyPr>
          <a:lstStyle/>
          <a:p>
            <a:pPr algn="ctr">
              <a:lnSpc>
                <a:spcPts val="5491"/>
              </a:lnSpc>
              <a:spcBef>
                <a:spcPct val="0"/>
              </a:spcBef>
            </a:pPr>
            <a:r>
              <a:rPr lang="en-US" sz="3922">
                <a:solidFill>
                  <a:srgbClr val="FFFFFF"/>
                </a:solidFill>
                <a:latin typeface="Prata"/>
                <a:ea typeface="Prata"/>
                <a:cs typeface="Prata"/>
                <a:sym typeface="Prata"/>
              </a:rPr>
              <a:t>No</a:t>
            </a:r>
            <a:r>
              <a:rPr lang="en-US" sz="3922">
                <a:solidFill>
                  <a:srgbClr val="FFFFFF"/>
                </a:solidFill>
                <a:latin typeface="Prata"/>
                <a:ea typeface="Prata"/>
                <a:cs typeface="Prata"/>
                <a:sym typeface="Prata"/>
              </a:rPr>
              <a:t> se sabe cómo integrar el nuevo sistema con las herramientas del bufete. Como solución temporal, se propone importar/exportar datos manualmente y crear un prototipo de integración con un sistema clave para evaluar su viabilidad.</a:t>
            </a:r>
          </a:p>
        </p:txBody>
      </p:sp>
      <p:sp>
        <p:nvSpPr>
          <p:cNvPr name="TextBox 6" id="6"/>
          <p:cNvSpPr txBox="true"/>
          <p:nvPr/>
        </p:nvSpPr>
        <p:spPr>
          <a:xfrm rot="0">
            <a:off x="3642799" y="306991"/>
            <a:ext cx="11002403" cy="1367218"/>
          </a:xfrm>
          <a:prstGeom prst="rect">
            <a:avLst/>
          </a:prstGeom>
        </p:spPr>
        <p:txBody>
          <a:bodyPr anchor="t" rtlCol="false" tIns="0" lIns="0" bIns="0" rIns="0">
            <a:spAutoFit/>
          </a:bodyPr>
          <a:lstStyle/>
          <a:p>
            <a:pPr algn="ctr">
              <a:lnSpc>
                <a:spcPts val="5491"/>
              </a:lnSpc>
              <a:spcBef>
                <a:spcPct val="0"/>
              </a:spcBef>
            </a:pPr>
            <a:r>
              <a:rPr lang="en-US" sz="3922">
                <a:solidFill>
                  <a:srgbClr val="FFFFFF"/>
                </a:solidFill>
                <a:latin typeface="Prata"/>
                <a:ea typeface="Prata"/>
                <a:cs typeface="Prata"/>
                <a:sym typeface="Prata"/>
              </a:rPr>
              <a:t>11</a:t>
            </a:r>
            <a:r>
              <a:rPr lang="en-US" sz="3922">
                <a:solidFill>
                  <a:srgbClr val="FFFFFF"/>
                </a:solidFill>
                <a:latin typeface="Prata"/>
                <a:ea typeface="Prata"/>
                <a:cs typeface="Prata"/>
                <a:sym typeface="Prata"/>
              </a:rPr>
              <a:t>.1 Riesgo: Integración con Sistemas Existentes</a:t>
            </a:r>
          </a:p>
        </p:txBody>
      </p:sp>
    </p:spTree>
  </p:cSld>
  <p:clrMapOvr>
    <a:masterClrMapping/>
  </p:clrMapOvr>
</p:sld>
</file>

<file path=ppt/slides/slide43.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2500" t="0" r="-12500" b="0"/>
            </a:stretch>
          </a:blipFill>
        </p:spPr>
      </p:sp>
      <p:sp>
        <p:nvSpPr>
          <p:cNvPr name="Freeform 3" id="3"/>
          <p:cNvSpPr/>
          <p:nvPr/>
        </p:nvSpPr>
        <p:spPr>
          <a:xfrm flipH="false" flipV="false" rot="-10800000">
            <a:off x="-116335" y="-82396"/>
            <a:ext cx="4697437" cy="4913254"/>
          </a:xfrm>
          <a:custGeom>
            <a:avLst/>
            <a:gdLst/>
            <a:ahLst/>
            <a:cxnLst/>
            <a:rect r="r" b="b" t="t" l="l"/>
            <a:pathLst>
              <a:path h="4913254" w="4697437">
                <a:moveTo>
                  <a:pt x="0" y="0"/>
                </a:moveTo>
                <a:lnTo>
                  <a:pt x="4697437" y="0"/>
                </a:lnTo>
                <a:lnTo>
                  <a:pt x="4697437" y="4913254"/>
                </a:lnTo>
                <a:lnTo>
                  <a:pt x="0" y="4913254"/>
                </a:lnTo>
                <a:lnTo>
                  <a:pt x="0" y="0"/>
                </a:lnTo>
                <a:close/>
              </a:path>
            </a:pathLst>
          </a:custGeom>
          <a:blipFill>
            <a:blip r:embed="rId3">
              <a:alphaModFix amt="74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1591404" y="5401024"/>
            <a:ext cx="6510870" cy="4337587"/>
          </a:xfrm>
          <a:custGeom>
            <a:avLst/>
            <a:gdLst/>
            <a:ahLst/>
            <a:cxnLst/>
            <a:rect r="r" b="b" t="t" l="l"/>
            <a:pathLst>
              <a:path h="4337587" w="6510870">
                <a:moveTo>
                  <a:pt x="0" y="0"/>
                </a:moveTo>
                <a:lnTo>
                  <a:pt x="6510871" y="0"/>
                </a:lnTo>
                <a:lnTo>
                  <a:pt x="6510871" y="4337587"/>
                </a:lnTo>
                <a:lnTo>
                  <a:pt x="0" y="4337587"/>
                </a:lnTo>
                <a:lnTo>
                  <a:pt x="0" y="0"/>
                </a:lnTo>
                <a:close/>
              </a:path>
            </a:pathLst>
          </a:custGeom>
          <a:blipFill>
            <a:blip r:embed="rId5"/>
            <a:stretch>
              <a:fillRect l="0" t="0" r="0" b="0"/>
            </a:stretch>
          </a:blipFill>
        </p:spPr>
      </p:sp>
      <p:sp>
        <p:nvSpPr>
          <p:cNvPr name="Freeform 5" id="5"/>
          <p:cNvSpPr/>
          <p:nvPr/>
        </p:nvSpPr>
        <p:spPr>
          <a:xfrm flipH="false" flipV="false" rot="0">
            <a:off x="10126055" y="5621002"/>
            <a:ext cx="6918872" cy="3897631"/>
          </a:xfrm>
          <a:custGeom>
            <a:avLst/>
            <a:gdLst/>
            <a:ahLst/>
            <a:cxnLst/>
            <a:rect r="r" b="b" t="t" l="l"/>
            <a:pathLst>
              <a:path h="3897631" w="6918872">
                <a:moveTo>
                  <a:pt x="0" y="0"/>
                </a:moveTo>
                <a:lnTo>
                  <a:pt x="6918872" y="0"/>
                </a:lnTo>
                <a:lnTo>
                  <a:pt x="6918872" y="3897631"/>
                </a:lnTo>
                <a:lnTo>
                  <a:pt x="0" y="3897631"/>
                </a:lnTo>
                <a:lnTo>
                  <a:pt x="0" y="0"/>
                </a:lnTo>
                <a:close/>
              </a:path>
            </a:pathLst>
          </a:custGeom>
          <a:blipFill>
            <a:blip r:embed="rId6"/>
            <a:stretch>
              <a:fillRect l="0" t="0" r="0" b="0"/>
            </a:stretch>
          </a:blipFill>
        </p:spPr>
      </p:sp>
      <p:sp>
        <p:nvSpPr>
          <p:cNvPr name="TextBox 6" id="6"/>
          <p:cNvSpPr txBox="true"/>
          <p:nvPr/>
        </p:nvSpPr>
        <p:spPr>
          <a:xfrm rot="0">
            <a:off x="2483532" y="356807"/>
            <a:ext cx="13320937" cy="671893"/>
          </a:xfrm>
          <a:prstGeom prst="rect">
            <a:avLst/>
          </a:prstGeom>
        </p:spPr>
        <p:txBody>
          <a:bodyPr anchor="t" rtlCol="false" tIns="0" lIns="0" bIns="0" rIns="0">
            <a:spAutoFit/>
          </a:bodyPr>
          <a:lstStyle/>
          <a:p>
            <a:pPr algn="ctr">
              <a:lnSpc>
                <a:spcPts val="5491"/>
              </a:lnSpc>
              <a:spcBef>
                <a:spcPct val="0"/>
              </a:spcBef>
            </a:pPr>
            <a:r>
              <a:rPr lang="en-US" sz="3922">
                <a:solidFill>
                  <a:srgbClr val="FFFFFF"/>
                </a:solidFill>
                <a:latin typeface="Prata"/>
                <a:ea typeface="Prata"/>
                <a:cs typeface="Prata"/>
                <a:sym typeface="Prata"/>
              </a:rPr>
              <a:t>11</a:t>
            </a:r>
            <a:r>
              <a:rPr lang="en-US" sz="3922">
                <a:solidFill>
                  <a:srgbClr val="FFFFFF"/>
                </a:solidFill>
                <a:latin typeface="Prata"/>
                <a:ea typeface="Prata"/>
                <a:cs typeface="Prata"/>
                <a:sym typeface="Prata"/>
              </a:rPr>
              <a:t>.2 Riesgo: Esfuerzo de Implementación</a:t>
            </a:r>
          </a:p>
        </p:txBody>
      </p:sp>
      <p:sp>
        <p:nvSpPr>
          <p:cNvPr name="TextBox 7" id="7"/>
          <p:cNvSpPr txBox="true"/>
          <p:nvPr/>
        </p:nvSpPr>
        <p:spPr>
          <a:xfrm rot="0">
            <a:off x="4262914" y="2385632"/>
            <a:ext cx="9762173" cy="2757868"/>
          </a:xfrm>
          <a:prstGeom prst="rect">
            <a:avLst/>
          </a:prstGeom>
        </p:spPr>
        <p:txBody>
          <a:bodyPr anchor="t" rtlCol="false" tIns="0" lIns="0" bIns="0" rIns="0">
            <a:spAutoFit/>
          </a:bodyPr>
          <a:lstStyle/>
          <a:p>
            <a:pPr algn="just" marL="846871" indent="-423435" lvl="1">
              <a:lnSpc>
                <a:spcPts val="5491"/>
              </a:lnSpc>
              <a:buFont typeface="Arial"/>
              <a:buChar char="•"/>
            </a:pPr>
            <a:r>
              <a:rPr lang="en-US" sz="3922">
                <a:solidFill>
                  <a:srgbClr val="FFFFFF"/>
                </a:solidFill>
                <a:latin typeface="Prata"/>
                <a:ea typeface="Prata"/>
                <a:cs typeface="Prata"/>
                <a:sym typeface="Prata"/>
              </a:rPr>
              <a:t>Reg</a:t>
            </a:r>
            <a:r>
              <a:rPr lang="en-US" sz="3922">
                <a:solidFill>
                  <a:srgbClr val="FFFFFF"/>
                </a:solidFill>
                <a:latin typeface="Prata"/>
                <a:ea typeface="Prata"/>
                <a:cs typeface="Prata"/>
                <a:sym typeface="Prata"/>
              </a:rPr>
              <a:t>istro de casos</a:t>
            </a:r>
          </a:p>
          <a:p>
            <a:pPr algn="just" marL="846871" indent="-423435" lvl="1">
              <a:lnSpc>
                <a:spcPts val="5491"/>
              </a:lnSpc>
              <a:buFont typeface="Arial"/>
              <a:buChar char="•"/>
            </a:pPr>
            <a:r>
              <a:rPr lang="en-US" sz="3922">
                <a:solidFill>
                  <a:srgbClr val="FFFFFF"/>
                </a:solidFill>
                <a:latin typeface="Prata"/>
                <a:ea typeface="Prata"/>
                <a:cs typeface="Prata"/>
                <a:sym typeface="Prata"/>
              </a:rPr>
              <a:t>Gestión de clientes</a:t>
            </a:r>
          </a:p>
          <a:p>
            <a:pPr algn="just" marL="846871" indent="-423435" lvl="1">
              <a:lnSpc>
                <a:spcPts val="5491"/>
              </a:lnSpc>
              <a:buFont typeface="Arial"/>
              <a:buChar char="•"/>
            </a:pPr>
            <a:r>
              <a:rPr lang="en-US" sz="3922">
                <a:solidFill>
                  <a:srgbClr val="FFFFFF"/>
                </a:solidFill>
                <a:latin typeface="Prata"/>
                <a:ea typeface="Prata"/>
                <a:cs typeface="Prata"/>
                <a:sym typeface="Prata"/>
              </a:rPr>
              <a:t>Agenda de audiencias y vencimientos</a:t>
            </a:r>
          </a:p>
          <a:p>
            <a:pPr algn="just">
              <a:lnSpc>
                <a:spcPts val="5491"/>
              </a:lnSpc>
            </a:pPr>
          </a:p>
        </p:txBody>
      </p:sp>
    </p:spTree>
  </p:cSld>
  <p:clrMapOvr>
    <a:masterClrMapping/>
  </p:clrMapOvr>
</p:sld>
</file>

<file path=ppt/slides/slide44.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2500" t="0" r="-12500" b="0"/>
            </a:stretch>
          </a:blipFill>
        </p:spPr>
      </p:sp>
      <p:sp>
        <p:nvSpPr>
          <p:cNvPr name="Freeform 3" id="3"/>
          <p:cNvSpPr/>
          <p:nvPr/>
        </p:nvSpPr>
        <p:spPr>
          <a:xfrm flipH="false" flipV="false" rot="-10800000">
            <a:off x="-116335" y="-82396"/>
            <a:ext cx="4697437" cy="4913254"/>
          </a:xfrm>
          <a:custGeom>
            <a:avLst/>
            <a:gdLst/>
            <a:ahLst/>
            <a:cxnLst/>
            <a:rect r="r" b="b" t="t" l="l"/>
            <a:pathLst>
              <a:path h="4913254" w="4697437">
                <a:moveTo>
                  <a:pt x="0" y="0"/>
                </a:moveTo>
                <a:lnTo>
                  <a:pt x="4697437" y="0"/>
                </a:lnTo>
                <a:lnTo>
                  <a:pt x="4697437" y="4913254"/>
                </a:lnTo>
                <a:lnTo>
                  <a:pt x="0" y="4913254"/>
                </a:lnTo>
                <a:lnTo>
                  <a:pt x="0" y="0"/>
                </a:lnTo>
                <a:close/>
              </a:path>
            </a:pathLst>
          </a:custGeom>
          <a:blipFill>
            <a:blip r:embed="rId3">
              <a:alphaModFix amt="74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5151791" y="1294725"/>
            <a:ext cx="8488964" cy="8649133"/>
          </a:xfrm>
          <a:custGeom>
            <a:avLst/>
            <a:gdLst/>
            <a:ahLst/>
            <a:cxnLst/>
            <a:rect r="r" b="b" t="t" l="l"/>
            <a:pathLst>
              <a:path h="8649133" w="8488964">
                <a:moveTo>
                  <a:pt x="0" y="0"/>
                </a:moveTo>
                <a:lnTo>
                  <a:pt x="8488964" y="0"/>
                </a:lnTo>
                <a:lnTo>
                  <a:pt x="8488964" y="8649133"/>
                </a:lnTo>
                <a:lnTo>
                  <a:pt x="0" y="8649133"/>
                </a:lnTo>
                <a:lnTo>
                  <a:pt x="0" y="0"/>
                </a:lnTo>
                <a:close/>
              </a:path>
            </a:pathLst>
          </a:custGeom>
          <a:blipFill>
            <a:blip r:embed="rId5"/>
            <a:stretch>
              <a:fillRect l="0" t="0" r="0" b="0"/>
            </a:stretch>
          </a:blipFill>
        </p:spPr>
      </p:sp>
      <p:sp>
        <p:nvSpPr>
          <p:cNvPr name="TextBox 5" id="5"/>
          <p:cNvSpPr txBox="true"/>
          <p:nvPr/>
        </p:nvSpPr>
        <p:spPr>
          <a:xfrm rot="0">
            <a:off x="2483532" y="356807"/>
            <a:ext cx="13320937" cy="671893"/>
          </a:xfrm>
          <a:prstGeom prst="rect">
            <a:avLst/>
          </a:prstGeom>
        </p:spPr>
        <p:txBody>
          <a:bodyPr anchor="t" rtlCol="false" tIns="0" lIns="0" bIns="0" rIns="0">
            <a:spAutoFit/>
          </a:bodyPr>
          <a:lstStyle/>
          <a:p>
            <a:pPr algn="ctr">
              <a:lnSpc>
                <a:spcPts val="5491"/>
              </a:lnSpc>
              <a:spcBef>
                <a:spcPct val="0"/>
              </a:spcBef>
            </a:pPr>
            <a:r>
              <a:rPr lang="en-US" sz="3922">
                <a:solidFill>
                  <a:srgbClr val="FFFFFF"/>
                </a:solidFill>
                <a:latin typeface="Prata"/>
                <a:ea typeface="Prata"/>
                <a:cs typeface="Prata"/>
                <a:sym typeface="Prata"/>
              </a:rPr>
              <a:t>V</a:t>
            </a:r>
            <a:r>
              <a:rPr lang="en-US" sz="3922">
                <a:solidFill>
                  <a:srgbClr val="FFFFFF"/>
                </a:solidFill>
                <a:latin typeface="Prata"/>
                <a:ea typeface="Prata"/>
                <a:cs typeface="Prata"/>
                <a:sym typeface="Prata"/>
              </a:rPr>
              <a:t>.12 Glosario</a:t>
            </a:r>
          </a:p>
        </p:txBody>
      </p:sp>
    </p:spTree>
  </p:cSld>
  <p:clrMapOvr>
    <a:masterClrMapping/>
  </p:clrMapOvr>
</p:sld>
</file>

<file path=ppt/slides/slide45.xml><?xml version="1.0" encoding="utf-8"?>
<p:sld xmlns:p="http://schemas.openxmlformats.org/presentationml/2006/main" xmlns:a="http://schemas.openxmlformats.org/drawingml/2006/main" xmlns:r="http://schemas.openxmlformats.org/officeDocument/2006/relationships">
  <p:cSld>
    <p:spTree>
      <p:nvGrpSpPr>
        <p:cNvPr id="1" name=""/>
        <p:cNvGrpSpPr/>
        <p:nvPr/>
      </p:nvGrpSpPr>
      <p:grpSpPr>
        <a:xfrm>
          <a:off x="0" y="0"/>
          <a:ext cx="0" cy="0"/>
          <a:chOff x="0" y="0"/>
          <a:chExt cx="0" cy="0"/>
        </a:xfrm>
      </p:grpSpPr>
      <p:sp>
        <p:nvSpPr>
          <p:cNvPr name="Freeform 2" id="2"/>
          <p:cNvSpPr/>
          <p:nvPr/>
        </p:nvSpPr>
        <p:spPr>
          <a:xfrm flipH="false" flipV="false" rot="0">
            <a:off x="0" y="0"/>
            <a:ext cx="18288000" cy="10287000"/>
          </a:xfrm>
          <a:custGeom>
            <a:avLst/>
            <a:gdLst/>
            <a:ahLst/>
            <a:cxnLst/>
            <a:rect r="r" b="b" t="t" l="l"/>
            <a:pathLst>
              <a:path h="10287000" w="18288000">
                <a:moveTo>
                  <a:pt x="0" y="0"/>
                </a:moveTo>
                <a:lnTo>
                  <a:pt x="18288000" y="0"/>
                </a:lnTo>
                <a:lnTo>
                  <a:pt x="18288000" y="10287000"/>
                </a:lnTo>
                <a:lnTo>
                  <a:pt x="0" y="10287000"/>
                </a:lnTo>
                <a:lnTo>
                  <a:pt x="0" y="0"/>
                </a:lnTo>
                <a:close/>
              </a:path>
            </a:pathLst>
          </a:custGeom>
          <a:blipFill>
            <a:blip r:embed="rId2"/>
            <a:stretch>
              <a:fillRect l="-12500" t="0" r="-12500" b="0"/>
            </a:stretch>
          </a:blipFill>
        </p:spPr>
      </p:sp>
      <p:sp>
        <p:nvSpPr>
          <p:cNvPr name="Freeform 3" id="3"/>
          <p:cNvSpPr/>
          <p:nvPr/>
        </p:nvSpPr>
        <p:spPr>
          <a:xfrm flipH="false" flipV="false" rot="-10800000">
            <a:off x="-116335" y="-82396"/>
            <a:ext cx="4697437" cy="4913254"/>
          </a:xfrm>
          <a:custGeom>
            <a:avLst/>
            <a:gdLst/>
            <a:ahLst/>
            <a:cxnLst/>
            <a:rect r="r" b="b" t="t" l="l"/>
            <a:pathLst>
              <a:path h="4913254" w="4697437">
                <a:moveTo>
                  <a:pt x="0" y="0"/>
                </a:moveTo>
                <a:lnTo>
                  <a:pt x="4697437" y="0"/>
                </a:lnTo>
                <a:lnTo>
                  <a:pt x="4697437" y="4913254"/>
                </a:lnTo>
                <a:lnTo>
                  <a:pt x="0" y="4913254"/>
                </a:lnTo>
                <a:lnTo>
                  <a:pt x="0" y="0"/>
                </a:lnTo>
                <a:close/>
              </a:path>
            </a:pathLst>
          </a:custGeom>
          <a:blipFill>
            <a:blip r:embed="rId3">
              <a:alphaModFix amt="74000"/>
              <a:extLst>
                <a:ext uri="{96DAC541-7B7A-43D3-8B79-37D633B846F1}">
                  <asvg:svgBlip xmlns:asvg="http://schemas.microsoft.com/office/drawing/2016/SVG/main" r:embed="rId4"/>
                </a:ext>
              </a:extLst>
            </a:blip>
            <a:stretch>
              <a:fillRect l="0" t="0" r="0" b="0"/>
            </a:stretch>
          </a:blipFill>
        </p:spPr>
      </p:sp>
      <p:sp>
        <p:nvSpPr>
          <p:cNvPr name="Freeform 4" id="4"/>
          <p:cNvSpPr/>
          <p:nvPr/>
        </p:nvSpPr>
        <p:spPr>
          <a:xfrm flipH="false" flipV="false" rot="0">
            <a:off x="5436575" y="1252860"/>
            <a:ext cx="8360389" cy="8753959"/>
          </a:xfrm>
          <a:custGeom>
            <a:avLst/>
            <a:gdLst/>
            <a:ahLst/>
            <a:cxnLst/>
            <a:rect r="r" b="b" t="t" l="l"/>
            <a:pathLst>
              <a:path h="8753959" w="8360389">
                <a:moveTo>
                  <a:pt x="0" y="0"/>
                </a:moveTo>
                <a:lnTo>
                  <a:pt x="8360389" y="0"/>
                </a:lnTo>
                <a:lnTo>
                  <a:pt x="8360389" y="8753959"/>
                </a:lnTo>
                <a:lnTo>
                  <a:pt x="0" y="8753959"/>
                </a:lnTo>
                <a:lnTo>
                  <a:pt x="0" y="0"/>
                </a:lnTo>
                <a:close/>
              </a:path>
            </a:pathLst>
          </a:custGeom>
          <a:blipFill>
            <a:blip r:embed="rId5"/>
            <a:stretch>
              <a:fillRect l="0" t="0" r="0" b="0"/>
            </a:stretch>
          </a:blipFill>
        </p:spPr>
      </p:sp>
      <p:sp>
        <p:nvSpPr>
          <p:cNvPr name="TextBox 5" id="5"/>
          <p:cNvSpPr txBox="true"/>
          <p:nvPr/>
        </p:nvSpPr>
        <p:spPr>
          <a:xfrm rot="0">
            <a:off x="2483532" y="356807"/>
            <a:ext cx="13320937" cy="671893"/>
          </a:xfrm>
          <a:prstGeom prst="rect">
            <a:avLst/>
          </a:prstGeom>
        </p:spPr>
        <p:txBody>
          <a:bodyPr anchor="t" rtlCol="false" tIns="0" lIns="0" bIns="0" rIns="0">
            <a:spAutoFit/>
          </a:bodyPr>
          <a:lstStyle/>
          <a:p>
            <a:pPr algn="ctr">
              <a:lnSpc>
                <a:spcPts val="5491"/>
              </a:lnSpc>
              <a:spcBef>
                <a:spcPct val="0"/>
              </a:spcBef>
            </a:pPr>
            <a:r>
              <a:rPr lang="en-US" sz="3922">
                <a:solidFill>
                  <a:srgbClr val="FFFFFF"/>
                </a:solidFill>
                <a:latin typeface="Prata"/>
                <a:ea typeface="Prata"/>
                <a:cs typeface="Prata"/>
                <a:sym typeface="Prata"/>
              </a:rPr>
              <a:t>V</a:t>
            </a:r>
            <a:r>
              <a:rPr lang="en-US" sz="3922">
                <a:solidFill>
                  <a:srgbClr val="FFFFFF"/>
                </a:solidFill>
                <a:latin typeface="Prata"/>
                <a:ea typeface="Prata"/>
                <a:cs typeface="Prata"/>
                <a:sym typeface="Prata"/>
              </a:rPr>
              <a:t>.12 Glosario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DAGkMVZW1go</dc:identifier>
  <dcterms:modified xsi:type="dcterms:W3CDTF">2011-08-01T06:04:30Z</dcterms:modified>
  <cp:revision>1</cp:revision>
  <dc:title>ARC42 ERP ABOGADOS ABOGATECH</dc:title>
</cp:coreProperties>
</file>